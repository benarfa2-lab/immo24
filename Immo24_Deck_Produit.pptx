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8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-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750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kern="0" spc="3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Sketches &amp; Backlog produit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premiere plateforme d'annonces immobilieres 100% verifiees en Tunisie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Emna Sadfi  |  Product Manager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confidentiel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94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37160" cy="9144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Vision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Probleme, solution, utilisateurs cibles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94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137160" cy="9144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8368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9808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du site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+ 80+ pages structurees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5394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40080" y="2651760"/>
            <a:ext cx="137160" cy="9144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0" y="2761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Sketches &amp; Backlog par page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basse fid. + User Stories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651760"/>
            <a:ext cx="5394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309360" y="2651760"/>
            <a:ext cx="137160" cy="9144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58368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498080" y="2761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transverses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i18n, securite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749040"/>
            <a:ext cx="5394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40080" y="3749040"/>
            <a:ext cx="137160" cy="9144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91440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828800" y="3858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Architecture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2880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carto, scaling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749040"/>
            <a:ext cx="5394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309360" y="3749040"/>
            <a:ext cx="137160" cy="9144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58368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98080" y="3858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economique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9808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agences, packs promoteurs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846320"/>
            <a:ext cx="5394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137160" cy="9144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91440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828800" y="4956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Roadmap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828800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BienIci vs SeLoger + IA / V2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4846320"/>
            <a:ext cx="5394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309360" y="4846320"/>
            <a:ext cx="137160" cy="9144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58368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498080" y="4956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 &amp; Prochaines etapes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98080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PM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CONTEXTE &amp; 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Problematique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marche immobilier tunisien fragmente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marche immobilier en Tunisie est fragmente et peu transparent. Les plateformes existantes ne combinent pas carte interactive, filtres intelligents et gestion efficace des leads.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cree des frictions majeures pour les acheteurs comme pour les promoteurs.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5212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92240" y="1600200"/>
            <a:ext cx="109728" cy="123444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7208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perdu a chercher des projets sans informations fiables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017520"/>
            <a:ext cx="5212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492240" y="3017520"/>
            <a:ext cx="109728" cy="12344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72084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3520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d'acquisition eleve, difficulte a gerer les leads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4434840"/>
            <a:ext cx="5212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492240" y="4434840"/>
            <a:ext cx="109728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7208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9377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combinaison map + filtres + leads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CONTEXTE &amp; 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Immo24.tn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moderne, 100% dediee a l'immobilier en Tunisie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57600" cy="40233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657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de lancement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Tunis uniquement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 &amp; agences fiables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100% verifiees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1688" y="2103120"/>
            <a:ext cx="3657600" cy="40233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361688" y="2103120"/>
            <a:ext cx="3657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361688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biens - V1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0288" y="27432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Residences neuves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Appartements en construction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sur plan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neufs (V)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&amp; maisons neuves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66176" y="2103120"/>
            <a:ext cx="3657600" cy="40233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266176" y="2103120"/>
            <a:ext cx="3657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266176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biens - Etendu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94776" y="27432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Locaux commerciaux (V/L)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/ cabinets (V/L)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Terrains (V/L)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 meuble (L)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Fermes / depots / vacances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CONTEXTE &amp; 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 &amp; roles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78308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Arrivee carte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2240280" y="1737360"/>
            <a:ext cx="164592" cy="274320"/>
          </a:xfrm>
          <a:prstGeom prst="rtTriangle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404872" y="1554480"/>
            <a:ext cx="178308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04872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Filtrer / rechercher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187952" y="1737360"/>
            <a:ext cx="164592" cy="274320"/>
          </a:xfrm>
          <a:prstGeom prst="rtTriangle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352544" y="1554480"/>
            <a:ext cx="178308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352544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Cliquer un projet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135624" y="1737360"/>
            <a:ext cx="164592" cy="274320"/>
          </a:xfrm>
          <a:prstGeom prst="rtTriangle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300216" y="1554480"/>
            <a:ext cx="178308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300216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Detail projet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083296" y="1737360"/>
            <a:ext cx="164592" cy="274320"/>
          </a:xfrm>
          <a:prstGeom prst="rtTriangle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247888" y="1554480"/>
            <a:ext cx="178308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247888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Contact / RDV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10030968" y="1737360"/>
            <a:ext cx="164592" cy="274320"/>
          </a:xfrm>
          <a:prstGeom prst="rtTriangle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10195560" y="1554480"/>
            <a:ext cx="178308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0195560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Favoris / alerte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514600"/>
            <a:ext cx="36576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36576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/ Acheteurs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31089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projets via carte + liste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prix, zone, statut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via WhatsApp / RDV / formulaire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aux corps de metiers lies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61688" y="2514600"/>
            <a:ext cx="36576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361688" y="2514600"/>
            <a:ext cx="36576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361688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 / Agences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90288" y="31089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Gerer leurs annonces depuis un backoffice simple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des leads qualifies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 statut des leads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Gerer des bannieres publicitaires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66176" y="2514600"/>
            <a:ext cx="36576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8266176" y="2514600"/>
            <a:ext cx="36576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266176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plateforme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94776" y="31089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/ refuser projets &amp; annonces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Gerer utilisateurs et roles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KPI et le trafic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desactiver les workflows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87CE993C-8656-EDC9-C043-50E981D7E28D}"/>
              </a:ext>
            </a:extLst>
          </p:cNvPr>
          <p:cNvSpPr/>
          <p:nvPr/>
        </p:nvSpPr>
        <p:spPr>
          <a:xfrm>
            <a:off x="2130725" y="91440"/>
            <a:ext cx="6492240" cy="667512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E51D5340-3005-B5CF-AA11-A2DA6B71F11E}"/>
              </a:ext>
            </a:extLst>
          </p:cNvPr>
          <p:cNvSpPr/>
          <p:nvPr/>
        </p:nvSpPr>
        <p:spPr>
          <a:xfrm>
            <a:off x="2130725" y="9144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74FEE6E1-F177-F1B4-A837-96747E9F124D}"/>
              </a:ext>
            </a:extLst>
          </p:cNvPr>
          <p:cNvSpPr/>
          <p:nvPr/>
        </p:nvSpPr>
        <p:spPr>
          <a:xfrm>
            <a:off x="2130725" y="91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E5BC7B8-F623-C726-AE81-1640FF35FADB}"/>
              </a:ext>
            </a:extLst>
          </p:cNvPr>
          <p:cNvSpPr/>
          <p:nvPr/>
        </p:nvSpPr>
        <p:spPr>
          <a:xfrm>
            <a:off x="3593765" y="91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: barre de recherche, projets phares, promoteurs, partenaires</a:t>
            </a:r>
            <a:endParaRPr lang="en-US" sz="10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29211EEC-D58C-B223-B21C-6EFD555F477A}"/>
              </a:ext>
            </a:extLst>
          </p:cNvPr>
          <p:cNvSpPr/>
          <p:nvPr/>
        </p:nvSpPr>
        <p:spPr>
          <a:xfrm>
            <a:off x="2313605" y="548640"/>
            <a:ext cx="6126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5935ADC6-1B89-D679-8745-65816AD095E3}"/>
              </a:ext>
            </a:extLst>
          </p:cNvPr>
          <p:cNvSpPr/>
          <p:nvPr/>
        </p:nvSpPr>
        <p:spPr>
          <a:xfrm>
            <a:off x="2313605" y="54864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 |  Logo  |  Menu (8 rubriques)  |  Connexion / Inscription</a:t>
            </a:r>
            <a:endParaRPr lang="en-US" sz="900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C24AF67C-1CD4-DF46-719A-C8EDBD8459D4}"/>
              </a:ext>
            </a:extLst>
          </p:cNvPr>
          <p:cNvSpPr/>
          <p:nvPr/>
        </p:nvSpPr>
        <p:spPr>
          <a:xfrm>
            <a:off x="2313605" y="960120"/>
            <a:ext cx="6126480" cy="118872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BC56B2A4-0909-C1AF-BE3B-6EF74B4ECB4A}"/>
              </a:ext>
            </a:extLst>
          </p:cNvPr>
          <p:cNvSpPr/>
          <p:nvPr/>
        </p:nvSpPr>
        <p:spPr>
          <a:xfrm>
            <a:off x="2496485" y="1051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- Carte de fond + barre de recherche centrale</a:t>
            </a:r>
            <a:endParaRPr lang="en-US" sz="100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60793288-3CA4-C6F5-0812-D2DC61EE73B0}"/>
              </a:ext>
            </a:extLst>
          </p:cNvPr>
          <p:cNvSpPr/>
          <p:nvPr/>
        </p:nvSpPr>
        <p:spPr>
          <a:xfrm>
            <a:off x="5983549" y="1417320"/>
            <a:ext cx="209077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F882D2BA-B8FD-F634-E0A8-83D1DF1CDDA6}"/>
              </a:ext>
            </a:extLst>
          </p:cNvPr>
          <p:cNvSpPr/>
          <p:nvPr/>
        </p:nvSpPr>
        <p:spPr>
          <a:xfrm>
            <a:off x="2679365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Gouvernorat ]  [ Type ]  [ Prix ]  [ Surface ]  [ Rechercher ]</a:t>
            </a:r>
            <a:endParaRPr lang="en-US" sz="900" dirty="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17C20CFF-9E3E-72D7-D8A0-17EDE00A70E9}"/>
              </a:ext>
            </a:extLst>
          </p:cNvPr>
          <p:cNvSpPr/>
          <p:nvPr/>
        </p:nvSpPr>
        <p:spPr>
          <a:xfrm>
            <a:off x="2313605" y="2240280"/>
            <a:ext cx="6126480" cy="27432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7CF91CCB-E495-73D9-261B-3488A0134E25}"/>
              </a:ext>
            </a:extLst>
          </p:cNvPr>
          <p:cNvSpPr/>
          <p:nvPr/>
        </p:nvSpPr>
        <p:spPr>
          <a:xfrm>
            <a:off x="2313605" y="2240280"/>
            <a:ext cx="61264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mis en avant (carrousel)</a:t>
            </a:r>
            <a:endParaRPr lang="en-US" sz="1000" dirty="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BAABADDF-E3B6-8A80-27BA-FEC8C9B9517B}"/>
              </a:ext>
            </a:extLst>
          </p:cNvPr>
          <p:cNvSpPr/>
          <p:nvPr/>
        </p:nvSpPr>
        <p:spPr>
          <a:xfrm>
            <a:off x="2359325" y="2560320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A7167841-A5F5-96EC-FD3C-85A0540479B6}"/>
              </a:ext>
            </a:extLst>
          </p:cNvPr>
          <p:cNvSpPr/>
          <p:nvPr/>
        </p:nvSpPr>
        <p:spPr>
          <a:xfrm>
            <a:off x="2359325" y="2560320"/>
            <a:ext cx="14401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</a:t>
            </a:r>
            <a:endParaRPr lang="en-US" sz="900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5A7F7F58-C2DF-8CA0-B401-1878045444D1}"/>
              </a:ext>
            </a:extLst>
          </p:cNvPr>
          <p:cNvSpPr/>
          <p:nvPr/>
        </p:nvSpPr>
        <p:spPr>
          <a:xfrm>
            <a:off x="3890945" y="2560320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E33C5350-0815-7FE3-FB67-73730EE8ED66}"/>
              </a:ext>
            </a:extLst>
          </p:cNvPr>
          <p:cNvSpPr/>
          <p:nvPr/>
        </p:nvSpPr>
        <p:spPr>
          <a:xfrm>
            <a:off x="3890945" y="2560320"/>
            <a:ext cx="14401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2</a:t>
            </a:r>
            <a:endParaRPr lang="en-US" sz="900" dirty="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D8C00955-2105-2BA5-57A2-E4B30007458F}"/>
              </a:ext>
            </a:extLst>
          </p:cNvPr>
          <p:cNvSpPr/>
          <p:nvPr/>
        </p:nvSpPr>
        <p:spPr>
          <a:xfrm>
            <a:off x="5422565" y="2560320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8E6CB953-46FD-84E1-BB78-1C28141D537D}"/>
              </a:ext>
            </a:extLst>
          </p:cNvPr>
          <p:cNvSpPr/>
          <p:nvPr/>
        </p:nvSpPr>
        <p:spPr>
          <a:xfrm>
            <a:off x="5422565" y="2560320"/>
            <a:ext cx="14401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3</a:t>
            </a:r>
            <a:endParaRPr lang="en-US" sz="900" dirty="0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800320D5-3A65-52AA-16AF-3AB0C12E1FDD}"/>
              </a:ext>
            </a:extLst>
          </p:cNvPr>
          <p:cNvSpPr/>
          <p:nvPr/>
        </p:nvSpPr>
        <p:spPr>
          <a:xfrm>
            <a:off x="6954185" y="2560320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36661F67-B006-75FC-9124-BBADCB4C2633}"/>
              </a:ext>
            </a:extLst>
          </p:cNvPr>
          <p:cNvSpPr/>
          <p:nvPr/>
        </p:nvSpPr>
        <p:spPr>
          <a:xfrm>
            <a:off x="6954185" y="2560320"/>
            <a:ext cx="14401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4</a:t>
            </a:r>
            <a:endParaRPr lang="en-US" sz="900" dirty="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0399BFA4-1F0C-E843-3D92-C1AF2F74DA56}"/>
              </a:ext>
            </a:extLst>
          </p:cNvPr>
          <p:cNvSpPr/>
          <p:nvPr/>
        </p:nvSpPr>
        <p:spPr>
          <a:xfrm>
            <a:off x="10258534" y="4297680"/>
            <a:ext cx="2971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4CFACB04-C0E2-F7BB-1CB2-29D30ECE8D33}"/>
              </a:ext>
            </a:extLst>
          </p:cNvPr>
          <p:cNvSpPr/>
          <p:nvPr/>
        </p:nvSpPr>
        <p:spPr>
          <a:xfrm>
            <a:off x="10258534" y="4297680"/>
            <a:ext cx="2971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Dernieres annonces</a:t>
            </a:r>
            <a:endParaRPr lang="en-US" sz="1000" dirty="0"/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318CD3F5-2A19-FF30-4496-D6C01430B463}"/>
              </a:ext>
            </a:extLst>
          </p:cNvPr>
          <p:cNvSpPr/>
          <p:nvPr/>
        </p:nvSpPr>
        <p:spPr>
          <a:xfrm>
            <a:off x="10258534" y="4617720"/>
            <a:ext cx="2971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249A7B50-5AD3-8BEF-AA6E-067E4A0B2CAA}"/>
              </a:ext>
            </a:extLst>
          </p:cNvPr>
          <p:cNvSpPr/>
          <p:nvPr/>
        </p:nvSpPr>
        <p:spPr>
          <a:xfrm>
            <a:off x="10258534" y="4617720"/>
            <a:ext cx="2971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[Vignette]  Titre annonce - prix - localisation</a:t>
            </a:r>
            <a:endParaRPr lang="en-US" sz="900" dirty="0"/>
          </a:p>
        </p:txBody>
      </p:sp>
      <p:sp>
        <p:nvSpPr>
          <p:cNvPr id="26" name="Shape 29">
            <a:extLst>
              <a:ext uri="{FF2B5EF4-FFF2-40B4-BE49-F238E27FC236}">
                <a16:creationId xmlns:a16="http://schemas.microsoft.com/office/drawing/2014/main" id="{DF84E3BE-F961-F435-3362-BDF6A37545F2}"/>
              </a:ext>
            </a:extLst>
          </p:cNvPr>
          <p:cNvSpPr/>
          <p:nvPr/>
        </p:nvSpPr>
        <p:spPr>
          <a:xfrm>
            <a:off x="13413214" y="4297680"/>
            <a:ext cx="2971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30">
            <a:extLst>
              <a:ext uri="{FF2B5EF4-FFF2-40B4-BE49-F238E27FC236}">
                <a16:creationId xmlns:a16="http://schemas.microsoft.com/office/drawing/2014/main" id="{9004D724-008E-A27C-7D84-1026AE32BD77}"/>
              </a:ext>
            </a:extLst>
          </p:cNvPr>
          <p:cNvSpPr/>
          <p:nvPr/>
        </p:nvSpPr>
        <p:spPr>
          <a:xfrm>
            <a:off x="13413214" y="4297680"/>
            <a:ext cx="2971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promoteurs du mois</a:t>
            </a:r>
            <a:endParaRPr lang="en-US" sz="1000" dirty="0"/>
          </a:p>
        </p:txBody>
      </p:sp>
      <p:sp>
        <p:nvSpPr>
          <p:cNvPr id="28" name="Shape 31">
            <a:extLst>
              <a:ext uri="{FF2B5EF4-FFF2-40B4-BE49-F238E27FC236}">
                <a16:creationId xmlns:a16="http://schemas.microsoft.com/office/drawing/2014/main" id="{5167ED16-123C-699B-83D2-D3886E8252A4}"/>
              </a:ext>
            </a:extLst>
          </p:cNvPr>
          <p:cNvSpPr/>
          <p:nvPr/>
        </p:nvSpPr>
        <p:spPr>
          <a:xfrm>
            <a:off x="13413214" y="4617720"/>
            <a:ext cx="2971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B384AD74-4E5A-7F6C-5ED5-05E4353258F9}"/>
              </a:ext>
            </a:extLst>
          </p:cNvPr>
          <p:cNvSpPr/>
          <p:nvPr/>
        </p:nvSpPr>
        <p:spPr>
          <a:xfrm>
            <a:off x="13413214" y="4617720"/>
            <a:ext cx="2971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 1]  [Logo 2]  [Logo 3]  [Logo 4]</a:t>
            </a:r>
            <a:endParaRPr lang="en-US" sz="900" dirty="0"/>
          </a:p>
        </p:txBody>
      </p:sp>
      <p:sp>
        <p:nvSpPr>
          <p:cNvPr id="30" name="Shape 33">
            <a:extLst>
              <a:ext uri="{FF2B5EF4-FFF2-40B4-BE49-F238E27FC236}">
                <a16:creationId xmlns:a16="http://schemas.microsoft.com/office/drawing/2014/main" id="{9C206000-39B1-FF03-77CB-06473F044FE6}"/>
              </a:ext>
            </a:extLst>
          </p:cNvPr>
          <p:cNvSpPr/>
          <p:nvPr/>
        </p:nvSpPr>
        <p:spPr>
          <a:xfrm>
            <a:off x="10258534" y="5257800"/>
            <a:ext cx="6126480" cy="274320"/>
          </a:xfrm>
          <a:prstGeom prst="rect">
            <a:avLst/>
          </a:prstGeom>
          <a:solidFill>
            <a:srgbClr val="F3EBD8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B4D28873-9F35-9CC7-3B71-B9C1E1B974DF}"/>
              </a:ext>
            </a:extLst>
          </p:cNvPr>
          <p:cNvSpPr/>
          <p:nvPr/>
        </p:nvSpPr>
        <p:spPr>
          <a:xfrm>
            <a:off x="10258534" y="5257800"/>
            <a:ext cx="61264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partenaires (banques, assurances, notaires)</a:t>
            </a:r>
            <a:endParaRPr lang="en-US" sz="900" dirty="0"/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872756F8-B275-2358-443A-4A3098CDB377}"/>
              </a:ext>
            </a:extLst>
          </p:cNvPr>
          <p:cNvSpPr/>
          <p:nvPr/>
        </p:nvSpPr>
        <p:spPr>
          <a:xfrm>
            <a:off x="10258534" y="5577840"/>
            <a:ext cx="6126480" cy="0"/>
          </a:xfrm>
          <a:prstGeom prst="rect">
            <a:avLst/>
          </a:prstGeom>
          <a:solidFill>
            <a:srgbClr val="14263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C8D3025B-4C81-5330-E453-D40FEC1204EC}"/>
              </a:ext>
            </a:extLst>
          </p:cNvPr>
          <p:cNvSpPr/>
          <p:nvPr/>
        </p:nvSpPr>
        <p:spPr>
          <a:xfrm>
            <a:off x="2313605" y="3530206"/>
            <a:ext cx="6126480" cy="27432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9B28448D-C76B-0AF5-14D5-D6107406E366}"/>
              </a:ext>
            </a:extLst>
          </p:cNvPr>
          <p:cNvSpPr/>
          <p:nvPr/>
        </p:nvSpPr>
        <p:spPr>
          <a:xfrm>
            <a:off x="2359325" y="3804526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5F9B5FB2-5810-68F7-B6EA-04859696FD3F}"/>
              </a:ext>
            </a:extLst>
          </p:cNvPr>
          <p:cNvSpPr/>
          <p:nvPr/>
        </p:nvSpPr>
        <p:spPr>
          <a:xfrm>
            <a:off x="2266017" y="4820132"/>
            <a:ext cx="6126480" cy="9863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r>
              <a:rPr lang="fr-FR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9279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ARBORESCENCE DU SITE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- 8 rubriques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 Neuf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sur carte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Appartements neufs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&amp; maisons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Residences balneaires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en cours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imminente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des prix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64592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46120" y="164592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4612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 &amp; Agences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promoteurs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agences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gouvernorat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avec avis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promoteurs du mois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partenaire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64592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172200" y="164592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722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mon credit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taux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 d'emprunt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notaire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FOPROLOS / SPROLS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credit en ligne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164592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098280" y="164592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09828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210312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 demenageur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un devis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demenagement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Transferts STEG / SONEDE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&amp; astuces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06908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406908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Decoration &amp; Meubles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Enseignes partenaires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Cuisinistes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Electromenager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speciales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deco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 d'interieur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406908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46120" y="406908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24612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&amp; Services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452628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 partenaires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Assurances habitation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Notaires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renovation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Domotique &amp; securite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406908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172200" y="406908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17220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&amp; Conseils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452628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achat neuf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 juridiques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Fiscalite immobiliere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acheter ?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actualites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98280" y="406908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9098280" y="406908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909828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Espace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35440" y="452628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favoris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alertes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sauvegardees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credit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contact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›"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/ profil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ARBORESCENCE DU SITE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- Immobilier Neuf (coeur du site)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1554480"/>
            <a:ext cx="2286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 Neuf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057400"/>
            <a:ext cx="0" cy="27432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188720" y="2468880"/>
            <a:ext cx="0" cy="22860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188720" y="2331720"/>
            <a:ext cx="4892040" cy="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18288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Carte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057400"/>
            <a:ext cx="0" cy="27432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154680" y="2468880"/>
            <a:ext cx="0" cy="22860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154680" y="2331720"/>
            <a:ext cx="2926080" cy="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240280" y="2697480"/>
            <a:ext cx="18288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24028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type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057400"/>
            <a:ext cx="0" cy="27432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120640" y="2468880"/>
            <a:ext cx="0" cy="22860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120640" y="2331720"/>
            <a:ext cx="960120" cy="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206240" y="2697480"/>
            <a:ext cx="18288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2062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region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057400"/>
            <a:ext cx="0" cy="27432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086600" y="2468880"/>
            <a:ext cx="0" cy="22860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080760" y="2331720"/>
            <a:ext cx="1005840" cy="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172200" y="2697480"/>
            <a:ext cx="18288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7220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Programme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057400"/>
            <a:ext cx="0" cy="27432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9052560" y="2468880"/>
            <a:ext cx="0" cy="22860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080760" y="2331720"/>
            <a:ext cx="2971800" cy="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8138160" y="2697480"/>
            <a:ext cx="18288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1381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des prix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2057400"/>
            <a:ext cx="0" cy="27432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1018520" y="2468880"/>
            <a:ext cx="0" cy="22860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080760" y="2331720"/>
            <a:ext cx="4937760" cy="0"/>
          </a:xfrm>
          <a:prstGeom prst="line">
            <a:avLst/>
          </a:prstGeom>
          <a:noFill/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10104120" y="2697480"/>
            <a:ext cx="1828800" cy="4572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010412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imminente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383280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1148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767328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11480" y="3767328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carte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151376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11480" y="4151376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liste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1480" y="4535424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11480" y="4535424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grille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77440" y="3383280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37744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377440" y="3767328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77440" y="3767328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377440" y="4151376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377440" y="4151376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377440" y="4535424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2377440" y="4535424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Locaux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377440" y="4919472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377440" y="4919472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43400" y="3383280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34340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Tunis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343400" y="3767328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343400" y="3767328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Bon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343400" y="4151376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343400" y="4151376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343400" y="4535424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343400" y="4535424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343400" y="4919472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4343400" y="4919472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09360" y="3383280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630936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309360" y="3767328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6309360" y="3767328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309360" y="4151376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6309360" y="4151376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prix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309360" y="4535424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6309360" y="4535424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309360" y="4919472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6309360" y="4919472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RDV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275320" y="3383280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82753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/ m2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275320" y="3767328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8275320" y="3767328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0241280" y="3383280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1024128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mois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241280" y="3767328"/>
            <a:ext cx="1554480" cy="320040"/>
          </a:xfrm>
          <a:prstGeom prst="rect">
            <a:avLst/>
          </a:prstGeom>
          <a:solidFill>
            <a:srgbClr val="EEF3F8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10241280" y="3767328"/>
            <a:ext cx="1554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mois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80 pages structurees - zoom sur le noyau du site.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ARBORESCENCE DU SITE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- Financement, Services &amp; Espaces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109728" cy="21488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 &amp; Agences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Promoteurs (Liste/Carte)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Agences (Liste/Carte)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 : Presentation, Projets, Avis, Contact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promoteurs du mois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Pro : Devenir partenaire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109728" cy="21488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credit &gt; Montant, Duree, Amortissement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 d'emprunt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notaire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FOPROLOS / SPROLS / 1ere acquisition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 partenaires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credit en ligne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109728" cy="21488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Demenagement &amp; Deco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demenageurs + devis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+ transferts STEG / SONEDE / Telecom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Enseignes &gt; Cuisines, Mobilier, Electromenager, SDB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&amp; Promotions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 d'interieur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109728" cy="21488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Mon Espace &amp; Footer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48056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achat neuf &gt; Etapes, Documents, Pieges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Juridique, Fiscalite, Ou acheter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Actualites, FAQ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Favoris, Alertes, Simulateur, Profil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 : Annonces, Stats, Abonnement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Mentions, CGU, Confidentialite, Plan du site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SKETCHES &amp;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01 - Home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92240" cy="480060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: barre de recherche, projets phares, promoteurs, partenaires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 |  Logo  |  Menu (8 rubriques)  |  Connexion / Inscription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6126480" cy="118872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- Carte de fond + barre de recherche centrale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2926080"/>
            <a:ext cx="5394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5394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Gouvernorat ]  [ Type ]  [ Prix ]  [ Surface ]  [ Rechercher 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6126480" cy="27432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61264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mis en avant (carrousel)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14401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25980" y="4069080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125980" y="4069080"/>
            <a:ext cx="14401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0" y="4069080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0" y="4069080"/>
            <a:ext cx="14401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89220" y="4069080"/>
            <a:ext cx="14401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189220" y="4069080"/>
            <a:ext cx="14401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2971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" y="4983480"/>
            <a:ext cx="2971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Dernieres annonces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2971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[Vignette]  Titre annonce - prix - localisation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03320" y="4983480"/>
            <a:ext cx="2971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703320" y="4983480"/>
            <a:ext cx="2971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promoteurs du mois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5303520"/>
            <a:ext cx="2971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703320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 1]  [Logo 2]  [Logo 3]  [Logo 4]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5943600"/>
            <a:ext cx="6126480" cy="274320"/>
          </a:xfrm>
          <a:prstGeom prst="rect">
            <a:avLst/>
          </a:prstGeom>
          <a:solidFill>
            <a:srgbClr val="F3EBD8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48640" y="5943600"/>
            <a:ext cx="61264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partenaires (banques, assurances, notaires)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6263640"/>
            <a:ext cx="6126480" cy="0"/>
          </a:xfrm>
          <a:prstGeom prst="rect">
            <a:avLst/>
          </a:prstGeom>
          <a:solidFill>
            <a:srgbClr val="14263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- priorite MVP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205740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5528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hero avec barre de recherche + carte de fond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698480" y="210312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1069848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40880" y="247802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55280" y="2478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rapides (gouvernorat, type, prix, surface)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698480" y="252374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1069848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40880" y="289864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5528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projets phares (mise en avant payante)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698480" y="294436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40880" y="331927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US-H04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95528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Dernieres annonces ajoutees (auto)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698480" y="336499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1069848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040880" y="373989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US-H05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955280" y="3739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promoteurs du mois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698480" y="378561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1069848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040880" y="416052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9552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partenaires (clic -&gt; fiche)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0698480" y="42062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106984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040880" y="458114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95528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Blog / Actualites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698480" y="46268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1069848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040880" y="500176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US-H08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955280" y="5001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bilingue FR / AR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0698480" y="504748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10698480" y="5047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040880" y="542239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US-H09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955280" y="5422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+ PWA (V1)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0698480" y="546811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10698480" y="5468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SKETCHES &amp;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02 - Carte + Liste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92240" cy="480060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: carte interactive + liste synchronisee + filtres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6126480" cy="320040"/>
          </a:xfrm>
          <a:prstGeom prst="rect">
            <a:avLst/>
          </a:prstGeom>
          <a:solidFill>
            <a:srgbClr val="F3EBD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filtres : Type  |  Prix  |  Surface  |  Pieces  |  Standing  |  Vue mer  |  Isochrone (V2)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630168" cy="324612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(Mapbox GL JS)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256032" cy="256032"/>
          </a:xfrm>
          <a:prstGeom prst="ellipse">
            <a:avLst/>
          </a:prstGeom>
          <a:solidFill>
            <a:srgbClr val="E9A43E"/>
          </a:solidFill>
          <a:ln w="12700">
            <a:solidFill>
              <a:srgbClr val="1426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463040" y="4709160"/>
            <a:ext cx="256032" cy="256032"/>
          </a:xfrm>
          <a:prstGeom prst="ellipse">
            <a:avLst/>
          </a:prstGeom>
          <a:solidFill>
            <a:srgbClr val="E9A43E"/>
          </a:solidFill>
          <a:ln w="12700">
            <a:solidFill>
              <a:srgbClr val="1426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011680" y="4251960"/>
            <a:ext cx="256032" cy="256032"/>
          </a:xfrm>
          <a:prstGeom prst="ellipse">
            <a:avLst/>
          </a:prstGeom>
          <a:solidFill>
            <a:srgbClr val="E9A43E"/>
          </a:solidFill>
          <a:ln w="12700">
            <a:solidFill>
              <a:srgbClr val="1426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651760" y="5257800"/>
            <a:ext cx="256032" cy="256032"/>
          </a:xfrm>
          <a:prstGeom prst="ellipse">
            <a:avLst/>
          </a:prstGeom>
          <a:solidFill>
            <a:srgbClr val="E9A43E"/>
          </a:solidFill>
          <a:ln w="12700">
            <a:solidFill>
              <a:srgbClr val="1426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383280" y="4617720"/>
            <a:ext cx="256032" cy="256032"/>
          </a:xfrm>
          <a:prstGeom prst="ellipse">
            <a:avLst/>
          </a:prstGeom>
          <a:solidFill>
            <a:srgbClr val="E9A43E"/>
          </a:solidFill>
          <a:ln w="12700">
            <a:solidFill>
              <a:srgbClr val="1426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931920" y="5440680"/>
            <a:ext cx="256032" cy="256032"/>
          </a:xfrm>
          <a:prstGeom prst="ellipse">
            <a:avLst/>
          </a:prstGeom>
          <a:solidFill>
            <a:srgbClr val="E9A43E"/>
          </a:solidFill>
          <a:ln w="12700">
            <a:solidFill>
              <a:srgbClr val="1426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572000" y="4160520"/>
            <a:ext cx="256032" cy="256032"/>
          </a:xfrm>
          <a:prstGeom prst="ellipse">
            <a:avLst/>
          </a:prstGeom>
          <a:solidFill>
            <a:srgbClr val="E9A43E"/>
          </a:solidFill>
          <a:ln w="12700">
            <a:solidFill>
              <a:srgbClr val="1426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377440" y="406908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3774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17520" y="32461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01752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210 000 TND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70248" y="2880360"/>
            <a:ext cx="240487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270248" y="2880360"/>
            <a:ext cx="240487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liste synchronisee  |  Tri : Prix, Pertinence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70248" y="3246120"/>
            <a:ext cx="2404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270248" y="3246120"/>
            <a:ext cx="240487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1 - prix - localisation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70248" y="3794760"/>
            <a:ext cx="2404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270248" y="3794760"/>
            <a:ext cx="240487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2 - prix - localisation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70248" y="4343400"/>
            <a:ext cx="2404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270248" y="4343400"/>
            <a:ext cx="240487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3 - prix - localisation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70248" y="4892040"/>
            <a:ext cx="2404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270248" y="4892040"/>
            <a:ext cx="240487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4 - prix - localisation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70248" y="5440680"/>
            <a:ext cx="2404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270248" y="5440680"/>
            <a:ext cx="240487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5 - prix - localisation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- priorite MVP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40880" y="205740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5528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avec pins (Mapbox GL JS)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698480" y="210312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1069848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40880" y="247802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55280" y="2478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automatique des pins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698480" y="252374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069848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040880" y="289864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95528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Requetes bbox optimisees (PostGIS)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698480" y="294436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40880" y="331927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95528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avances (prix, type, standing, vue)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0698480" y="336499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069848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040880" y="373989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US-M05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955280" y="3739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carte &lt;-&gt; liste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698480" y="378561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1069848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040880" y="416052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US-M06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9552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liste + vue grille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698480" y="42062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106984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040880" y="458114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US-M07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95528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pin : prix min, vignette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0698480" y="46268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1069848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040880" y="500176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US-M08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955280" y="5001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 carte (au scroll)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698480" y="504748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10698480" y="5047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040880" y="542239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US-M09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7955280" y="5422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Isochrone / temps trajet (V2)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0698480" y="546811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10698480" y="5468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040880" y="584301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7040880" y="584301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7040880" y="58430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US-M10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955280" y="5843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des zones demandees (V2)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0698480" y="588873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10698480" y="5888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SKETCHES &amp;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03 - Fiche Projet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92240" cy="480060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programme neuf - galerie, plans, prix, contact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fil d'Ariane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3675888" cy="146304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3675888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photos / Video drone / Visite 360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15968" y="2468880"/>
            <a:ext cx="23591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07408" y="25603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XYZ - La Soukra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28803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A43E"/>
                </a:solidFill>
              </a:rPr>
              <a:t>A partir de 210 000 TND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07408" y="3154680"/>
            <a:ext cx="1188720" cy="228600"/>
          </a:xfrm>
          <a:prstGeom prst="roundRect">
            <a:avLst>
              <a:gd name="adj" fmla="val 40000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407408" y="3154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verifie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41848" y="3154680"/>
            <a:ext cx="1188720" cy="228600"/>
          </a:xfrm>
          <a:prstGeom prst="roundRect">
            <a:avLst>
              <a:gd name="adj" fmla="val 40000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41848" y="3154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lots / 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07408" y="34747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A7B"/>
                </a:solidFill>
              </a:rPr>
              <a:t>Livraison : Q4 2027  |  Avancement : 45%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32384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4069080"/>
            <a:ext cx="3323844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des appartements (telechargeables)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63924" y="4069080"/>
            <a:ext cx="27111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963924" y="4069080"/>
            <a:ext cx="2711196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prix par typologie (T2, T3, T4)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3323844" cy="82296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332384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carte + points d'interet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63924" y="5257800"/>
            <a:ext cx="271119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963924" y="5257800"/>
            <a:ext cx="271119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promoteur (logo, avis, autres projets)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6172200"/>
            <a:ext cx="3630168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36301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similaires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70248" y="6172200"/>
            <a:ext cx="1164031" cy="457200"/>
          </a:xfrm>
          <a:prstGeom prst="roundRect">
            <a:avLst>
              <a:gd name="adj" fmla="val 20000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270248" y="6172200"/>
            <a:ext cx="1164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WhatsApp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95544" y="6172200"/>
            <a:ext cx="1164031" cy="457200"/>
          </a:xfrm>
          <a:prstGeom prst="roundRect">
            <a:avLst>
              <a:gd name="adj" fmla="val 20000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495544" y="6172200"/>
            <a:ext cx="1164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RDV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- priorite MVP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205740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5528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multimedia (photos, video, 360)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698480" y="210312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1069848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40880" y="247802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55280" y="2478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prix par typologie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698480" y="252374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1069848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289864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95528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telechargeables (PDF)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698480" y="294436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040880" y="331927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95528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carte + POI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698480" y="336499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1069848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040880" y="373989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955280" y="3739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contact / RDV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698480" y="378561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1069848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040880" y="416052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9552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WhatsApp direct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698480" y="42062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106984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040880" y="458114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US-P07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95528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Projet verifie par l'equipe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0698480" y="46268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1069848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040880" y="500176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US-P08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955280" y="5001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d'avancement + compteur lots restants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0698480" y="504748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10698480" y="5047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040880" y="542239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US-P09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955280" y="5422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fiche promoteur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0698480" y="546811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10698480" y="5468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040880" y="584301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7040880" y="584301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7040880" y="58430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US-P10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955280" y="5843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similaires (recommandation)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10698480" y="588873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10698480" y="5888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040880" y="626364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7040880" y="626364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7040880" y="6263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US-P11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955280" y="62636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 post-livraison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0698480" y="630936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10698480" y="6309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SKETCHES &amp;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04 - Fiche Annonce (Agence)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92240" cy="480060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annonce agence - multimedia + actions rapides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3982212" cy="182880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3982212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photos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2292" y="2468880"/>
            <a:ext cx="20528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13732" y="2560320"/>
            <a:ext cx="186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 S+3 - Ain Zaghouan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3732" y="2834640"/>
            <a:ext cx="186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A43E"/>
                </a:solidFill>
              </a:rPr>
              <a:t>450 000 TND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13732" y="3154680"/>
            <a:ext cx="18699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A7B"/>
                </a:solidFill>
              </a:rPr>
              <a:t>Surface : 135 m2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A7B"/>
                </a:solidFill>
              </a:rPr>
              <a:t>Pieces : 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A7B"/>
                </a:solidFill>
              </a:rPr>
              <a:t>Standing : Haut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A7B"/>
                </a:solidFill>
              </a:rPr>
              <a:t>Vue : Degagee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39822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398221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detaillee de l'annonce...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2292" y="4434840"/>
            <a:ext cx="2052828" cy="91440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22292" y="4434840"/>
            <a:ext cx="205282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carte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6126480" cy="640080"/>
          </a:xfrm>
          <a:prstGeom prst="rect">
            <a:avLst/>
          </a:prstGeom>
          <a:solidFill>
            <a:srgbClr val="F3EBD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6126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 agence]   Agence XYZ   |   Note : 4.6 / 5   |   12 annonces actives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6217920"/>
            <a:ext cx="1302106" cy="411480"/>
          </a:xfrm>
          <a:prstGeom prst="roundRect">
            <a:avLst>
              <a:gd name="adj" fmla="val 22222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6217920"/>
            <a:ext cx="1302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WhatsApp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96466" y="6217920"/>
            <a:ext cx="1302106" cy="411480"/>
          </a:xfrm>
          <a:prstGeom prst="roundRect">
            <a:avLst>
              <a:gd name="adj" fmla="val 22222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896466" y="6217920"/>
            <a:ext cx="1302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RDV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4291" y="6217920"/>
            <a:ext cx="1302106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244291" y="6217920"/>
            <a:ext cx="1302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Telecharger brochure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92117" y="6217920"/>
            <a:ext cx="1057046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92117" y="6217920"/>
            <a:ext cx="1057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94883" y="6217920"/>
            <a:ext cx="980237" cy="411480"/>
          </a:xfrm>
          <a:prstGeom prst="roundRect">
            <a:avLst>
              <a:gd name="adj" fmla="val 22222"/>
            </a:avLst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694883" y="6217920"/>
            <a:ext cx="9802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- priorite MVP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205740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5528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annonce avec galerie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698480" y="210312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069848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40880" y="247802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55280" y="2478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Caracteristiques (surface, pieces, standing, vue)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698480" y="252374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1069848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40880" y="289864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5528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HTML riche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698480" y="294436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40880" y="331927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95528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carte + POI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698480" y="336499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1069848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40880" y="373989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955280" y="3739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agence (logo, avis, biens)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698480" y="378561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1069848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40880" y="416052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US-A06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9552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WhatsApp direct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698480" y="42062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106984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040880" y="458114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US-A07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95528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Telechargement brochure &amp; plan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0698480" y="46268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1069848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040880" y="500176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US-A08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955280" y="5001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favoris + alerte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0698480" y="504748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10698480" y="5047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040880" y="542239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US-A09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7955280" y="5422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(WhatsApp, email, lien)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0698480" y="546811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10698480" y="5468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040880" y="584301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7040880" y="584301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7040880" y="58430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US-A10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955280" y="5843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annonce suspecte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0698480" y="588873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10698480" y="5888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SKETCHES &amp;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05 - Authentification &amp; Compte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92240" cy="480060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Ecrans inscription / connexion - 3 roles (Particulier, Agence, Promoteur)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1920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9202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B"/>
                </a:solidFill>
              </a:rPr>
              <a:t>Je suis 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858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580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immobiliere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580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58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29768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80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4617720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8580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507492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85800" y="5074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mon compte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5486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A7B"/>
                </a:solidFill>
              </a:rPr>
              <a:t>ou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5800" y="571500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85800" y="5715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Facebook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2148840"/>
            <a:ext cx="1920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651760" y="2148840"/>
            <a:ext cx="19202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6517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88920" y="283464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78892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88920" y="324612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78892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889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B"/>
                </a:solidFill>
              </a:rPr>
              <a:t>Rester connecte      Oublie ?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88920" y="406908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78892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88920" y="45262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78892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Facebook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148840"/>
            <a:ext cx="1920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754880" y="2148840"/>
            <a:ext cx="19202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75488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92040" y="283464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89204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votre email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92040" y="333756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89204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le lien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B"/>
                </a:solidFill>
              </a:rPr>
              <a:t>Un lien de reinitialisation vous sera envoye.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0392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- priorite MVP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40880" y="205740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US-U01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95528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avec selection de role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698480" y="210312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1069848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40880" y="247802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US-U02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955280" y="2478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email / mot de passe (JWT)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0698480" y="252374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069848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040880" y="289864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US-U03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95528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Google / Facebook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698480" y="294436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040880" y="331927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US-U04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95528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email a l'inscription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698480" y="336499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1069848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040880" y="373989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US-U05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955280" y="3739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oublie (reset email)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0698480" y="378561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1069848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040880" y="416052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US-U06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9552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profil (infos, langue, avatar)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698480" y="42062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106984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040880" y="458114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US-U07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795528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compte Pro par admin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0698480" y="46268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1069848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040880" y="500176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US-U08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955280" y="5001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authentification (V2)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0698480" y="504748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10698480" y="5047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SKETCHES &amp;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06 - Mon Espace (utilisateur)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92240" cy="480060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perso - favoris, alertes, simulateur, demandes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2011680" cy="416052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Tableau de bord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A43E"/>
                </a:solidFill>
              </a:rPr>
              <a:t>&gt; Mes favoris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Mes alertes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Recherches sauvegardees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Simulateur credit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Mes demandes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5349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Profil / Parametres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057400"/>
            <a:ext cx="3931920" cy="365760"/>
          </a:xfrm>
          <a:prstGeom prst="rect">
            <a:avLst/>
          </a:prstGeom>
          <a:solidFill>
            <a:srgbClr val="EEF3F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: Mon Espace &gt; Favoris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Mes favoris (8)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88920" y="2971800"/>
            <a:ext cx="1874520" cy="82296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83464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[Photo]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3840480"/>
            <a:ext cx="1874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88920" y="384048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/ Annonce 1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450 000 TND - La Marsa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: Voir | Alerte | Retirer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1874520" cy="82296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0060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[Photo]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840480"/>
            <a:ext cx="1874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54880" y="384048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/ Annonce 2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450 000 TND - La Marsa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: Voir | Alerte | Retirer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88920" y="4617720"/>
            <a:ext cx="1874520" cy="82296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834640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[Photo]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88920" y="5486400"/>
            <a:ext cx="1874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788920" y="548640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/ Annonce 3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450 000 TND - La Marsa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: Voir | Alerte | Retirer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4617720"/>
            <a:ext cx="1874520" cy="822960"/>
          </a:xfrm>
          <a:prstGeom prst="rect">
            <a:avLst/>
          </a:prstGeom>
          <a:solidFill>
            <a:srgbClr val="D8E2ED"/>
          </a:solidFill>
          <a:ln w="12700">
            <a:solidFill>
              <a:srgbClr val="1E3A5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800600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[Photo]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5486400"/>
            <a:ext cx="1874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54880" y="548640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/ Annonce 4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450 000 TND - La Marsa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: Voir | Alerte | Retirer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- priorite MVP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205740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US-E01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5528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favoris (ajouter / retirer)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698480" y="210312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1069848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40880" y="247802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US-E02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55280" y="2478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alertes (email / WhatsApp / SMS)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698480" y="252374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1069848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40880" y="289864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US-E03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5528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sauvegardees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698480" y="294436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40880" y="331927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US-E04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95528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simulateur de credit (STB, BH, Amen)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698480" y="336499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1069848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040880" y="373989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US-E05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955280" y="3739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demandes de contact (historique)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698480" y="378561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1069848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040880" y="416052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US-E06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9552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: langue FR / AR, notifications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0698480" y="42062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106984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040880" y="458114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US-E07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95528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Eligibilite FOPROLOS / SPROLS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698480" y="46268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1069848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040880" y="500176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US-E08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955280" y="5001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de bien par zone (V2)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0698480" y="504748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10698480" y="5047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SKETCHES &amp;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07 - Monetisation &amp; Mise en avant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92240" cy="480060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packs, mise en avant et bannieres (cote Pro)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Pro  |  Dashboard Pro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2450592" cy="1097280"/>
          </a:xfrm>
          <a:prstGeom prst="rect">
            <a:avLst/>
          </a:prstGeom>
          <a:solidFill>
            <a:srgbClr val="FAF5EA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Mon abonnement actuel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1097280" cy="320040"/>
          </a:xfrm>
          <a:prstGeom prst="roundRect">
            <a:avLst>
              <a:gd name="adj" fmla="val 28571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8580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2918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A7B"/>
                </a:solidFill>
              </a:rPr>
              <a:t>50 annonces + banniere 2e position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A7B"/>
                </a:solidFill>
              </a:rPr>
              <a:t>Renouvellement : 12/05/2026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90672" y="251460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Options a la une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90672" y="2880360"/>
            <a:ext cx="35844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090672" y="2880360"/>
            <a:ext cx="358444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sur la map (Pin premium)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90672" y="3246120"/>
            <a:ext cx="35844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090672" y="3246120"/>
            <a:ext cx="358444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une dans la vue liste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90672" y="3611880"/>
            <a:ext cx="35844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090672" y="3611880"/>
            <a:ext cx="358444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Banniere publicitaire homepage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90672" y="3977640"/>
            <a:ext cx="35844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090672" y="3977640"/>
            <a:ext cx="358444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marketing : video + drone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90672" y="4343400"/>
            <a:ext cx="35844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090672" y="4343400"/>
            <a:ext cx="358444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360 produite par Immo24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6126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Echelle packs agences : Silver -&gt; Gold -&gt; Platinium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5166360"/>
            <a:ext cx="1950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94360" y="5166360"/>
            <a:ext cx="1950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annonces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36520" y="5166360"/>
            <a:ext cx="1950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636520" y="5166360"/>
            <a:ext cx="1950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annonces + banniere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78680" y="5166360"/>
            <a:ext cx="1950720" cy="1005840"/>
          </a:xfrm>
          <a:prstGeom prst="rect">
            <a:avLst/>
          </a:prstGeom>
          <a:solidFill>
            <a:srgbClr val="E9A4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678680" y="5166360"/>
            <a:ext cx="1950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PLATINIUM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Illimite + pin premium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355080"/>
            <a:ext cx="6126480" cy="320040"/>
          </a:xfrm>
          <a:prstGeom prst="rect">
            <a:avLst/>
          </a:prstGeom>
          <a:solidFill>
            <a:srgbClr val="F3EBD8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6126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Banniere publicitaire (prevue dans le theme)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- priorite MVP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205740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US-MO1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5528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Souscrire / modifier un pack (Silver/Gold/Platinium)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698480" y="210312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069848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40880" y="247802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US-MO2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55280" y="2478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sur la carte (Pin premium)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698480" y="252374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1069848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040880" y="289864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US-MO3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5528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une dans la vue liste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698480" y="294436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40880" y="331927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US-MO4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95528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bannieres publicitaires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698480" y="336499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1069848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040880" y="373989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US-MO5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955280" y="3739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promoteur par projet (Lancement / Prestige)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698480" y="378561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1069848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040880" y="416052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US-MO6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9552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pack marketing (video drone, 360)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698480" y="42062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106984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040880" y="458114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US-MO7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95528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facturation &amp; relances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698480" y="46268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1069848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040880" y="500176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US-MO8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7955280" y="5001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de lancement (reduction early adopters)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0698480" y="504748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10698480" y="5047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SKETCHES &amp;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08 - Backoffice Admin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6492240" cy="480060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moderation, utilisateurs, KPI, workflows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1828800" cy="4160520"/>
          </a:xfrm>
          <a:prstGeom prst="rect">
            <a:avLst/>
          </a:prstGeom>
          <a:solidFill>
            <a:srgbClr val="14263F"/>
          </a:solidFill>
          <a:ln w="9525">
            <a:solidFill>
              <a:srgbClr val="1426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Dashboard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07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A43E"/>
                </a:solidFill>
              </a:rPr>
              <a:t>&gt; Moderation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282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Utilisateurs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758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Packs &amp; Factures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33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Bannieres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KPI &amp; trafic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5184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Workflows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6601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&gt; Parametres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2057400"/>
            <a:ext cx="937260" cy="822960"/>
          </a:xfrm>
          <a:prstGeom prst="rect">
            <a:avLst/>
          </a:prstGeom>
          <a:solidFill>
            <a:srgbClr val="FAF5EA"/>
          </a:solidFill>
          <a:ln w="12700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651760" y="2148840"/>
            <a:ext cx="84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43E"/>
                </a:solidFill>
              </a:rPr>
              <a:t>42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51760" y="2560320"/>
            <a:ext cx="84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Annonces en attente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34740" y="2057400"/>
            <a:ext cx="937260" cy="822960"/>
          </a:xfrm>
          <a:prstGeom prst="rect">
            <a:avLst/>
          </a:prstGeom>
          <a:solidFill>
            <a:srgbClr val="FAF5EA"/>
          </a:solidFill>
          <a:ln w="12700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80460" y="2148840"/>
            <a:ext cx="84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43E"/>
                </a:solidFill>
              </a:rPr>
              <a:t>17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80460" y="2560320"/>
            <a:ext cx="84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Nouveaux Pro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057400"/>
            <a:ext cx="937260" cy="822960"/>
          </a:xfrm>
          <a:prstGeom prst="rect">
            <a:avLst/>
          </a:prstGeom>
          <a:solidFill>
            <a:srgbClr val="FAF5EA"/>
          </a:solidFill>
          <a:ln w="12700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09160" y="2148840"/>
            <a:ext cx="84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43E"/>
                </a:solidFill>
              </a:rPr>
              <a:t>1 245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09160" y="2560320"/>
            <a:ext cx="84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Leads du mois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92140" y="2057400"/>
            <a:ext cx="937260" cy="822960"/>
          </a:xfrm>
          <a:prstGeom prst="rect">
            <a:avLst/>
          </a:prstGeom>
          <a:solidFill>
            <a:srgbClr val="FAF5EA"/>
          </a:solidFill>
          <a:ln w="12700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737860" y="2148840"/>
            <a:ext cx="84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A43E"/>
                </a:solidFill>
              </a:rPr>
              <a:t>8.6 %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37860" y="2560320"/>
            <a:ext cx="845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Taux conversion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2971800"/>
            <a:ext cx="4114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6032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 moderation : projets &amp; annonces en attente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0" y="3337560"/>
            <a:ext cx="685800" cy="274320"/>
          </a:xfrm>
          <a:prstGeom prst="rect">
            <a:avLst/>
          </a:prstGeom>
          <a:solidFill>
            <a:srgbClr val="F3EBD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56032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3337560"/>
            <a:ext cx="685800" cy="274320"/>
          </a:xfrm>
          <a:prstGeom prst="rect">
            <a:avLst/>
          </a:prstGeom>
          <a:solidFill>
            <a:srgbClr val="F3EBD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24612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31920" y="3337560"/>
            <a:ext cx="685800" cy="274320"/>
          </a:xfrm>
          <a:prstGeom prst="rect">
            <a:avLst/>
          </a:prstGeom>
          <a:solidFill>
            <a:srgbClr val="F3EBD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93192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3337560"/>
            <a:ext cx="685800" cy="274320"/>
          </a:xfrm>
          <a:prstGeom prst="rect">
            <a:avLst/>
          </a:prstGeom>
          <a:solidFill>
            <a:srgbClr val="F3EBD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61772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03520" y="3337560"/>
            <a:ext cx="685800" cy="274320"/>
          </a:xfrm>
          <a:prstGeom prst="rect">
            <a:avLst/>
          </a:prstGeom>
          <a:solidFill>
            <a:srgbClr val="F3EBD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30352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89320" y="3337560"/>
            <a:ext cx="685800" cy="274320"/>
          </a:xfrm>
          <a:prstGeom prst="rect">
            <a:avLst/>
          </a:prstGeom>
          <a:solidFill>
            <a:srgbClr val="F3EBD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98932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361188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560320" y="361188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P-100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46120" y="361188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246120" y="361188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31920" y="361188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931920" y="361188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17720" y="361188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617720" y="361188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303520" y="361188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303520" y="361188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89320" y="361188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5989320" y="361188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| Refuser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60320" y="388620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2560320" y="388620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P-101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46120" y="388620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246120" y="388620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931920" y="388620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3931920" y="388620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17720" y="388620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617720" y="388620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2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303520" y="388620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5303520" y="388620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989320" y="388620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5989320" y="388620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| Refuser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560320" y="416052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256032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P-102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46120" y="416052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324612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931920" y="416052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393192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3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17720" y="416052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461772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3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303520" y="416052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530352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989320" y="416052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598932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| Refuser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560320" y="443484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2560320" y="443484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P-103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246120" y="443484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3246120" y="443484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931920" y="443484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3931920" y="443484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4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17720" y="443484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4617720" y="443484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4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303520" y="443484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5303520" y="443484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989320" y="443484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5989320" y="443484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| Refuser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560320" y="470916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2560320" y="47091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P-104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246120" y="470916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3246120" y="47091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931920" y="470916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3931920" y="47091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5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617720" y="470916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Text 99"/>
          <p:cNvSpPr/>
          <p:nvPr/>
        </p:nvSpPr>
        <p:spPr>
          <a:xfrm>
            <a:off x="4617720" y="47091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5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303520" y="470916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5303520" y="47091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989320" y="470916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5989320" y="4709160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| Refuser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70408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850392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- priorite MVP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040880" y="205740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Text 109"/>
          <p:cNvSpPr/>
          <p:nvPr/>
        </p:nvSpPr>
        <p:spPr>
          <a:xfrm>
            <a:off x="704088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US-B01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795528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/ refuser projets &amp; annonces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0698480" y="210312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Text 112"/>
          <p:cNvSpPr/>
          <p:nvPr/>
        </p:nvSpPr>
        <p:spPr>
          <a:xfrm>
            <a:off x="1069848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040880" y="247802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Text 115"/>
          <p:cNvSpPr/>
          <p:nvPr/>
        </p:nvSpPr>
        <p:spPr>
          <a:xfrm>
            <a:off x="7040880" y="2478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US-B02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7955280" y="24780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utilisateurs &amp; roles (admin, pro, user)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10698480" y="252374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0" name="Text 118"/>
          <p:cNvSpPr/>
          <p:nvPr/>
        </p:nvSpPr>
        <p:spPr>
          <a:xfrm>
            <a:off x="1069848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040880" y="289864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3" name="Text 121"/>
          <p:cNvSpPr/>
          <p:nvPr/>
        </p:nvSpPr>
        <p:spPr>
          <a:xfrm>
            <a:off x="7040880" y="2898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US-B03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795528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avis &amp; signalements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10698480" y="294436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Text 124"/>
          <p:cNvSpPr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7040880" y="331927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9" name="Text 127"/>
          <p:cNvSpPr/>
          <p:nvPr/>
        </p:nvSpPr>
        <p:spPr>
          <a:xfrm>
            <a:off x="7040880" y="3319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US-B04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795528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globaux : trafic, leads, conversion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10698480" y="336499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2" name="Text 130"/>
          <p:cNvSpPr/>
          <p:nvPr/>
        </p:nvSpPr>
        <p:spPr>
          <a:xfrm>
            <a:off x="1069848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7040880" y="3739896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5" name="Text 133"/>
          <p:cNvSpPr/>
          <p:nvPr/>
        </p:nvSpPr>
        <p:spPr>
          <a:xfrm>
            <a:off x="7040880" y="3739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US-B05</a:t>
            </a:r>
            <a:endParaRPr lang="en-US" sz="1000" dirty="0"/>
          </a:p>
        </p:txBody>
      </p:sp>
      <p:sp>
        <p:nvSpPr>
          <p:cNvPr id="136" name="Text 134"/>
          <p:cNvSpPr/>
          <p:nvPr/>
        </p:nvSpPr>
        <p:spPr>
          <a:xfrm>
            <a:off x="7955280" y="3739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packs &amp; facturation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10698480" y="3785616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8" name="Text 136"/>
          <p:cNvSpPr/>
          <p:nvPr/>
        </p:nvSpPr>
        <p:spPr>
          <a:xfrm>
            <a:off x="1069848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7040880" y="4160520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1" name="Text 139"/>
          <p:cNvSpPr/>
          <p:nvPr/>
        </p:nvSpPr>
        <p:spPr>
          <a:xfrm>
            <a:off x="704088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US-B06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79552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bannieres publicitaires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10698480" y="42062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4" name="Text 142"/>
          <p:cNvSpPr/>
          <p:nvPr/>
        </p:nvSpPr>
        <p:spPr>
          <a:xfrm>
            <a:off x="106984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040880" y="4581144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7" name="Text 145"/>
          <p:cNvSpPr/>
          <p:nvPr/>
        </p:nvSpPr>
        <p:spPr>
          <a:xfrm>
            <a:off x="7040880" y="45811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US-B07</a:t>
            </a:r>
            <a:endParaRPr lang="en-US" sz="1000" dirty="0"/>
          </a:p>
        </p:txBody>
      </p:sp>
      <p:sp>
        <p:nvSpPr>
          <p:cNvPr id="148" name="Text 146"/>
          <p:cNvSpPr/>
          <p:nvPr/>
        </p:nvSpPr>
        <p:spPr>
          <a:xfrm>
            <a:off x="795528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desactiver workflows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10698480" y="4626864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" name="Text 148"/>
          <p:cNvSpPr/>
          <p:nvPr/>
        </p:nvSpPr>
        <p:spPr>
          <a:xfrm>
            <a:off x="1069848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7040880" y="5001768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" name="Text 151"/>
          <p:cNvSpPr/>
          <p:nvPr/>
        </p:nvSpPr>
        <p:spPr>
          <a:xfrm>
            <a:off x="7040880" y="5001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US-B08</a:t>
            </a:r>
            <a:endParaRPr lang="en-US" sz="1000" dirty="0"/>
          </a:p>
        </p:txBody>
      </p:sp>
      <p:sp>
        <p:nvSpPr>
          <p:cNvPr id="154" name="Text 152"/>
          <p:cNvSpPr/>
          <p:nvPr/>
        </p:nvSpPr>
        <p:spPr>
          <a:xfrm>
            <a:off x="7955280" y="5001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Excel des donnees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10698480" y="504748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" name="Text 154"/>
          <p:cNvSpPr/>
          <p:nvPr/>
        </p:nvSpPr>
        <p:spPr>
          <a:xfrm>
            <a:off x="10698480" y="5047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7040880" y="5422392"/>
            <a:ext cx="4754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9" name="Text 157"/>
          <p:cNvSpPr/>
          <p:nvPr/>
        </p:nvSpPr>
        <p:spPr>
          <a:xfrm>
            <a:off x="7040880" y="54223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US-B09</a:t>
            </a:r>
            <a:endParaRPr lang="en-US" sz="1000" dirty="0"/>
          </a:p>
        </p:txBody>
      </p:sp>
      <p:sp>
        <p:nvSpPr>
          <p:cNvPr id="160" name="Text 158"/>
          <p:cNvSpPr/>
          <p:nvPr/>
        </p:nvSpPr>
        <p:spPr>
          <a:xfrm>
            <a:off x="7955280" y="5422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d'audit &amp; securite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10698480" y="5468112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AEB7C2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" name="Text 160"/>
          <p:cNvSpPr/>
          <p:nvPr/>
        </p:nvSpPr>
        <p:spPr>
          <a:xfrm>
            <a:off x="10698480" y="5468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TRANSVERSE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transverses du MVP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37033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Carto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des pins (haute densite)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Requetes bbox (zone visible uniquement)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+ index PostGIS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 carte au scroll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images (Cloudinary)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64592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206240" y="1645920"/>
            <a:ext cx="37033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206240" y="16459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&amp; Conformite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1488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OAuth (Google/Facebook)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+ cookie consent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donnees (backend)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d'audit admin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rate limit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164592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092440" y="1645920"/>
            <a:ext cx="37033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092440" y="16459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1488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Bilingue FR / AR (RTL inclus)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prix TND localises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editoriaux traduits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multilingue (hreflang)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6908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4069080"/>
            <a:ext cx="37033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0040" y="4069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transactionnel (SendGrid / SES)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(Twilio ou local)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web (Firebase)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406908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206240" y="4069080"/>
            <a:ext cx="37033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206240" y="4069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45720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Mixpanel / Matomo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backend (Sentry)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(UptimeRobot)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live (admin)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92440" y="406908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8092440" y="4069080"/>
            <a:ext cx="37033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092440" y="4069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Editorial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45720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propres + sitemap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 (RealEstateListing)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guides ville SEO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dynamique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OG + Twitter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STACK &amp;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&amp; architecture cible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974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697480" cy="41148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i18n FR/AR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26974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337560" y="1645920"/>
            <a:ext cx="2697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OAuth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 (V2)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+ CORS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6974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697480" cy="411480"/>
          </a:xfrm>
          <a:prstGeom prst="rect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Cloudinary (medias)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(V2)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645920"/>
            <a:ext cx="26974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098280" y="1645920"/>
            <a:ext cx="2697480" cy="4114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098280" y="1645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DevOps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81160" y="214884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AWS / DigitalOcean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 GitHub Actions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+ autoscaling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Sentry + logs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: React Query -&gt; API Node -&gt; PostgreSQL/PostGIS (carto) + Redis (cache) + S3 (media)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STACK &amp;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performance carto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lente = abandon. Zero latence meme avec forte densite.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703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685800" cy="6858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Clustering des pins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Regrouper les pins dense pour eviter la surcharge visuelle et CPU.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103120"/>
            <a:ext cx="3703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343400" y="2103120"/>
            <a:ext cx="685800" cy="6858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434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2194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Requetes bbox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Ne charger que les projets dans la zone carte visible, pas toute la base.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103120"/>
            <a:ext cx="3703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229600" y="2103120"/>
            <a:ext cx="685800" cy="6858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2296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52560" y="2194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Cache Redis + PostGIS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880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Requetes geo ultra-rapides et memoisation des zones frequentes.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703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685800" cy="6858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297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Lazy load carte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9834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Carte montee seulement quand l'utilisateur scroll sur la section map.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206240"/>
            <a:ext cx="3703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343400" y="4206240"/>
            <a:ext cx="685800" cy="6858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34340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66360" y="4297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Clusters dynamiques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26280" y="49834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Bulles 12, 18, 24 projets qui se deploient au zoom.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4206240"/>
            <a:ext cx="37033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8229600" y="4206240"/>
            <a:ext cx="685800" cy="68580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822960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052560" y="4297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Pin avec prix min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49834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Info directement lisible sans clic : A partir de 210 000 TND.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Attention : pas de clustering + pas de bbox + 200 projets = facture API explosee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MODELE ECONOMIQUE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Agences immobilieres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747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474720" cy="822960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263F"/>
                </a:solidFill>
              </a:rPr>
              <a:t>Entree de gamme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annonces / mois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agence standard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3474720" cy="4389120"/>
          </a:xfrm>
          <a:prstGeom prst="rect">
            <a:avLst/>
          </a:prstGeom>
          <a:solidFill>
            <a:srgbClr val="FAF5EA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480560" y="1783080"/>
            <a:ext cx="3474720" cy="822960"/>
          </a:xfrm>
          <a:prstGeom prst="rect">
            <a:avLst/>
          </a:prstGeom>
          <a:solidFill>
            <a:srgbClr val="F4C674"/>
          </a:solidFill>
          <a:ln w="12700">
            <a:solidFill>
              <a:srgbClr val="F4C67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48056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8056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263F"/>
                </a:solidFill>
              </a:rPr>
              <a:t>Le plus choisi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annonces / mois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Banniere 2e position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avancees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566928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54880" y="5669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21040" y="1783080"/>
            <a:ext cx="34747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321040" y="1783080"/>
            <a:ext cx="34747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32104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PLATINIUM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104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Premium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28346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illimitees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Banniere 1ere position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a la une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sur la map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Platinium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MODELE ECONOMIQUE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Promoteurs (par projet)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5943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27432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52560" y="1737360"/>
            <a:ext cx="27432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05256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21408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121408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projet verifiee par Immo24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12140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0" y="2121408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212140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052560" y="2121408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05456"/>
            <a:ext cx="59436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2505456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sur la carte (marqueur standard)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505456"/>
            <a:ext cx="27432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309360" y="2505456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2505456"/>
            <a:ext cx="27432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9052560" y="2505456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889504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2889504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unites (liste appartements)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88950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309360" y="2889504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52560" y="288950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9052560" y="2889504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273552"/>
            <a:ext cx="59436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5760" y="3273552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integre dans la fiche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273552"/>
            <a:ext cx="27432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309360" y="3273552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52560" y="3273552"/>
            <a:ext cx="27432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9052560" y="3273552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65760" y="3657600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virtuelle 360 produite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65760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309360" y="3657600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52560" y="365760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9052560" y="3657600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041648"/>
            <a:ext cx="59436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65760" y="4041648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drone du site (2 min)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4041648"/>
            <a:ext cx="27432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309360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52560" y="4041648"/>
            <a:ext cx="27432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9052560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425696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65760" y="4425696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PDF commerciale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442569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309360" y="4425696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052560" y="442569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9052560" y="4425696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4809744"/>
            <a:ext cx="59436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365760" y="4809744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Banniere homepage en rotation prioritaire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309360" y="4809744"/>
            <a:ext cx="27432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309360" y="4809744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052560" y="4809744"/>
            <a:ext cx="2743200" cy="384048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9052560" y="4809744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5760" y="5193792"/>
            <a:ext cx="5943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365760" y="5193792"/>
            <a:ext cx="5943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projet dediee (mini-site)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309360" y="5193792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6309360" y="5193792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052560" y="5193792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9052560" y="5193792"/>
            <a:ext cx="27432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A7B"/>
                </a:solidFill>
              </a:rPr>
              <a:t>Legende : ✓ inclus  -  -  non inclus   |   Upsell possible : Visite 360, drone, brochure, banniere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MODELE ECONOMIQUE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de lancement - Early adopters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-30% sur votre premier abonnement 6 mois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Pour nos 20 premiers partenaires promoteurs &amp; agences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2ED"/>
                </a:solidFill>
              </a:rPr>
              <a:t>Valable jusqu'au 30/06/2026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269748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Mise en avant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A7B"/>
                </a:solidFill>
              </a:rPr>
              <a:t>Visibilite map + homepage offerte 3 mois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420624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337560" y="4206240"/>
            <a:ext cx="269748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33756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Onboarding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4846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A7B"/>
                </a:solidFill>
              </a:rPr>
              <a:t>Integration assistee + fiches produites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269748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1792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Co-marketing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846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A7B"/>
                </a:solidFill>
              </a:rPr>
              <a:t>Mention dans la campagne de lancement Immo24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420624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9098280" y="4206240"/>
            <a:ext cx="269748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098280" y="4343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Tarif gele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1160" y="4846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A7B"/>
                </a:solidFill>
              </a:rPr>
              <a:t>Tarif prive garanti pendant 12 mois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BENCHMARKING &amp;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: BienIci vs SeLoger vs Immo24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8346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7432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BienIci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29260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943600" y="1691640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9260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869680" y="1691640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283464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2130552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cible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130552"/>
            <a:ext cx="274320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00400" y="2130552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- Ancien+Neuf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130552"/>
            <a:ext cx="292608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0" y="2130552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- tout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69680" y="2130552"/>
            <a:ext cx="2926080" cy="438912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869680" y="2130552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Tunisie - Neuf + Agences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569464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2569464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annonceurs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569464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00400" y="2569464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uniquement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256946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943600" y="2569464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+ Promo + Particuliers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69680" y="2569464"/>
            <a:ext cx="2926080" cy="438912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869680" y="2569464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+ Promoteurs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008376"/>
            <a:ext cx="283464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5760" y="3008376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008376"/>
            <a:ext cx="274320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200400" y="3008376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3D proprietaire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0" y="3008376"/>
            <a:ext cx="292608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94360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2D classique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869680" y="3008376"/>
            <a:ext cx="2926080" cy="438912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86968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/ Google 2D+Sat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447288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65760" y="3447288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3447288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200400" y="3447288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0" y="344728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943600" y="3447288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869680" y="3447288"/>
            <a:ext cx="2926080" cy="438912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869680" y="3447288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 + SMS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886200"/>
            <a:ext cx="283464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65760" y="3886200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programmes neufs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0" y="3886200"/>
            <a:ext cx="274320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200400" y="3886200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43600" y="3886200"/>
            <a:ext cx="292608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943600" y="3886200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SeLogerNeuf dedie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869680" y="3886200"/>
            <a:ext cx="2926080" cy="438912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8869680" y="3886200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Coeur du site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325112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365760" y="4325112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credit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0" y="432511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200400" y="4325112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43600" y="432511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5943600" y="4325112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869680" y="4325112"/>
            <a:ext cx="2926080" cy="438912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8869680" y="4325112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tunisien (STB, BH, Amen)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" y="4764024"/>
            <a:ext cx="283464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365760" y="4764024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Demenagement / Deco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0" y="4764024"/>
            <a:ext cx="274320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3200400" y="4764024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943600" y="4764024"/>
            <a:ext cx="2926080" cy="438912"/>
          </a:xfrm>
          <a:prstGeom prst="rect">
            <a:avLst/>
          </a:prstGeom>
          <a:solidFill>
            <a:srgbClr val="EEF3F8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5943600" y="4764024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Nextories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869680" y="4764024"/>
            <a:ext cx="2926080" cy="438912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8869680" y="4764024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+ enseignes meubles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65760" y="5202936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365760" y="5202936"/>
            <a:ext cx="2834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Multilangue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00400" y="520293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3200400" y="5202936"/>
            <a:ext cx="2743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Francais uniquement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943600" y="5202936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5943600" y="5202936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Francais uniquement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869680" y="5202936"/>
            <a:ext cx="2926080" cy="438912"/>
          </a:xfrm>
          <a:prstGeom prst="rect">
            <a:avLst/>
          </a:prstGeom>
          <a:solidFill>
            <a:srgbClr val="FAF5EA"/>
          </a:solidFill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8869680" y="5202936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+ AR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BENCHMARKING &amp;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Differenciateurs Immo24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64592" cy="2148840"/>
          </a:xfrm>
          <a:prstGeom prst="rect">
            <a:avLst/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Alertes WhatsApp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A7B"/>
                </a:solidFill>
              </a:rPr>
              <a:t>Canal dominant en Tunisie. Email + WhatsApp + SMS - ni BienIci ni SeLoger ne le font.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164592" cy="21488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Ecosysteme complet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A7B"/>
                </a:solidFill>
              </a:rPr>
              <a:t>Immobilier neuf + financement + demenagement + deco. Guichet unique.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164592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Bilingue FR / 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A7B"/>
                </a:solidFill>
              </a:rPr>
              <a:t>Couvre l'ensemble du marche tunisien + diaspora.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164592" cy="214884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Aides FOPROLOS / SPROLS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4709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A7B"/>
                </a:solidFill>
              </a:rPr>
              <a:t>Simulateur d'eligibilite unique en Tunisie, clef pour primo-accedants.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BENCHMARKING &amp;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V2 - Intelligence &amp; Nice-to-have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703320" cy="19659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/ Nice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Comparateur 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Comparer 3 residences : prix/m2, standing, parking, piscine, ecoles.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0248" y="1691640"/>
            <a:ext cx="3703320" cy="19659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498848" y="192024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49884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/ Nice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98848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Simulation financiere 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98848" y="27889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Mensualite + apport + frais de notaire estimes instantanement.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1691640"/>
            <a:ext cx="3703320" cy="19659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403336" y="192024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403336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/ Nice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03336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Heatmap zones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03336" y="27889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Zones les plus demandees / cheres / emergentes sur la carte.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3703320" cy="19659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94360" y="40690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9436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/ Nice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Badges qualite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49377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Projet verifie, Visite drone, Etat avancement temps reel.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70248" y="3840480"/>
            <a:ext cx="3703320" cy="19659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498848" y="40690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498848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/ Nice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98848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Compteur de lots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98848" y="49377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Nombre de lots restants (FOMO + urgence).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74736" y="3840480"/>
            <a:ext cx="3703320" cy="1965960"/>
          </a:xfrm>
          <a:prstGeom prst="rect">
            <a:avLst/>
          </a:prstGeom>
          <a:solidFill>
            <a:srgbClr val="FAF5EA"/>
          </a:solidFill>
          <a:ln w="9525">
            <a:solidFill>
              <a:srgbClr val="F3EB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8403336" y="40690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403336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/ Nice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03336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Avis post-livraison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03336" y="49377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Reviews verifies apres livraison du bien.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BENCHMARKING &amp;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ouvertes a valider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623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Mapbox ou Google Maps 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Quelle stack backend definitive 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REST vs GraphQL 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623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Strategie clustering / bbox 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Seuil de cache Redis 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Optimisation appels API 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623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&amp; Geo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Source des donnees geo (OSM, IGN-TN) 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Mise a jour des prix au m2 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Index spatial a adopter 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623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623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63640" y="397764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Scalabilite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52628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A quel moment scaler l'infra 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Autoscaling auto vs manuel 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☐"/>
            </a:pPr>
            <a:r>
              <a:rPr lang="en-US" sz="1200" dirty="0">
                <a:solidFill>
                  <a:srgbClr val="14263F"/>
                </a:solidFill>
              </a:rPr>
              <a:t>CDN et edge cache 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61520" cy="73152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 SYNTHESE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 - Ce qu'on emporte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Immo24.tn  |  Architecture &amp; Backlog  |  Avril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77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A43E"/>
                </a:solidFill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Positionnement clair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Plateforme 100% verifiee, neuf + agences, Tunisie - Grand Tunis au lancement.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1247120" cy="777240"/>
          </a:xfrm>
          <a:prstGeom prst="rect">
            <a:avLst/>
          </a:prstGeom>
          <a:solidFill>
            <a:srgbClr val="EEF3F8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777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A43E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UX carte-first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71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Mapbox + clustering + filtres avances + liste synchronisee, inspire de BienIci.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777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A43E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630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Ecosysteme complet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Immo + financement + demenagement + deco : guichet unique, aucun concurrent tunisien.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11247120" cy="777240"/>
          </a:xfrm>
          <a:prstGeom prst="rect">
            <a:avLst/>
          </a:prstGeom>
          <a:solidFill>
            <a:srgbClr val="EEF3F8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777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A43E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4630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Revenus recurrents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Packs agences Silver/Gold/Platinium + packs promoteurs par projet + upsell 360 / drone.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166360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777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5166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A43E"/>
                </a:solidFill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4630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Differenciateurs uniques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A7B"/>
                </a:solidFill>
              </a:rPr>
              <a:t>Alertes WhatsApp, bilingue FR/AR, aides FOPROLOS, contenu editorial SEO.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etapes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A43E"/>
                </a:solidFill>
              </a:rPr>
              <a:t>Plan d'action PM - 90 prochains jours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737360" cy="5486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F"/>
                </a:solidFill>
              </a:rPr>
              <a:t>Semaine 1-2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2514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Valider arborescence + menu avec l'equipe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E2ED"/>
                </a:solidFill>
              </a:rPr>
              <a:t>Ateliers PO + sponsor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737360" cy="5486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F"/>
                </a:solidFill>
              </a:rPr>
              <a:t>Semaine 3-4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32461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Wireframes hifi pages cles (Home, Maps, Fiche)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E2ED"/>
                </a:solidFill>
              </a:rPr>
              <a:t>UX + lead 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737360" cy="5486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F"/>
                </a:solidFill>
              </a:rPr>
              <a:t>Semaine 5-6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977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Choix stack definitif (Next.js + Mapbox + PostGIS)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E2ED"/>
                </a:solidFill>
              </a:rPr>
              <a:t>Architecte tech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663440"/>
            <a:ext cx="1737360" cy="5486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F"/>
                </a:solidFill>
              </a:rPr>
              <a:t>Semaine 7-12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47091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Sprint MVP : Carte + Fiches + Simulateur credit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E2ED"/>
                </a:solidFill>
              </a:rPr>
              <a:t>Equipe dev 5 PO / Scrum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394960"/>
            <a:ext cx="1737360" cy="548640"/>
          </a:xfrm>
          <a:prstGeom prst="rect">
            <a:avLst/>
          </a:prstGeom>
          <a:solidFill>
            <a:srgbClr val="E9A43E"/>
          </a:solidFill>
          <a:ln w="12700">
            <a:solidFill>
              <a:srgbClr val="E9A4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152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3F"/>
                </a:solidFill>
              </a:rPr>
              <a:t>Semaine 13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5440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Beta fermee - 20 partenaires promoteurs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0" y="5486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E2ED"/>
                </a:solidFill>
              </a:rPr>
              <a:t>Go-to-market + feedback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7C2"/>
                </a:solidFill>
              </a:rPr>
              <a:t>Immo24.tn  |  Emna Sadfi - Product Manager  |  Avril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2724</TotalTime>
  <Words>3919</Words>
  <Application>Microsoft Office PowerPoint</Application>
  <PresentationFormat>Grand écran</PresentationFormat>
  <Paragraphs>1008</Paragraphs>
  <Slides>29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Immo24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Immo24.tn - Architecture, Sketches &amp; Backlog</dc:title>
  <dc:subject>PptxGenJS Presentation</dc:subject>
  <dc:creator>Emna Sadfi</dc:creator>
  <cp:lastModifiedBy>Emna Sadfi</cp:lastModifiedBy>
  <cp:revision>2</cp:revision>
  <dcterms:created xsi:type="dcterms:W3CDTF">2026-04-17T14:35:04Z</dcterms:created>
  <dcterms:modified xsi:type="dcterms:W3CDTF">2026-04-19T12:06:38Z</dcterms:modified>
</cp:coreProperties>
</file>