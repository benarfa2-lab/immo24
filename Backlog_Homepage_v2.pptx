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9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312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C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73152" cy="685800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64008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77724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Immo24.tn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8872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TROUVEZ. COMPAREZ. RÉALISEZ.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7315200" cy="9144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Backlog Homepage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7315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800" b="1" i="0">
                <a:solidFill>
                  <a:srgbClr val="1D88E5"/>
                </a:solidFill>
                <a:latin typeface="Calibri"/>
              </a:rPr>
              <a:t>User Stories — Visiteur &amp;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6858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>
                <a:solidFill>
                  <a:srgbClr val="B0B8C8"/>
                </a:solidFill>
                <a:latin typeface="Calibri"/>
              </a:rPr>
              <a:t>Version 2 — US existantes améliorées + US manquantes ajoutées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 Owner    —    Emna Sadfi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alibri"/>
              </a:rPr>
              <a:t>Date    —    24 avril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  <a:latin typeface="Calibri"/>
              </a:rPr>
              <a:t>Scope    —    Homepage (v1 MVP)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489"/>
                </a:solidFill>
                <a:latin typeface="Calibri"/>
              </a:rPr>
              <a:t>Plateforme immobilière tunisienne  •  v2 —  Backlog Homepage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Sommaire — 11 EPICs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0789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Navigation / Navbar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933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Hero / Bannière principale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346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9077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Widget de recherche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49039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22191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Projets en vogue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365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Estimation gratuite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778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6509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Dernières annonces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10058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59" y="10058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39" y="10789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Actualités &amp; Conseils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19202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59" y="19202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39" y="19933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Partenaires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28346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59" y="28346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39" y="29077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Footer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3749039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59" y="3749039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39" y="3822191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Boutons CTA thématiques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39" y="4133087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489"/>
                </a:solidFill>
                <a:latin typeface="Calibri"/>
              </a:rPr>
              <a:t>2 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59" y="4663440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59" y="4663440"/>
            <a:ext cx="6400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39" y="4736592"/>
            <a:ext cx="4572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F1117"/>
                </a:solidFill>
                <a:latin typeface="Calibri"/>
              </a:rPr>
              <a:t>Transverse — Qualité &amp; Conformité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39" y="5047488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489"/>
                </a:solidFill>
                <a:latin typeface="Calibri"/>
              </a:rPr>
              <a:t>6 US   •   6 ajoutée(s)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6B7489"/>
                </a:solidFill>
                <a:latin typeface="Calibri"/>
              </a:rPr>
              <a:t>Immo24.tn — Backlog Homepage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1B8E152-4FFE-2BE3-856A-8E82F669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34" y="0"/>
            <a:ext cx="3281932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5D780B-5BF3-998A-D418-17F88E04FB42}"/>
              </a:ext>
            </a:extLst>
          </p:cNvPr>
          <p:cNvSpPr/>
          <p:nvPr/>
        </p:nvSpPr>
        <p:spPr>
          <a:xfrm>
            <a:off x="5399617" y="1094317"/>
            <a:ext cx="2169583" cy="19261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969F06-C49C-0835-14C8-D7F597CF43AA}"/>
              </a:ext>
            </a:extLst>
          </p:cNvPr>
          <p:cNvSpPr/>
          <p:nvPr/>
        </p:nvSpPr>
        <p:spPr>
          <a:xfrm>
            <a:off x="4455034" y="2497668"/>
            <a:ext cx="3253866" cy="3429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Bannière pub</a:t>
            </a:r>
          </a:p>
        </p:txBody>
      </p:sp>
    </p:spTree>
    <p:extLst>
      <p:ext uri="{BB962C8B-B14F-4D97-AF65-F5344CB8AC3E}">
        <p14:creationId xmlns:p14="http://schemas.microsoft.com/office/powerpoint/2010/main" val="227847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Navigation / Navbar  (1/4)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04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Affichage de la navbar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une barre de navigation claire avec le logo, les menus et le bouton de connexion, afin de naviguer efficacement sur la plateforme.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Logo cliquable → redirige vers la homepage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Menus déroulants fonctionnels au survol et au clic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Barre sticky (reste en haut au scroll) avec effet blur/transparence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CTA (Compte pro / Sign In) visible à droite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Item actif mis en évidence visuellement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&lt;Navbar&gt; réutilisable (Next.js)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Prop sticky + z-index 100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Test e2e : navigation entre pages conserve la navbar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Sous-menus dynamiques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que les sous-menus s'ouvrent au survol et affichent les liens configurés, afin d'accéder rapidement aux sections importantes.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Ouverture au survol avec délai 150ms (évite les ouvertures accidentelles)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item affiche label + lien (interne ou externe)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Lien externe s'ouvre dans un nouvel onglet (target=_blank rel=noopener)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Fermeture sur clic extérieur ou Escape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Navigation clavier (Tab, Enter, flèches)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/api/menu → arbre de menus configurés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Cache 5 min côté client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Navigation / Navbar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Navigation / Navbar  (2/4)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05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Responsive mobile — menu hamburger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 mobile, je veux accéder au menu via un bouton hamburger, afin de naviguer confortablement sur smartphone.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Burger visible &lt; 1024px, navbar classique ≥ 1024px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Panneau coulissant avec overlay sombre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Sous-menus accordéon (tap pour déployer)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Fermeture au swipe ou clic overlay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fermer (X) accessible en haut à droite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CSS media queries + breakpoint tokens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&lt;MobileMenu&gt; avec animation slide-in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Changer la langue FR / 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basculer entre français et arabe depuis la navbar, afin de consulter le site dans ma langue préférée.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Sélecteur langue (FR/AR) visible dans la navbar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Préférence mémorisée (cookie 1 an)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Bascule instantanée sans rechargement complet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Support RTL complet en mode arabe (direction, alignement)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URL reflète la langue (/fr/ ou /ar/)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i18n next-intl ou react-i18next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Dictionnaires FR/AR versionnés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Middleware détection langue navigateur au 1er visit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Navigation / Navbar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Navigation / Navbar  (3/4)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06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Gérer les items du menu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ajouter, modifier, réordonner et supprimer les items du menu principal, afin d'adapter la navigation sans intervention technique.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CRUD sur les items : label (FR/AR), URL cible, icône optionnelle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URL cible : interne (sélecteur de page) ou externe (URL libre)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Drag &amp; drop pour réordonner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visibilité (publié / masqué) sans suppression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 temps réel avant publication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Historique des modifications (audit log)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/api/admin/menu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Back-office React admin avec react-beautiful-dnd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logo, nom et tagline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modifier le logo, le nom affiché et la tagline de la navbar, afin de maintenir l'identité visuelle à jour.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Upload logo SVG/PNG (max 500 KB), prévisualisation immédiate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Champs nom du site et tagline éditables (FR/AR)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URL de redirection du logo configurable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Validation : dimensions min 80x80, format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Stockage assets S3 / CDN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/api/admin/branding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Navigation / Navbar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Navigation / Navbar  (4/4)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07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502920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US-NAV-07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le bouton CTA de la navbar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modifier le libellé et la destination du bouton CTA de la navbar, afin de l'adapter selon les campagnes (ex: « Publier votre projet »).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Label configurable FR/AR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URL cible : interne ou externe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Option d'affichage : toujours visible / masqué si connecté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Choix du style (primaire / secondaire)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/api/admin/navbar-cta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Navigation / Navbar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Hero / Bannière principale  (1/3)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08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US-HER-01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Bannière principale immersive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une bannière visuelle immersive dès l'arrivée sur la homepage, afin de comprendre immédiatement que la plateforme couvre l'immobilier tunisien.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Image/vidéo de fond pleine largeur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Overlay sombre ajustable (0–80%) pour lisibilité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Titre H1 et sous-titre centrés / alignés à droite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LCP &lt; 2.5s — image WebP optimisée, preload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Hauteur responsive : 580px desktop, 60vh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Alt text renseigné pour accessibilité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&lt;Hero&gt; Next.js Image + priority=true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CDN Cloudflare avec srcset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38556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Hero / Bannière principale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638556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8 / 34</a:t>
            </a:r>
          </a:p>
        </p:txBody>
      </p:sp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856F6885-6128-5671-3EA3-6070E4B53B30}"/>
              </a:ext>
            </a:extLst>
          </p:cNvPr>
          <p:cNvSpPr/>
          <p:nvPr/>
        </p:nvSpPr>
        <p:spPr>
          <a:xfrm>
            <a:off x="472440" y="3744468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F7D751-F5C3-F546-33B0-88AFBFC2DD89}"/>
              </a:ext>
            </a:extLst>
          </p:cNvPr>
          <p:cNvSpPr/>
          <p:nvPr/>
        </p:nvSpPr>
        <p:spPr>
          <a:xfrm>
            <a:off x="472440" y="3744468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C628BDBE-041B-CF42-8D7B-AB24C14C2540}"/>
              </a:ext>
            </a:extLst>
          </p:cNvPr>
          <p:cNvSpPr txBox="1"/>
          <p:nvPr/>
        </p:nvSpPr>
        <p:spPr>
          <a:xfrm>
            <a:off x="701040" y="3854196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US-HER-04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163204D9-4F25-1E3F-28CE-09679E6011BA}"/>
              </a:ext>
            </a:extLst>
          </p:cNvPr>
          <p:cNvSpPr/>
          <p:nvPr/>
        </p:nvSpPr>
        <p:spPr>
          <a:xfrm>
            <a:off x="1706880" y="3835908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40" name="Rounded Rectangle 24">
            <a:extLst>
              <a:ext uri="{FF2B5EF4-FFF2-40B4-BE49-F238E27FC236}">
                <a16:creationId xmlns:a16="http://schemas.microsoft.com/office/drawing/2014/main" id="{85B01629-1A61-C96C-0EEB-E6A6E7AC2968}"/>
              </a:ext>
            </a:extLst>
          </p:cNvPr>
          <p:cNvSpPr/>
          <p:nvPr/>
        </p:nvSpPr>
        <p:spPr>
          <a:xfrm>
            <a:off x="11018215" y="3835908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41" name="Rounded Rectangle 25">
            <a:extLst>
              <a:ext uri="{FF2B5EF4-FFF2-40B4-BE49-F238E27FC236}">
                <a16:creationId xmlns:a16="http://schemas.microsoft.com/office/drawing/2014/main" id="{35FE3195-4B3F-C84E-9E79-E9894F71082D}"/>
              </a:ext>
            </a:extLst>
          </p:cNvPr>
          <p:cNvSpPr/>
          <p:nvPr/>
        </p:nvSpPr>
        <p:spPr>
          <a:xfrm>
            <a:off x="10240975" y="3835908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42" name="TextBox 26">
            <a:extLst>
              <a:ext uri="{FF2B5EF4-FFF2-40B4-BE49-F238E27FC236}">
                <a16:creationId xmlns:a16="http://schemas.microsoft.com/office/drawing/2014/main" id="{DAC76ED5-2549-7860-082B-67E4A65ED9C7}"/>
              </a:ext>
            </a:extLst>
          </p:cNvPr>
          <p:cNvSpPr txBox="1"/>
          <p:nvPr/>
        </p:nvSpPr>
        <p:spPr>
          <a:xfrm>
            <a:off x="701040" y="4174236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le visuel de fond hero</a:t>
            </a:r>
          </a:p>
        </p:txBody>
      </p:sp>
      <p:sp>
        <p:nvSpPr>
          <p:cNvPr id="43" name="TextBox 27">
            <a:extLst>
              <a:ext uri="{FF2B5EF4-FFF2-40B4-BE49-F238E27FC236}">
                <a16:creationId xmlns:a16="http://schemas.microsoft.com/office/drawing/2014/main" id="{9D2B0DA8-95D5-B656-CCBD-8EF031FFCCB8}"/>
              </a:ext>
            </a:extLst>
          </p:cNvPr>
          <p:cNvSpPr txBox="1"/>
          <p:nvPr/>
        </p:nvSpPr>
        <p:spPr>
          <a:xfrm>
            <a:off x="701040" y="4539996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modifier l'image ou la vidéo de fond du hero, afin de rafraîchir le visuel sans déploiement technique.</a:t>
            </a: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064ACB8F-5C09-EC7D-DB25-4657C27B2497}"/>
              </a:ext>
            </a:extLst>
          </p:cNvPr>
          <p:cNvSpPr txBox="1"/>
          <p:nvPr/>
        </p:nvSpPr>
        <p:spPr>
          <a:xfrm>
            <a:off x="701040" y="5180076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BEFDDB6A-1D40-881F-0B2D-F34B973BA0D1}"/>
              </a:ext>
            </a:extLst>
          </p:cNvPr>
          <p:cNvSpPr txBox="1"/>
          <p:nvPr/>
        </p:nvSpPr>
        <p:spPr>
          <a:xfrm>
            <a:off x="701040" y="5454396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Upload image (JPG/WebP, max 5 MB) ou URL vidéo (YouTube/Vimeo/mp4)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Ajustement opacité overlay (slider 0–80%)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Alt text configurable (FR/AR)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 desktop + mobile avant publication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Historique des 10 derniers visuels utilisés</a:t>
            </a:r>
          </a:p>
        </p:txBody>
      </p:sp>
      <p:sp>
        <p:nvSpPr>
          <p:cNvPr id="46" name="TextBox 30">
            <a:extLst>
              <a:ext uri="{FF2B5EF4-FFF2-40B4-BE49-F238E27FC236}">
                <a16:creationId xmlns:a16="http://schemas.microsoft.com/office/drawing/2014/main" id="{D865587A-C166-E708-FC02-CAB3A718B698}"/>
              </a:ext>
            </a:extLst>
          </p:cNvPr>
          <p:cNvSpPr txBox="1"/>
          <p:nvPr/>
        </p:nvSpPr>
        <p:spPr>
          <a:xfrm>
            <a:off x="6248247" y="5180076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47" name="TextBox 31">
            <a:extLst>
              <a:ext uri="{FF2B5EF4-FFF2-40B4-BE49-F238E27FC236}">
                <a16:creationId xmlns:a16="http://schemas.microsoft.com/office/drawing/2014/main" id="{1F8726F9-C7D0-ACF4-0F1A-5263091B6C39}"/>
              </a:ext>
            </a:extLst>
          </p:cNvPr>
          <p:cNvSpPr txBox="1"/>
          <p:nvPr/>
        </p:nvSpPr>
        <p:spPr>
          <a:xfrm>
            <a:off x="6248247" y="5454396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Stockage assets + versionning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/api/admin/hero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50F7E663-4075-D0F4-6968-244AECC15987}"/>
              </a:ext>
            </a:extLst>
          </p:cNvPr>
          <p:cNvSpPr txBox="1"/>
          <p:nvPr/>
        </p:nvSpPr>
        <p:spPr>
          <a:xfrm>
            <a:off x="9296400" y="67177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9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" y="13716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Hero / Bannière principale  (2/3)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09 / 34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199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199" y="9144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799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US-HER-04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39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2974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25734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799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le visuel de fond hero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modifier l'image ou la vidéo de fond du hero, afin de rafraîchir le visuel sans déploiement technique.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99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799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Upload image (JPG/WebP, max 5 MB) ou URL vidéo (YouTube/Vimeo/mp4)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Ajustement opacité overlay (slider 0–80%)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Alt text configurable (FR/AR)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 desktop + mobile avant publication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Historique des 10 derniers visuels utilisés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6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6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Stockage assets + versionning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/api/admin/hero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Hero / Bannière principale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Widget de recherche  (1/5)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11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Bascule Acheter / Louer / Neuf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basculer entre Acheter, Louer et Neuf dans le widget, afin de filtrer selon mon intention immédiate.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3 onglets clairement différenciés, sélection active en couleur primaire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Sélection mémorisée pendant la session (sessionStorage)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Le dropdown Type de bien se met à jour selon le mode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En mode Location : retrait des options Sur plan / Neuf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Transition animée entre états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State global Zustand / Context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Validation backend des combinaisons possibles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Recherche par mot-clé avec autocomplete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taper un mot-clé (ville, quartier, projet) et voir des suggestions en temps réel, afin de trouver rapidement ce que je cherche.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Autocomplete bilingue FR/AR avec debounce 300ms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Suggestions catégorisées : Quartiers, Villes, Projets, Promoteurs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Highlight du terme recherché dans les suggestions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Effacement en un clic (icône ×)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Recherche persistée dans l'URL (?q=…)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Placeholder configurable en back-office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Gestion erreur réseau avec fallback gracieux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/api/search/autocomplete?q=…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Index Elasticsearch / Meilisearch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Analytics event search_autocomplete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Widget de recherche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11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Widget de recherche  (2/5)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12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Sélectionner le type de bien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choisir le type de bien (appartement, villa, terrain, bureau…), afin d'affiner ma recherche.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Dropdown avec icône + label par type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Multi-sélection autorisée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Types disponibles paramétrables en back-office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Option « Tous types » cochée par défaut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/api/property-types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565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Définir la fourchette de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saisir un budget min et max en TND, afin de cibler les biens dans mes moyens.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2 champs : budget min, budget max (en TND ou € configurable)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Validation : min &lt; max, formatage auto avec séparateurs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Suggestions de paliers (100K, 200K, 500K…)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Affichage intelligent : « à partir de 200K » si max vide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Formatage Intl.NumberFormat('fr-TN')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Widget de recherche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12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Widget de recherche  (3/5)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13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Sélectionner le nombre de pièces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choisir le nombre de pièces (1, 2, 3, 4, 5+), afin de filtrer selon la taille du bien.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Boutons pill 1 / 2 / 3 / 4 / 5+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Multi-sélection (ex: 3 et 4 ensemble)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Sélection claire en couleur primaire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Option « Indifférent » par défaut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2573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Rechercher sur la carte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cliquer sur « Chercher sur la carte » depuis le widget, afin d'être redirigé vers la carte interactive avec mes filtres.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visible dans le widget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Redirige vers /carte?mode=vente&amp;q=…&amp;type=… (params transmis)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Carte centrée sur Tunis par défaut, ou sur la zone saisie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Icône carte pour clarté visuelle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Libellé configurable en back-office (FR/AR)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&lt;MapSearchButton&gt;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Sérialisation des filtres en querystring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Widget de recherche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13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Widget de recherche  (4/5)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14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Filtres avancés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accéder à des filtres avancés (surface, statut, livraison…) depuis le widget, afin d'affiner ma recherche sans quitter la homepage.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Panel déroulant sous le widget au clic « Filtres avancés »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Filtres : surface min/max, statut (Neuf / 2ème main / Sur plan), livraison (trimestre/année), étage, parking, ascenseur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Compteur de filtres actifs sur le bouton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Réinitialiser » si filtres appliqués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Sauvegarde des filtres en URL partageable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&lt;AdvancedFilters&gt; extensible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13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Recherche IA en langage naturel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décrire mon besoin en langage naturel (« 3 pièces à Menzah, moins de 300K, livraison 2025 »), afin de lancer une recherche sans remplir de formulaire.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AI » ouvre un modal avec champ texte libre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 requête est interprétée par LLM et les filtres correspondants pré-remplis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 des filtres détectés avant validation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Résultats affichés directement ou redirection vers /carte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Feature flag activable en back-office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Rate limiting : 10 req/min/IP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Fallback si API LLM down → message clair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POST /api/search/ai → Claude / GPT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Validation et sanitization stricte de l'input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Logging des requêtes (analyse qualité)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Widget de recherche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14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Widget de recherche  (5/5)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15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Partager une recherche (URL)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partager l'URL de ma recherche avec tous ses filtres, afin qu'un proche voie les mêmes résultats.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Tous les filtres sérialisés dans querystring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Copier le lien » dans les résultats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Ouverture du lien → filtres pré-chargés à l'identique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Sérialisation propre (URLSearchParams)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&lt;ShareSearchButton&gt;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US-SEA-10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2573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le widget de recherche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configurer tous les éléments du widget (labels, options, boutons), afin d'adapter sans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Labels onglets configurables (ex: « Acheter » / « Louer »)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Placeholder keyword configurable (FR/AR)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Options dropdown Type de bien : CRUD complet (ajouter, supprimer, réordonner)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Rechercher sur la carte » : label + URL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Rechercher » : label + URL cible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IA : toggle on/off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Ordre des champs personnalisable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/api/admin/search-widget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Schéma JSON validé côté backend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Widget de recherche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15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Projets en vogue  (1/3)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16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US-PRO-01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les projets phares (grille)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les projets immobiliers mis en avant sur la homepage, afin de découvrir les meilleures opportunités sans chercher.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Grille 1 grande + 3 petites + 1 grande (layout mockup)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card : image, badge statut coloré, nom, ville, prix à partir de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Infos complémentaires : chambres, surface, livraison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Voir le projet » → /projets/[slug]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Skeleton loader pendant le chargement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Effet hover : lift + ombre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/api/projects/featured?limit=5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&lt;ProjectCardBig&gt; + &lt;ProjectCardSmall&gt;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US-PRO-02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Badges statut des projets (Top / Nouveau / Bord de mer…)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identifier visuellement le statut d'un projet (Top, Nouveau, En vogue, Bord de mer…), afin de repérer rapidement ce qui m'intéresse.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Badge coloré positionné en haut à gauche de l'image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Label + icône/emoji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Couleurs : Top=amber, Populaire=vert, En vogue=orange, Nouveau=bleu, Bord de mer=bleu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Cumul possible de 2 badges max par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Schéma badge : {label, color, icon}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Rendu via composant &lt;Badge&gt;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Projets en vogue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16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Projets en vogue  (2/3)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17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US-PRO-03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tous les projets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cliquer sur « Voir tout » en haut de la section, afin d'accéder à la liste complète.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Lien visible en haut à droite de la section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Redirige vers /projets ou /carte selon config back-office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Label et destination configurables par l'admin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US-PRO-04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la section Projets en vogue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modifier titre, sous-titre et visibilité de la section, afin de personnaliser l'accroche.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Titre + sous-titre éditables FR/AR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visibilité section entière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Choix layout (grille 5 / carousel / liste)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/api/admin/sections/featured-projects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Projets en vogue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17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Projets en vogue  (3/3)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18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502920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US-PRO-05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Sélectionner les projets mis en avant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choisir manuellement les projets affichés et leur ordre, afin de contrôler la mise en avant éditoriale.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Interface : recherche par nom/promoteur + drag &amp; drop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Maximum 5 projets sélectionnables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Mode alternatif « Automatique » : projets flag featured=true triés par date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projet : badge personnalisé (texte + couleur)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 temps réel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/api/admin/featured-projects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Projets en vogue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18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Estimation gratuite  (1/2)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19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US-EST-01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 dirty="0" err="1">
                <a:solidFill>
                  <a:srgbClr val="0F1117"/>
                </a:solidFill>
                <a:latin typeface="Calibri"/>
              </a:rPr>
              <a:t>Bannière</a:t>
            </a:r>
            <a:endParaRPr sz="1300" b="1" i="0" dirty="0">
              <a:solidFill>
                <a:srgbClr val="0F1117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 dirty="0">
                <a:solidFill>
                  <a:srgbClr val="323950"/>
                </a:solidFill>
                <a:latin typeface="Calibri"/>
              </a:rPr>
              <a:t>En tant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que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visiteur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propriétaire, je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veux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voir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une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bannière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8679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Bannière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pleine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largeur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couleur teal/vert, bien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distincte</a:t>
            </a:r>
            <a:endParaRPr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Icône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+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titre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(« Estimation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gratuite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») + sous-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titre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explicatif</a:t>
            </a:r>
            <a:endParaRPr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CTA « </a:t>
            </a:r>
            <a:r>
              <a:rPr lang="fr-FR" sz="900" b="0" i="0" dirty="0">
                <a:solidFill>
                  <a:srgbClr val="323950"/>
                </a:solidFill>
                <a:latin typeface="Calibri"/>
              </a:rPr>
              <a:t>……….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» bien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contrasté</a:t>
            </a:r>
            <a:endParaRPr lang="fr-FR"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lang="fr-FR" sz="900" dirty="0">
                <a:solidFill>
                  <a:srgbClr val="323950"/>
                </a:solidFill>
                <a:latin typeface="Calibri"/>
              </a:rPr>
              <a:t>Clique sur la bannière : redirection externe , redirection interne.</a:t>
            </a:r>
            <a:endParaRPr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Positionnée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entre les sections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Projets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et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Annonces</a:t>
            </a:r>
            <a:endParaRPr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Responsive : passe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en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colonne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sur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&lt;BannerStripe&gt;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Event tracking click_estimation_cta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Estimation gratuite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19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Estimation gratuite  (2/2)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20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502920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US-EST-03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la bannière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configurer la bannière (titre, sous-titre, CTA, visibilité, couleur), afin d'adapter la promotion.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Champs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éditables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FR/AR :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titre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, sous-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titre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, label CTA</a:t>
            </a:r>
            <a:endParaRPr lang="fr-FR"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lang="fr-FR" sz="900" dirty="0">
                <a:solidFill>
                  <a:srgbClr val="323950"/>
                </a:solidFill>
                <a:latin typeface="Calibri"/>
              </a:rPr>
              <a:t>Insérer une image de la bannière</a:t>
            </a:r>
            <a:endParaRPr sz="900" b="0" i="0" dirty="0">
              <a:solidFill>
                <a:srgbClr val="323950"/>
              </a:solidFill>
              <a:latin typeface="Calibri"/>
            </a:endParaRP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• Toggle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visibilité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(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peut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être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masquée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)</a:t>
            </a:r>
          </a:p>
          <a:p>
            <a:pPr algn="l"/>
            <a:r>
              <a:rPr sz="900" b="0" i="0" dirty="0">
                <a:solidFill>
                  <a:srgbClr val="323950"/>
                </a:solidFill>
                <a:latin typeface="Calibri"/>
              </a:rPr>
              <a:t>•  URL </a:t>
            </a:r>
            <a:r>
              <a:rPr sz="900" b="0" i="0" dirty="0" err="1">
                <a:solidFill>
                  <a:srgbClr val="323950"/>
                </a:solidFill>
                <a:latin typeface="Calibri"/>
              </a:rPr>
              <a:t>cible</a:t>
            </a:r>
            <a:r>
              <a:rPr sz="900" b="0" i="0" dirty="0">
                <a:solidFill>
                  <a:srgbClr val="323950"/>
                </a:solidFill>
                <a:latin typeface="Calibri"/>
              </a:rPr>
              <a:t> configurable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/api/admin/sections/estimation-banner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Estimation gratuite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20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Dernières annonces  (1/4)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21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les dernières annonces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les annonces les plus récentes sur la homepage, afin de découvrir les nouveautés sans faire de recherche.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Grille 3 colonnes / 2 lignes sur desktop, 1 colonne sur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card : photo, badges (Vente/Location + statut), titre, localisation, specs (surface, ch, sdb), prix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Skeleton loader pendant le fetch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Clic card → fiche annonce /annonces/[slug]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Tri par date publication décroissante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Lazy-loading images + format WebP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/api/listings/latest?limit=6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&lt;ListingCard&gt;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Filtres chips rapides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filtrer les annonces affichées via des chips rapides (Tous / Coups de cœur / Neuf / Disponible / Pro), afin d'affiner sans quitter la section.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5 chips configurables visibles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Chip actif en couleur primaire (exclusif, pas de multi)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Chip « Tous » sélectionné par défaut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Re-fetch fluide sans rechargement de page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Compteur de résultats mis à jour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/api/listings/latest?filter=…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&lt;FilterChips&gt;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Dernières annonces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21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Dernières annonces  (2/4)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22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Ajouter une annonce en favoris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cliquer sur l'icône cœur d'une annonce, afin de la retrouver dans mes favoris plus tard.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Icône cœur cliquable sur chaque card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Sans connexion : stockage local (localStorage) + prompt d'inscription au 3ème favori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Avec connexion : persistance base + synchro multi-device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Animation feedback (pulse rouge)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Compteur de favoris visible dans la navbar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POST /api/favorites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Fallback localStorage avec sync au login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Dernières annonces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22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Dernières annonces  (3/4)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23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Naviguer entre photos de l'annonce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plusieurs photos d'une annonce sans ouvrir la fiche, afin d'évaluer rapidement si elle m'intéresse.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Flèches gauche/droite apparaissent au survol de la photo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Compteur photos mis à jour (2/17)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Navigation swipe sur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Max 5 photos préchargées (lazy load suivantes)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&lt;PhotoCarouselMini&gt;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2573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Configurer source et critères des annonces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définir quels types d'annonces apparaissent (critères de tri et filtres), afin de contrôler la qualité éditoriale.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Mode « Automatique » : tri par date décroissante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Filtres applicables : type de bien, gouvernorat, statut, fourchette de prix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Mode « Manuel » : sélection / épinglage d'annonces spécifiques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Nombre d'annonces affichées configurable (6, 9, 12)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Exclure les annonces d'un promoteur (liste noire)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/api/admin/sections/latest-listings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Dernières annonces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23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Dernières annonces  (4/4)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24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565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Gérer les filtres chips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09928"/>
            <a:ext cx="10911535" cy="19082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 dirty="0">
                <a:solidFill>
                  <a:srgbClr val="323950"/>
                </a:solidFill>
                <a:latin typeface="Calibri"/>
              </a:rPr>
              <a:t>En tant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qu'admin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, je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veux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CRUD</a:t>
            </a:r>
            <a:r>
              <a:rPr lang="fr-FR" sz="1000" b="0" i="1" dirty="0">
                <a:solidFill>
                  <a:srgbClr val="323950"/>
                </a:solidFill>
                <a:latin typeface="Calibri"/>
              </a:rPr>
              <a:t> (ajoute, </a:t>
            </a:r>
            <a:r>
              <a:rPr lang="fr-FR" sz="1000" b="0" i="1" dirty="0" err="1">
                <a:solidFill>
                  <a:srgbClr val="323950"/>
                </a:solidFill>
                <a:latin typeface="Calibri"/>
              </a:rPr>
              <a:t>edit</a:t>
            </a:r>
            <a:r>
              <a:rPr lang="fr-FR" sz="1000" b="0" i="1" dirty="0">
                <a:solidFill>
                  <a:srgbClr val="323950"/>
                </a:solidFill>
                <a:latin typeface="Calibri"/>
              </a:rPr>
              <a:t>, suppression)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les chips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disponibles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et les mapper à des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filtres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backend,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afin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d'adapter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 aux </a:t>
            </a:r>
            <a:r>
              <a:rPr sz="1000" b="0" i="1" dirty="0" err="1">
                <a:solidFill>
                  <a:srgbClr val="323950"/>
                </a:solidFill>
                <a:latin typeface="Calibri"/>
              </a:rPr>
              <a:t>campagnes</a:t>
            </a:r>
            <a:r>
              <a:rPr sz="1000" b="0" i="1" dirty="0">
                <a:solidFill>
                  <a:srgbClr val="323950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CRUD chips : label FR/AR, filtre backend associé, ordre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Max 6 chips simultanés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visibilité par chip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Choix du chip par défaut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/api/admin/listing-filters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US-ANN-08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2573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Config titre + CTA + visibilité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configurer titre, CTA et visibilité de la section, afin de la contrôler entièrement.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Titre éditable FR/AR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CTA « Voir toutes » : label + URL cible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masquer / afficher section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Dernières annonces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24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Actualités &amp; Conseils  (1/2)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25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US-ACT-01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la grille des 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6 articles récents d'actualités/conseils, afin de m'informer sur le marché immobilier tunisien.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Grille 3 colonnes / 2 lignes desktop, 1 colonne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card : couleur catégorie, tag, icône, titre, temps de lecture, CTA « Lire »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Design différencié par catégorie (bande latérale colorée)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Clic → fiche article /blog/[slug]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Hover : lift + shadow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/api/articles/latest?limit=6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&lt;ArticleCard&gt;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US-ACT-02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 SP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5655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Filtrer les articles par catégorie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filtrer les articles via des chips catégorie (Tous / Actualités / Marché / Conseils / Financement…), afin de cibler mes lectures.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Chips catégorie au-dessus de la grille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Chip « Tous » par défaut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Re-fetch fluide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Chip actif en noir/sombre (pour se différencier de la section annonces)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/api/articles?category=…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Actualités &amp; Conseils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25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Actualités &amp; Conseils  (2/2)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26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US-ACT-03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13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CRUD 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créer, éditer, publier et dépublier les articles, afin d'alimenter régulièrement le blog.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Éditeur riche : titre, slug, extrait, contenu (WYSIWYG), image de couverture, tag, catégorie, icône, couleur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Auteur, date publication, statut (draft / publié / programmé)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Prévisualisation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SEO : meta title, meta description, OG 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/api/admin/articles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Éditeur TipTap / Lexical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US-ACT-04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Sélection articles homepage + gestion catégories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choisir les articles affichés en homepage et gérer les catégories, afin de garder une ligne éditoriale cohérente.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Mode manuel (épinglage 6 articles) ou automatique (derniers publiés)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CRUD catégories : label FR/AR, couleur, icône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Réordonnancement chips catégories par drag &amp; drop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visibilité section entière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Titre section éditable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PATCH /api/admin/sections/news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Actualités &amp; Conseils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26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Partenaires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27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US-PAR-01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les partenaires recommandés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voir les partenaires recommandés par Immo24, afin de trouver des services complémentaires à mon achat.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Grille 4 cards sur desktop, carousel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Chaque card : visuel de fond, tag partenaire (logo + nom), titre, description (max 120 car.), CTA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CTA redirige vers URL configurée (interne ou externe)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Badge « Partenaire officiel » optionnel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Clic hors CTA → page partenaire ou URL configurée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Bouton « Voir tous nos partenaires » sous la grille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GET /api/partners/featured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US-PAR-02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0297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2573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CRUD partenaires et config section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créer, modifier, réordonner et archiver les partenaires, afin de maintenir cette section à jour.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Formulaire : nom, logo (upload), description courte/longue, catégorie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Couleur de fond de card (palette validée)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CTA : label + URL + ouverture (même/nouvel onglet)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Badge « Partenaire officiel » : toggle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Drag &amp; drop pour réordonner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Toggle actif/inactif sans suppression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Titre section éditable (FR/AR), nombre max partenaires affichés configurable (3-6)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/api/admin/partners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Partenaires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27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Footer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28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US-FOO-01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Voir le footer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trouver dans le footer les informations légales, liens utiles et contacts, afin d'accéder aux ressources importantes.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Logo + tagline + 4 colonnes de liens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Icônes réseaux sociaux cliquables (FB, IG, LinkedIn, WhatsApp)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Mentions légales, CGU, politique de confidentialité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Copyright avec année dynamique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Numéro WhatsApp cliquable (wa.me/…)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Fait-avec-❤️-à-Tunis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Composant &lt;Footer&gt;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US-FOO-02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S'inscrire à la newsletter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m'inscrire à la newsletter depuis le footer, afin de recevoir les nouvelles opportunités.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Champ email + bouton S'inscrire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Case à cocher consentement RGPD obligatoire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Validation email côté client + serveur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Feedback succès / erreur clair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Double opt-in (email de confirmation)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Désinscription en 1 clic depuis l'email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POST /api/newsletter/subscribe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Intégration Mailchimp / Sendinblue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Tracking UTM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Footer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28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Footer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29 /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11277295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109728" cy="502920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US-FOO-03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10058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00297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2573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Gérer colonnes, liens et réseaux du footer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qu'admin, je veux ajouter/modifier/réordonner les colonnes et liens, afin de maintenir la navigation de bas de page à jour.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CRUD colonnes : titre FR/AR, ordre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CRUD liens : label FR/AR, URL, ouverture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Liens réseaux sociaux configurables (URL + icône par réseau)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Texte copyright éditable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Numéro WhatsApp + email contact configurables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Bloc newsletter : titre, description, toggle on/off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624328"/>
            <a:ext cx="5410047" cy="33192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API CRUD /api/admin/footer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Footer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29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Transverse — Qualité &amp; Conformité  (1/3)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31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Bannière cookies RGPD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être informé de l'usage des cookies au premier visit et pouvoir choisir, afin de respecter mes droits RGPD/ANPDP.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Bannière non bloquante en bas de page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3 options : « Tout accepter », « Tout refuser », « Personnaliser »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Panel détaillé par catégorie (Essentiels, Analytics, Marketing)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Choix persisté 13 mois max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Pas de dépôt de cookies non essentiels avant consentement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Lien vers politique de confidentialité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Conforme RGPD + loi tunisienne 63-2004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Solution CMP (Axeptio, Didomi) ou custom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Journal des consentements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565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Accessibilité WCAG 2.1 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 en situation de handicap, je veux pouvoir utiliser la home via lecteur d'écran et clavier, afin d'avoir une expérience équitable.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Contrastes AA respectés (4.5:1 texte normal, 3:1 gros texte)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Navigation clavier complète (tab order logique, focus visible)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Attributs ARIA sur composants interactifs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Alt text sur toutes les images significatives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Structure sémantique HTML5 (header/nav/main/section/footer)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Libellés explicites sur champs de formulaire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Audit Lighthouse a11y ≥ 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Tests automatisés axe-core en CI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Audit manuel utilisateurs NVDA/VoiceOver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Transverse — Qualité &amp; Conformité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31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Transverse — Qualité &amp; Conformité  (2/3)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32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Performance — Core Web Vitals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visiteur, je veux que la homepage se charge rapidement, afin de ne pas abandonner avant d'avoir vu le contenu.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LCP &lt; 2.5s sur 4G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CLS &lt; 0.1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INP &lt; 200ms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TTFB &lt; 600ms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Lighthouse Performance ≥ 90 desktop, ≥ 75 mobile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Budget : JS initial &lt; 200KB, images &lt; 1MB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Next.js Image + priority sur hero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Code splitting par route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CDN Cloudflare + cache 1h HTML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Monitoring RUM (Vercel Analytics / Sentry)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633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565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SEO on-page homepage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 arrivant par Google, je veux trouver Immo24.tn dans les premiers résultats pour « immobilier Tunisie », afin de découvrir la plateforme.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&lt;title&gt;, &lt;meta description&gt;, balises OG + Twitter Card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Schema.org RealEstateAgent + Organization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Sitemap.xml + robots.txt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URL canonique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Hreflang FR/AR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Lazy-loading images sous la ligne de flottaison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H1 unique + hiérarchie des titres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next-seo ou Next Metadata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Transverse — Qualité &amp; Conformité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32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1371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"/>
            <a:ext cx="9144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Transverse — Qualité &amp; Conformité  (3/3)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56032"/>
            <a:ext cx="1280160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ÉPIC AJOUTÉE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56032"/>
            <a:ext cx="1554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1100" b="0" i="0">
                <a:solidFill>
                  <a:srgbClr val="B0B8C8"/>
                </a:solidFill>
                <a:latin typeface="Calibri"/>
              </a:rPr>
              <a:t>33 /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9144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914400"/>
            <a:ext cx="109728" cy="2720340"/>
          </a:xfrm>
          <a:prstGeom prst="rect">
            <a:avLst/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0241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005840"/>
            <a:ext cx="749808" cy="246888"/>
          </a:xfrm>
          <a:prstGeom prst="roundRect">
            <a:avLst>
              <a:gd name="adj" fmla="val 50000"/>
            </a:avLst>
          </a:prstGeom>
          <a:solidFill>
            <a:srgbClr val="1D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VISITEUR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048695" y="10058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6289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8 SP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5655" y="10058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E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441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Responsive mobile / tablette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099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que visiteur mobile, je veux une expérience adaptée à mon écran, afin de naviguer sans zoom.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Breakpoints : mobile &lt; 640, tablette 640-1023, desktop ≥ 1024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Tous les éléments interactifs min 44x44 px (tap target)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Images servies en taille adaptée (srcset)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Tests sur Safari iOS, Chrome Android, viewport 320-1440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23500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26243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Tests BrowserStack ou Playwright multi-viewport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71900"/>
            <a:ext cx="11277295" cy="272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771900"/>
            <a:ext cx="109728" cy="2720340"/>
          </a:xfrm>
          <a:prstGeom prst="rect">
            <a:avLst/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88162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 i="0">
                <a:solidFill>
                  <a:srgbClr val="6B7489"/>
                </a:solidFill>
                <a:latin typeface="Calibri"/>
              </a:rPr>
              <a:t>US-TRA-06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91640" y="3863340"/>
            <a:ext cx="530352" cy="246888"/>
          </a:xfrm>
          <a:prstGeom prst="roundRect">
            <a:avLst>
              <a:gd name="adj" fmla="val 50000"/>
            </a:avLst>
          </a:prstGeom>
          <a:solidFill>
            <a:srgbClr val="6A2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48695" y="3863340"/>
            <a:ext cx="384048" cy="246888"/>
          </a:xfrm>
          <a:prstGeom prst="roundRect">
            <a:avLst>
              <a:gd name="adj" fmla="val 50000"/>
            </a:avLst>
          </a:prstGeom>
          <a:solidFill>
            <a:srgbClr val="11BD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2895" y="3863340"/>
            <a:ext cx="457200" cy="246888"/>
          </a:xfrm>
          <a:prstGeom prst="roundRect">
            <a:avLst>
              <a:gd name="adj" fmla="val 50000"/>
            </a:avLst>
          </a:prstGeom>
          <a:solidFill>
            <a:srgbClr val="32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5 SP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5655" y="3863340"/>
            <a:ext cx="603503" cy="246888"/>
          </a:xfrm>
          <a:prstGeom prst="roundRect">
            <a:avLst>
              <a:gd name="adj" fmla="val 50000"/>
            </a:avLst>
          </a:prstGeom>
          <a:solidFill>
            <a:srgbClr val="FA7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0" rIns="18288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201668"/>
            <a:ext cx="10911535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  <a:latin typeface="Calibri"/>
              </a:rPr>
              <a:t>Analytics et tracking événements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67428"/>
            <a:ext cx="10911535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323950"/>
                </a:solidFill>
                <a:latin typeface="Calibri"/>
              </a:rPr>
              <a:t>En tant qu'admin métier, je veux suivre les événements clés de la homepage (clics CTA, recherches, favoris), afin d'optimiser la conversion.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1D88E5"/>
                </a:solidFill>
                <a:latin typeface="Calibri"/>
              </a:rPr>
              <a:t>Critères d'acceptation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Intégration GA4 (ou Plausible, Matomo)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Events tracking : search_submit, cta_click, favorite_add, whatsapp_click, estimation_cta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Tag management (GTM) pour ajouter/modifier sans déploiement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Conformité RGPD (tracking uniquement après consentement)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Dashboard pour métier (conversion funnel homepage → résultats)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3007" y="5207508"/>
            <a:ext cx="5410047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 i="0">
                <a:solidFill>
                  <a:srgbClr val="6A29C2"/>
                </a:solidFill>
                <a:latin typeface="Calibri"/>
              </a:rPr>
              <a:t>Tâches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5481828"/>
            <a:ext cx="5410047" cy="10104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GTM + dataLayer standardisé</a:t>
            </a:r>
          </a:p>
          <a:p>
            <a:pPr algn="l"/>
            <a:r>
              <a:rPr sz="900" b="0" i="0">
                <a:solidFill>
                  <a:srgbClr val="323950"/>
                </a:solidFill>
                <a:latin typeface="Calibri"/>
              </a:rPr>
              <a:t>•  Events schema versionné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81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B0B8C8"/>
                </a:solidFill>
                <a:latin typeface="Calibri"/>
              </a:rPr>
              <a:t>Immo24.tn — Backlog Homepage v2   |   Transverse — Qualité &amp; Conformité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565392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sz="900" b="0" i="0">
                <a:solidFill>
                  <a:srgbClr val="B0B8C8"/>
                </a:solidFill>
                <a:latin typeface="Calibri"/>
              </a:rPr>
              <a:t>Slide 33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5883</Words>
  <Application>Microsoft Office PowerPoint</Application>
  <PresentationFormat>Grand écran</PresentationFormat>
  <Paragraphs>935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Emna Sadfi</cp:lastModifiedBy>
  <cp:revision>4</cp:revision>
  <dcterms:created xsi:type="dcterms:W3CDTF">2013-01-27T09:14:16Z</dcterms:created>
  <dcterms:modified xsi:type="dcterms:W3CDTF">2026-04-24T10:01:22Z</dcterms:modified>
  <cp:category/>
</cp:coreProperties>
</file>