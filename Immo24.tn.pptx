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89" r:id="rId8"/>
    <p:sldId id="291" r:id="rId9"/>
    <p:sldId id="262" r:id="rId10"/>
    <p:sldId id="263" r:id="rId11"/>
    <p:sldId id="292" r:id="rId12"/>
    <p:sldId id="296" r:id="rId13"/>
    <p:sldId id="297" r:id="rId14"/>
    <p:sldId id="298" r:id="rId15"/>
    <p:sldId id="299" r:id="rId16"/>
    <p:sldId id="300" r:id="rId17"/>
    <p:sldId id="293" r:id="rId18"/>
    <p:sldId id="264" r:id="rId19"/>
    <p:sldId id="265" r:id="rId20"/>
    <p:sldId id="294" r:id="rId21"/>
    <p:sldId id="266" r:id="rId22"/>
    <p:sldId id="267" r:id="rId23"/>
    <p:sldId id="301" r:id="rId24"/>
    <p:sldId id="302" r:id="rId25"/>
    <p:sldId id="295" r:id="rId26"/>
    <p:sldId id="268" r:id="rId27"/>
    <p:sldId id="303" r:id="rId28"/>
    <p:sldId id="304" r:id="rId29"/>
    <p:sldId id="305" r:id="rId30"/>
    <p:sldId id="270" r:id="rId31"/>
    <p:sldId id="269" r:id="rId32"/>
    <p:sldId id="271" r:id="rId33"/>
    <p:sldId id="272" r:id="rId34"/>
    <p:sldId id="273" r:id="rId35"/>
    <p:sldId id="274" r:id="rId36"/>
    <p:sldId id="275" r:id="rId37"/>
    <p:sldId id="276" r:id="rId38"/>
    <p:sldId id="277" r:id="rId39"/>
    <p:sldId id="278" r:id="rId40"/>
    <p:sldId id="279" r:id="rId41"/>
    <p:sldId id="280" r:id="rId42"/>
    <p:sldId id="281" r:id="rId43"/>
    <p:sldId id="282" r:id="rId44"/>
    <p:sldId id="283" r:id="rId45"/>
    <p:sldId id="284" r:id="rId46"/>
    <p:sldId id="285" r:id="rId47"/>
    <p:sldId id="286" r:id="rId48"/>
    <p:sldId id="287" r:id="rId49"/>
    <p:sldId id="288" r:id="rId50"/>
  </p:sldIdLst>
  <p:sldSz cx="12192000" cy="6858000"/>
  <p:notesSz cx="6888163" cy="10020300"/>
  <p:embeddedFontLst>
    <p:embeddedFont>
      <p:font typeface="DM Sans" pitchFamily="2" charset="0"/>
      <p:regular r:id="rId52"/>
      <p:bold r:id="rId53"/>
      <p:italic r:id="rId54"/>
      <p:boldItalic r:id="rId55"/>
    </p:embeddedFont>
    <p:embeddedFont>
      <p:font typeface="EB Garamond" panose="00000500000000000000" pitchFamily="2" charset="0"/>
      <p:regular r:id="rId56"/>
      <p:bold r:id="rId57"/>
      <p:italic r:id="rId58"/>
      <p:boldItalic r:id="rId59"/>
    </p:embeddedFont>
    <p:embeddedFont>
      <p:font typeface="JetBrains Mono" panose="020B0604020202020204" charset="0"/>
      <p:regular r:id="rId60"/>
      <p:bold r:id="rId61"/>
      <p:italic r:id="rId62"/>
      <p:boldItalic r:id="rId63"/>
    </p:embeddedFont>
    <p:embeddedFont>
      <p:font typeface="Montserrat" panose="00000500000000000000" pitchFamily="2" charset="0"/>
      <p:regular r:id="rId64"/>
      <p:bold r:id="rId65"/>
      <p:italic r:id="rId66"/>
      <p:boldItalic r:id="rId67"/>
    </p:embeddedFont>
    <p:embeddedFont>
      <p:font typeface="Montserrat Medium" panose="00000600000000000000" pitchFamily="2" charset="0"/>
      <p:regular r:id="rId68"/>
      <p:bold r:id="rId69"/>
      <p:italic r:id="rId70"/>
      <p:boldItalic r:id="rId71"/>
    </p:embeddedFont>
    <p:embeddedFont>
      <p:font typeface="Montserrat SemiBold" panose="00000700000000000000" pitchFamily="2" charset="0"/>
      <p:regular r:id="rId72"/>
      <p:bold r:id="rId73"/>
      <p:italic r:id="rId74"/>
      <p:boldItalic r:id="rId75"/>
    </p:embeddedFont>
    <p:embeddedFont>
      <p:font typeface="Play" panose="020B0604020202020204" charset="0"/>
      <p:regular r:id="rId76"/>
      <p:bold r:id="rId77"/>
    </p:embeddedFont>
    <p:embeddedFont>
      <p:font typeface="Poppins" panose="00000500000000000000" pitchFamily="2" charset="0"/>
      <p:regular r:id="rId78"/>
      <p:bold r:id="rId79"/>
      <p:italic r:id="rId80"/>
      <p:boldItalic r:id="rId81"/>
    </p:embeddedFont>
    <p:embeddedFont>
      <p:font typeface="Quattrocento Sans" panose="020B0502050000020003" pitchFamily="34" charset="0"/>
      <p:regular r:id="rId82"/>
      <p:bold r:id="rId83"/>
      <p:italic r:id="rId84"/>
      <p:boldItalic r:id="rId8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6" roundtripDataSignature="AMtx7mgghbdeBfS+olC88VjbAVq/i2fH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72D1A7B-A8CF-40B2-ACF2-88DE3A67A9A7}">
  <a:tblStyle styleId="{C72D1A7B-A8CF-40B2-ACF2-88DE3A67A9A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5E57D72-7749-4814-A232-9FF5E50B7664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5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5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0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2.fntdata"/><Relationship Id="rId68" Type="http://schemas.openxmlformats.org/officeDocument/2006/relationships/font" Target="fonts/font17.fntdata"/><Relationship Id="rId84" Type="http://schemas.openxmlformats.org/officeDocument/2006/relationships/font" Target="fonts/font33.fntdata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74" Type="http://schemas.openxmlformats.org/officeDocument/2006/relationships/font" Target="fonts/font23.fntdata"/><Relationship Id="rId79" Type="http://schemas.openxmlformats.org/officeDocument/2006/relationships/font" Target="fonts/font28.fntdata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64" Type="http://schemas.openxmlformats.org/officeDocument/2006/relationships/font" Target="fonts/font13.fntdata"/><Relationship Id="rId69" Type="http://schemas.openxmlformats.org/officeDocument/2006/relationships/font" Target="fonts/font18.fntdata"/><Relationship Id="rId77" Type="http://schemas.openxmlformats.org/officeDocument/2006/relationships/font" Target="fonts/font26.fntdata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72" Type="http://schemas.openxmlformats.org/officeDocument/2006/relationships/font" Target="fonts/font21.fntdata"/><Relationship Id="rId80" Type="http://schemas.openxmlformats.org/officeDocument/2006/relationships/font" Target="fonts/font29.fntdata"/><Relationship Id="rId85" Type="http://schemas.openxmlformats.org/officeDocument/2006/relationships/font" Target="fonts/font3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8.fntdata"/><Relationship Id="rId67" Type="http://schemas.openxmlformats.org/officeDocument/2006/relationships/font" Target="fonts/font16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62" Type="http://schemas.openxmlformats.org/officeDocument/2006/relationships/font" Target="fonts/font11.fntdata"/><Relationship Id="rId70" Type="http://schemas.openxmlformats.org/officeDocument/2006/relationships/font" Target="fonts/font19.fntdata"/><Relationship Id="rId75" Type="http://schemas.openxmlformats.org/officeDocument/2006/relationships/font" Target="fonts/font24.fntdata"/><Relationship Id="rId83" Type="http://schemas.openxmlformats.org/officeDocument/2006/relationships/font" Target="fonts/font32.fntdata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font" Target="fonts/font9.fntdata"/><Relationship Id="rId65" Type="http://schemas.openxmlformats.org/officeDocument/2006/relationships/font" Target="fonts/font14.fntdata"/><Relationship Id="rId73" Type="http://schemas.openxmlformats.org/officeDocument/2006/relationships/font" Target="fonts/font22.fntdata"/><Relationship Id="rId78" Type="http://schemas.openxmlformats.org/officeDocument/2006/relationships/font" Target="fonts/font27.fntdata"/><Relationship Id="rId81" Type="http://schemas.openxmlformats.org/officeDocument/2006/relationships/font" Target="fonts/font30.fntdata"/><Relationship Id="rId86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4.fntdata"/><Relationship Id="rId76" Type="http://schemas.openxmlformats.org/officeDocument/2006/relationships/font" Target="fonts/font25.fntdata"/><Relationship Id="rId7" Type="http://schemas.openxmlformats.org/officeDocument/2006/relationships/slide" Target="slides/slide6.xml"/><Relationship Id="rId71" Type="http://schemas.openxmlformats.org/officeDocument/2006/relationships/font" Target="fonts/font20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15.fntdata"/><Relationship Id="rId87" Type="http://schemas.openxmlformats.org/officeDocument/2006/relationships/presProps" Target="presProps.xml"/><Relationship Id="rId61" Type="http://schemas.openxmlformats.org/officeDocument/2006/relationships/font" Target="fonts/font10.fntdata"/><Relationship Id="rId82" Type="http://schemas.openxmlformats.org/officeDocument/2006/relationships/font" Target="fonts/font31.fntdata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84871" cy="502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01698" y="0"/>
            <a:ext cx="2984871" cy="502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517547"/>
            <a:ext cx="2984871" cy="50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b" anchorCtr="0">
            <a:noAutofit/>
          </a:bodyPr>
          <a:lstStyle/>
          <a:p>
            <a:pPr algn="r"/>
            <a:fld id="{00000000-1234-1234-1234-123412341234}" type="slidenum">
              <a:rPr lang="fr-FR" sz="1300" smtClean="0">
                <a:solidFill>
                  <a:schemeClr val="dk1"/>
                </a:solidFill>
              </a:rPr>
              <a:pPr algn="r"/>
              <a:t>‹N°›</a:t>
            </a:fld>
            <a:endParaRPr lang="fr-FR" sz="13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222941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1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t" anchorCtr="0">
            <a:noAutofit/>
          </a:bodyPr>
          <a:lstStyle/>
          <a:p>
            <a:pPr marL="0" indent="0"/>
            <a:endParaRPr b="1"/>
          </a:p>
          <a:p>
            <a:pPr marL="0" indent="0"/>
            <a:r>
              <a:rPr lang="fr-FR"/>
              <a:t>Fonctionnalités clés MVP</a:t>
            </a:r>
            <a:endParaRPr/>
          </a:p>
          <a:p>
            <a:pPr marL="0" indent="0"/>
            <a:r>
              <a:rPr lang="fr-FR" b="1"/>
              <a:t>03</a:t>
            </a:r>
            <a:endParaRPr/>
          </a:p>
          <a:p>
            <a:pPr marL="0" indent="0"/>
            <a:r>
              <a:rPr lang="fr-FR"/>
              <a:t>Parcours utilisateur</a:t>
            </a:r>
            <a:endParaRPr/>
          </a:p>
          <a:p>
            <a:pPr marL="0" indent="0"/>
            <a:r>
              <a:rPr lang="fr-FR" b="1"/>
              <a:t>04</a:t>
            </a:r>
            <a:endParaRPr/>
          </a:p>
          <a:p>
            <a:pPr marL="0" indent="0"/>
            <a:r>
              <a:rPr lang="fr-FR"/>
              <a:t>Modèle économique</a:t>
            </a:r>
            <a:endParaRPr/>
          </a:p>
          <a:p>
            <a:pPr marL="0" indent="0"/>
            <a:r>
              <a:rPr lang="fr-FR" b="1"/>
              <a:t>05</a:t>
            </a:r>
            <a:endParaRPr/>
          </a:p>
          <a:p>
            <a:pPr marL="0" indent="0"/>
            <a:r>
              <a:rPr lang="fr-FR"/>
              <a:t>Offre de lancement</a:t>
            </a:r>
            <a:endParaRPr/>
          </a:p>
          <a:p>
            <a:pPr marL="0" indent="0"/>
            <a:r>
              <a:rPr lang="fr-FR" b="1"/>
              <a:t>06</a:t>
            </a:r>
            <a:endParaRPr/>
          </a:p>
          <a:p>
            <a:pPr marL="0" indent="0"/>
            <a:r>
              <a:rPr lang="fr-FR"/>
              <a:t>Architecture technique</a:t>
            </a:r>
            <a:endParaRPr/>
          </a:p>
          <a:p>
            <a:pPr marL="0" indent="0"/>
            <a:r>
              <a:rPr lang="fr-FR" b="1"/>
              <a:t>07</a:t>
            </a:r>
            <a:endParaRPr/>
          </a:p>
          <a:p>
            <a:pPr marL="0" indent="0"/>
            <a:r>
              <a:rPr lang="fr-FR"/>
              <a:t>Optimisation &amp; Performance</a:t>
            </a:r>
            <a:endParaRPr/>
          </a:p>
          <a:p>
            <a:pPr marL="0" indent="0"/>
            <a:r>
              <a:rPr lang="fr-FR" b="1"/>
              <a:t>08</a:t>
            </a:r>
            <a:endParaRPr/>
          </a:p>
          <a:p>
            <a:pPr marL="0" indent="0"/>
            <a:r>
              <a:rPr lang="fr-FR"/>
              <a:t>Intelligence artificielle</a:t>
            </a:r>
            <a:endParaRPr/>
          </a:p>
          <a:p>
            <a:pPr marL="0" indent="0"/>
            <a:r>
              <a:rPr lang="fr-FR" b="1"/>
              <a:t>09</a:t>
            </a:r>
            <a:endParaRPr/>
          </a:p>
          <a:p>
            <a:pPr marL="0" indent="0"/>
            <a:r>
              <a:rPr lang="fr-FR"/>
              <a:t>Roadmap &amp; Questions</a:t>
            </a:r>
            <a:endParaRPr/>
          </a:p>
          <a:p>
            <a:pPr marL="0" indent="0"/>
            <a:r>
              <a:rPr lang="fr-FR" b="1"/>
              <a:t>10</a:t>
            </a:r>
            <a:endParaRPr/>
          </a:p>
          <a:p>
            <a:pPr marL="0" indent="0"/>
            <a:r>
              <a:rPr lang="fr-FR"/>
              <a:t>Merci &amp; Contact</a:t>
            </a:r>
            <a:endParaRPr/>
          </a:p>
        </p:txBody>
      </p:sp>
      <p:sp>
        <p:nvSpPr>
          <p:cNvPr id="37" name="Google Shape;37;p1:notes"/>
          <p:cNvSpPr txBox="1">
            <a:spLocks noGrp="1"/>
          </p:cNvSpPr>
          <p:nvPr>
            <p:ph type="sldNum" idx="12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b" anchorCtr="0">
            <a:noAutofit/>
          </a:bodyPr>
          <a:lstStyle/>
          <a:p>
            <a:pPr algn="r"/>
            <a:fld id="{00000000-1234-1234-1234-123412341234}" type="slidenum">
              <a:rPr lang="fr-FR"/>
              <a:pPr algn="r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5688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2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85" name="Google Shape;85;p2:notes"/>
          <p:cNvSpPr txBox="1">
            <a:spLocks noGrp="1"/>
          </p:cNvSpPr>
          <p:nvPr>
            <p:ph type="sldNum" idx="12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fr-FR" sz="1300"/>
              <a:pPr algn="r">
                <a:buSzPts val="1200"/>
              </a:pPr>
              <a:t>2</a:t>
            </a:fld>
            <a:endParaRPr sz="1300"/>
          </a:p>
        </p:txBody>
      </p:sp>
    </p:spTree>
    <p:extLst>
      <p:ext uri="{BB962C8B-B14F-4D97-AF65-F5344CB8AC3E}">
        <p14:creationId xmlns:p14="http://schemas.microsoft.com/office/powerpoint/2010/main" val="2259860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99" name="Google Shape;99;p3:notes"/>
          <p:cNvSpPr txBox="1">
            <a:spLocks noGrp="1"/>
          </p:cNvSpPr>
          <p:nvPr>
            <p:ph type="sldNum" idx="12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fr-FR" sz="1300"/>
              <a:pPr algn="r">
                <a:buSzPts val="1200"/>
              </a:pPr>
              <a:t>3</a:t>
            </a:fld>
            <a:endParaRPr sz="1300"/>
          </a:p>
        </p:txBody>
      </p:sp>
    </p:spTree>
    <p:extLst>
      <p:ext uri="{BB962C8B-B14F-4D97-AF65-F5344CB8AC3E}">
        <p14:creationId xmlns:p14="http://schemas.microsoft.com/office/powerpoint/2010/main" val="37954884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14" name="Google Shape;114;p4:notes"/>
          <p:cNvSpPr txBox="1">
            <a:spLocks noGrp="1"/>
          </p:cNvSpPr>
          <p:nvPr>
            <p:ph type="sldNum" idx="12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fr-FR" sz="1300"/>
              <a:pPr algn="r">
                <a:buSzPts val="1200"/>
              </a:pPr>
              <a:t>4</a:t>
            </a:fld>
            <a:endParaRPr sz="1300"/>
          </a:p>
        </p:txBody>
      </p:sp>
    </p:spTree>
    <p:extLst>
      <p:ext uri="{BB962C8B-B14F-4D97-AF65-F5344CB8AC3E}">
        <p14:creationId xmlns:p14="http://schemas.microsoft.com/office/powerpoint/2010/main" val="28369632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</p:spPr>
        <p:txBody>
          <a:bodyPr spcFirstLastPara="1" wrap="square" lIns="96600" tIns="48287" rIns="96600" bIns="48287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03055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41" name="Google Shape;141;p6:notes"/>
          <p:cNvSpPr txBox="1">
            <a:spLocks noGrp="1"/>
          </p:cNvSpPr>
          <p:nvPr>
            <p:ph type="sldNum" idx="12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fr-FR" sz="1300"/>
              <a:pPr algn="r">
                <a:buSzPts val="1200"/>
              </a:pPr>
              <a:t>6</a:t>
            </a:fld>
            <a:endParaRPr sz="1300"/>
          </a:p>
        </p:txBody>
      </p:sp>
    </p:spTree>
    <p:extLst>
      <p:ext uri="{BB962C8B-B14F-4D97-AF65-F5344CB8AC3E}">
        <p14:creationId xmlns:p14="http://schemas.microsoft.com/office/powerpoint/2010/main" val="3138473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41" name="Google Shape;141;p6:notes"/>
          <p:cNvSpPr txBox="1">
            <a:spLocks noGrp="1"/>
          </p:cNvSpPr>
          <p:nvPr>
            <p:ph type="sldNum" idx="12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fr-FR" sz="1300"/>
              <a:pPr algn="r">
                <a:buSzPts val="1200"/>
              </a:pPr>
              <a:t>7</a:t>
            </a:fld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7621521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41" name="Google Shape;141;p6:notes"/>
          <p:cNvSpPr txBox="1">
            <a:spLocks noGrp="1"/>
          </p:cNvSpPr>
          <p:nvPr>
            <p:ph type="sldNum" idx="12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fr-FR" sz="1300"/>
              <a:pPr algn="r">
                <a:buSzPts val="1200"/>
              </a:pPr>
              <a:t>8</a:t>
            </a:fld>
            <a:endParaRPr sz="1300"/>
          </a:p>
        </p:txBody>
      </p:sp>
    </p:spTree>
    <p:extLst>
      <p:ext uri="{BB962C8B-B14F-4D97-AF65-F5344CB8AC3E}">
        <p14:creationId xmlns:p14="http://schemas.microsoft.com/office/powerpoint/2010/main" val="4444067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58" name="Google Shape;158;p7:notes"/>
          <p:cNvSpPr txBox="1">
            <a:spLocks noGrp="1"/>
          </p:cNvSpPr>
          <p:nvPr>
            <p:ph type="sldNum" idx="12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b" anchorCtr="0">
            <a:noAutofit/>
          </a:bodyPr>
          <a:lstStyle/>
          <a:p>
            <a:pPr algn="r"/>
            <a:fld id="{00000000-1234-1234-1234-123412341234}" type="slidenum">
              <a:rPr lang="fr-FR"/>
              <a:pPr algn="r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4098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</p:spPr>
        <p:txBody>
          <a:bodyPr spcFirstLastPara="1" wrap="square" lIns="96600" tIns="48287" rIns="96600" bIns="48287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67" name="Google Shape;16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29381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9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t" anchorCtr="0">
            <a:noAutofit/>
          </a:bodyPr>
          <a:lstStyle/>
          <a:p>
            <a:pPr marL="0" indent="0"/>
            <a:r>
              <a:rPr lang="fr-FR"/>
              <a:t>Fiche projet (product page)</a:t>
            </a:r>
            <a:endParaRPr/>
          </a:p>
        </p:txBody>
      </p:sp>
      <p:sp>
        <p:nvSpPr>
          <p:cNvPr id="176" name="Google Shape;176;p9:notes"/>
          <p:cNvSpPr txBox="1">
            <a:spLocks noGrp="1"/>
          </p:cNvSpPr>
          <p:nvPr>
            <p:ph type="sldNum" idx="12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b" anchorCtr="0">
            <a:noAutofit/>
          </a:bodyPr>
          <a:lstStyle/>
          <a:p>
            <a:pPr algn="r"/>
            <a:fld id="{00000000-1234-1234-1234-123412341234}" type="slidenum">
              <a:rPr lang="fr-FR"/>
              <a:pPr algn="r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8265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10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t" anchorCtr="0">
            <a:noAutofit/>
          </a:bodyPr>
          <a:lstStyle/>
          <a:p>
            <a:pPr marL="0" indent="0"/>
            <a:r>
              <a:rPr lang="fr-FR"/>
              <a:t>Fiche projet (product page)</a:t>
            </a:r>
            <a:endParaRPr/>
          </a:p>
        </p:txBody>
      </p:sp>
      <p:sp>
        <p:nvSpPr>
          <p:cNvPr id="185" name="Google Shape;185;p10:notes"/>
          <p:cNvSpPr txBox="1">
            <a:spLocks noGrp="1"/>
          </p:cNvSpPr>
          <p:nvPr>
            <p:ph type="sldNum" idx="12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b" anchorCtr="0">
            <a:noAutofit/>
          </a:bodyPr>
          <a:lstStyle/>
          <a:p>
            <a:pPr algn="r"/>
            <a:fld id="{00000000-1234-1234-1234-123412341234}" type="slidenum">
              <a:rPr lang="fr-FR"/>
              <a:pPr algn="r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24964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11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t" anchorCtr="0">
            <a:noAutofit/>
          </a:bodyPr>
          <a:lstStyle/>
          <a:p>
            <a:pPr marL="0" indent="0"/>
            <a:r>
              <a:rPr lang="fr-FR"/>
              <a:t>Fiche projet (product page)</a:t>
            </a:r>
            <a:endParaRPr/>
          </a:p>
        </p:txBody>
      </p:sp>
      <p:sp>
        <p:nvSpPr>
          <p:cNvPr id="196" name="Google Shape;196;p11:notes"/>
          <p:cNvSpPr txBox="1">
            <a:spLocks noGrp="1"/>
          </p:cNvSpPr>
          <p:nvPr>
            <p:ph type="sldNum" idx="12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b" anchorCtr="0">
            <a:noAutofit/>
          </a:bodyPr>
          <a:lstStyle/>
          <a:p>
            <a:pPr algn="r"/>
            <a:fld id="{00000000-1234-1234-1234-123412341234}" type="slidenum">
              <a:rPr lang="fr-FR"/>
              <a:pPr algn="r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38803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12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t" anchorCtr="0">
            <a:noAutofit/>
          </a:bodyPr>
          <a:lstStyle/>
          <a:p>
            <a:pPr marL="0" indent="0"/>
            <a:r>
              <a:rPr lang="fr-FR"/>
              <a:t>Fiche projet (product page)</a:t>
            </a:r>
            <a:endParaRPr/>
          </a:p>
        </p:txBody>
      </p:sp>
      <p:sp>
        <p:nvSpPr>
          <p:cNvPr id="206" name="Google Shape;206;p12:notes"/>
          <p:cNvSpPr txBox="1">
            <a:spLocks noGrp="1"/>
          </p:cNvSpPr>
          <p:nvPr>
            <p:ph type="sldNum" idx="12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b" anchorCtr="0">
            <a:noAutofit/>
          </a:bodyPr>
          <a:lstStyle/>
          <a:p>
            <a:pPr algn="r"/>
            <a:fld id="{00000000-1234-1234-1234-123412341234}" type="slidenum">
              <a:rPr lang="fr-FR"/>
              <a:pPr algn="r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63751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13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t" anchorCtr="0">
            <a:noAutofit/>
          </a:bodyPr>
          <a:lstStyle/>
          <a:p>
            <a:pPr marL="0" indent="0"/>
            <a:r>
              <a:rPr lang="fr-FR"/>
              <a:t>Fiche projet (product page)</a:t>
            </a:r>
            <a:endParaRPr/>
          </a:p>
        </p:txBody>
      </p:sp>
      <p:sp>
        <p:nvSpPr>
          <p:cNvPr id="216" name="Google Shape;216;p13:notes"/>
          <p:cNvSpPr txBox="1">
            <a:spLocks noGrp="1"/>
          </p:cNvSpPr>
          <p:nvPr>
            <p:ph type="sldNum" idx="12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b" anchorCtr="0">
            <a:noAutofit/>
          </a:bodyPr>
          <a:lstStyle/>
          <a:p>
            <a:pPr algn="r"/>
            <a:fld id="{00000000-1234-1234-1234-123412341234}" type="slidenum">
              <a:rPr lang="fr-FR"/>
              <a:pPr algn="r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17811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p15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t" anchorCtr="0">
            <a:noAutofit/>
          </a:bodyPr>
          <a:lstStyle/>
          <a:p>
            <a:pPr marL="0" indent="0"/>
            <a:r>
              <a:rPr lang="fr-FR"/>
              <a:t>Fiche projet (product page)</a:t>
            </a:r>
            <a:endParaRPr/>
          </a:p>
        </p:txBody>
      </p:sp>
      <p:sp>
        <p:nvSpPr>
          <p:cNvPr id="237" name="Google Shape;237;p15:notes"/>
          <p:cNvSpPr txBox="1">
            <a:spLocks noGrp="1"/>
          </p:cNvSpPr>
          <p:nvPr>
            <p:ph type="sldNum" idx="12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b" anchorCtr="0">
            <a:noAutofit/>
          </a:bodyPr>
          <a:lstStyle/>
          <a:p>
            <a:pPr algn="r"/>
            <a:fld id="{00000000-1234-1234-1234-123412341234}" type="slidenum">
              <a:rPr lang="fr-FR"/>
              <a:pPr algn="r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968380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p14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t" anchorCtr="0">
            <a:noAutofit/>
          </a:bodyPr>
          <a:lstStyle/>
          <a:p>
            <a:pPr marL="0" indent="0">
              <a:buClr>
                <a:schemeClr val="dk1"/>
              </a:buClr>
              <a:buSzPts val="1200"/>
            </a:pPr>
            <a:endParaRPr/>
          </a:p>
        </p:txBody>
      </p:sp>
      <p:sp>
        <p:nvSpPr>
          <p:cNvPr id="226" name="Google Shape;226;p14:notes"/>
          <p:cNvSpPr txBox="1">
            <a:spLocks noGrp="1"/>
          </p:cNvSpPr>
          <p:nvPr>
            <p:ph type="sldNum" idx="12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b" anchorCtr="0">
            <a:noAutofit/>
          </a:bodyPr>
          <a:lstStyle/>
          <a:p>
            <a:pPr algn="r"/>
            <a:fld id="{00000000-1234-1234-1234-123412341234}" type="slidenum">
              <a:rPr lang="fr-FR"/>
              <a:pPr algn="r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08030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</p:spPr>
        <p:txBody>
          <a:bodyPr spcFirstLastPara="1" wrap="square" lIns="96600" tIns="48287" rIns="96600" bIns="48287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46" name="Google Shape;24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00132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17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t" anchorCtr="0">
            <a:noAutofit/>
          </a:bodyPr>
          <a:lstStyle/>
          <a:p>
            <a:pPr marL="0" indent="0"/>
            <a:r>
              <a:rPr lang="fr-FR"/>
              <a:t>Fiche projet (product page)</a:t>
            </a:r>
            <a:endParaRPr/>
          </a:p>
        </p:txBody>
      </p:sp>
      <p:sp>
        <p:nvSpPr>
          <p:cNvPr id="255" name="Google Shape;255;p17:notes"/>
          <p:cNvSpPr txBox="1">
            <a:spLocks noGrp="1"/>
          </p:cNvSpPr>
          <p:nvPr>
            <p:ph type="sldNum" idx="12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fr-FR" sz="1300"/>
              <a:pPr algn="r">
                <a:buSzPts val="1200"/>
              </a:pPr>
              <a:t>33</a:t>
            </a:fld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1279485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18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t" anchorCtr="0">
            <a:noAutofit/>
          </a:bodyPr>
          <a:lstStyle/>
          <a:p>
            <a:pPr marL="0" indent="0"/>
            <a:r>
              <a:rPr lang="fr-FR"/>
              <a:t>Fiche projet (product page)</a:t>
            </a:r>
            <a:endParaRPr/>
          </a:p>
        </p:txBody>
      </p:sp>
      <p:sp>
        <p:nvSpPr>
          <p:cNvPr id="265" name="Google Shape;265;p18:notes"/>
          <p:cNvSpPr txBox="1">
            <a:spLocks noGrp="1"/>
          </p:cNvSpPr>
          <p:nvPr>
            <p:ph type="sldNum" idx="12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fr-FR" sz="1300"/>
              <a:pPr algn="r">
                <a:buSzPts val="1200"/>
              </a:pPr>
              <a:t>34</a:t>
            </a:fld>
            <a:endParaRPr sz="1300"/>
          </a:p>
        </p:txBody>
      </p:sp>
    </p:spTree>
    <p:extLst>
      <p:ext uri="{BB962C8B-B14F-4D97-AF65-F5344CB8AC3E}">
        <p14:creationId xmlns:p14="http://schemas.microsoft.com/office/powerpoint/2010/main" val="7758374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</p:spPr>
        <p:txBody>
          <a:bodyPr spcFirstLastPara="1" wrap="square" lIns="96600" tIns="48287" rIns="96600" bIns="48287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74" name="Google Shape;27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85914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0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</p:spPr>
        <p:txBody>
          <a:bodyPr spcFirstLastPara="1" wrap="square" lIns="96600" tIns="48287" rIns="96600" bIns="48287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82" name="Google Shape;28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59402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p21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91" name="Google Shape;291;p21:notes"/>
          <p:cNvSpPr txBox="1">
            <a:spLocks noGrp="1"/>
          </p:cNvSpPr>
          <p:nvPr>
            <p:ph type="sldNum" idx="12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b" anchorCtr="0">
            <a:noAutofit/>
          </a:bodyPr>
          <a:lstStyle/>
          <a:p>
            <a:pPr algn="r"/>
            <a:fld id="{00000000-1234-1234-1234-123412341234}" type="slidenum">
              <a:rPr lang="fr-FR"/>
              <a:pPr algn="r"/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70232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p22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316" name="Google Shape;316;p22:notes"/>
          <p:cNvSpPr txBox="1">
            <a:spLocks noGrp="1"/>
          </p:cNvSpPr>
          <p:nvPr>
            <p:ph type="sldNum" idx="12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b" anchorCtr="0">
            <a:noAutofit/>
          </a:bodyPr>
          <a:lstStyle/>
          <a:p>
            <a:pPr algn="r"/>
            <a:fld id="{00000000-1234-1234-1234-123412341234}" type="slidenum">
              <a:rPr lang="fr-FR"/>
              <a:pPr algn="r"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60753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5" name="Google Shape;365;p23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366" name="Google Shape;366;p23:notes"/>
          <p:cNvSpPr txBox="1">
            <a:spLocks noGrp="1"/>
          </p:cNvSpPr>
          <p:nvPr>
            <p:ph type="sldNum" idx="12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fr-FR" sz="1300"/>
              <a:pPr algn="r">
                <a:buSzPts val="1200"/>
              </a:pPr>
              <a:t>39</a:t>
            </a:fld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0629493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0" name="Google Shape;380;p24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381" name="Google Shape;381;p24:notes"/>
          <p:cNvSpPr txBox="1">
            <a:spLocks noGrp="1"/>
          </p:cNvSpPr>
          <p:nvPr>
            <p:ph type="sldNum" idx="12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b" anchorCtr="0">
            <a:noAutofit/>
          </a:bodyPr>
          <a:lstStyle/>
          <a:p>
            <a:pPr algn="r"/>
            <a:fld id="{00000000-1234-1234-1234-123412341234}" type="slidenum">
              <a:rPr lang="fr-FR"/>
              <a:pPr algn="r"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71325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3" name="Google Shape;393;p25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394" name="Google Shape;394;p25:notes"/>
          <p:cNvSpPr txBox="1">
            <a:spLocks noGrp="1"/>
          </p:cNvSpPr>
          <p:nvPr>
            <p:ph type="sldNum" idx="12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b" anchorCtr="0">
            <a:noAutofit/>
          </a:bodyPr>
          <a:lstStyle/>
          <a:p>
            <a:pPr algn="r"/>
            <a:fld id="{00000000-1234-1234-1234-123412341234}" type="slidenum">
              <a:rPr lang="fr-FR"/>
              <a:pPr algn="r"/>
              <a:t>41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60307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3" name="Google Shape;403;p26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404" name="Google Shape;404;p26:notes"/>
          <p:cNvSpPr txBox="1">
            <a:spLocks noGrp="1"/>
          </p:cNvSpPr>
          <p:nvPr>
            <p:ph type="sldNum" idx="12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b" anchorCtr="0">
            <a:noAutofit/>
          </a:bodyPr>
          <a:lstStyle/>
          <a:p>
            <a:pPr algn="r"/>
            <a:fld id="{00000000-1234-1234-1234-123412341234}" type="slidenum">
              <a:rPr lang="fr-FR"/>
              <a:pPr algn="r"/>
              <a:t>42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48712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7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</p:spPr>
        <p:txBody>
          <a:bodyPr spcFirstLastPara="1" wrap="square" lIns="96600" tIns="48287" rIns="96600" bIns="48287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410" name="Google Shape;41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11788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8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</p:spPr>
        <p:txBody>
          <a:bodyPr spcFirstLastPara="1" wrap="square" lIns="96600" tIns="48287" rIns="96600" bIns="48287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418" name="Google Shape;41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607099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9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</p:spPr>
        <p:txBody>
          <a:bodyPr spcFirstLastPara="1" wrap="square" lIns="96600" tIns="48287" rIns="96600" bIns="48287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423" name="Google Shape;42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610910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0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</p:spPr>
        <p:txBody>
          <a:bodyPr spcFirstLastPara="1" wrap="square" lIns="96600" tIns="48287" rIns="96600" bIns="48287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431" name="Google Shape;43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00532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6" name="Google Shape;436;p31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t" anchorCtr="0">
            <a:noAutofit/>
          </a:bodyPr>
          <a:lstStyle/>
          <a:p>
            <a:pPr marL="0" indent="0"/>
            <a:r>
              <a:rPr lang="fr-FR"/>
              <a:t>Fiche projet (product page)</a:t>
            </a:r>
            <a:endParaRPr/>
          </a:p>
        </p:txBody>
      </p:sp>
      <p:sp>
        <p:nvSpPr>
          <p:cNvPr id="437" name="Google Shape;437;p31:notes"/>
          <p:cNvSpPr txBox="1">
            <a:spLocks noGrp="1"/>
          </p:cNvSpPr>
          <p:nvPr>
            <p:ph type="sldNum" idx="12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fr-FR" sz="1300"/>
              <a:pPr algn="r">
                <a:buSzPts val="1200"/>
              </a:pPr>
              <a:t>47</a:t>
            </a:fld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1323166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6" name="Google Shape;446;p32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447" name="Google Shape;447;p32:notes"/>
          <p:cNvSpPr txBox="1">
            <a:spLocks noGrp="1"/>
          </p:cNvSpPr>
          <p:nvPr>
            <p:ph type="sldNum" idx="12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87" rIns="96600" bIns="48287" anchor="b" anchorCtr="0">
            <a:noAutofit/>
          </a:bodyPr>
          <a:lstStyle/>
          <a:p>
            <a:pPr>
              <a:buSzPts val="1800"/>
            </a:pPr>
            <a:fld id="{00000000-1234-1234-1234-123412341234}" type="slidenum">
              <a:rPr lang="fr-FR" sz="1900"/>
              <a:pPr>
                <a:buSzPts val="1800"/>
              </a:pPr>
              <a:t>48</a:t>
            </a:fld>
            <a:endParaRPr sz="1900"/>
          </a:p>
        </p:txBody>
      </p:sp>
    </p:spTree>
    <p:extLst>
      <p:ext uri="{BB962C8B-B14F-4D97-AF65-F5344CB8AC3E}">
        <p14:creationId xmlns:p14="http://schemas.microsoft.com/office/powerpoint/2010/main" val="345929541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3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</p:spPr>
        <p:txBody>
          <a:bodyPr spcFirstLastPara="1" wrap="square" lIns="96600" tIns="48287" rIns="96600" bIns="48287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463" name="Google Shape;46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8420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gination gauche">
  <p:cSld name="pagination gauch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6"/>
          <p:cNvSpPr txBox="1"/>
          <p:nvPr/>
        </p:nvSpPr>
        <p:spPr>
          <a:xfrm>
            <a:off x="261392" y="6427688"/>
            <a:ext cx="605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Quattrocento Sans"/>
              <a:buNone/>
            </a:pPr>
            <a:r>
              <a:rPr lang="fr-FR" sz="800" b="1" i="0" u="none" strike="noStrike" cap="none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Page </a:t>
            </a:r>
            <a:fld id="{00000000-1234-1234-1234-123412341234}" type="slidenum">
              <a:rPr lang="fr-FR" sz="800" b="1" i="0" u="none" strike="noStrike" cap="none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‹N°›</a:t>
            </a:fld>
            <a:endParaRPr sz="800" b="1" i="0" u="none" strike="noStrike" cap="none">
              <a:solidFill>
                <a:srgbClr val="3F3F3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7"/>
          <p:cNvSpPr/>
          <p:nvPr/>
        </p:nvSpPr>
        <p:spPr>
          <a:xfrm>
            <a:off x="5943600" y="0"/>
            <a:ext cx="6248400" cy="6858000"/>
          </a:xfrm>
          <a:prstGeom prst="rect">
            <a:avLst/>
          </a:prstGeom>
          <a:solidFill>
            <a:srgbClr val="0B0E2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7"/>
          <p:cNvSpPr txBox="1"/>
          <p:nvPr/>
        </p:nvSpPr>
        <p:spPr>
          <a:xfrm>
            <a:off x="261392" y="6427688"/>
            <a:ext cx="605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Quattrocento Sans"/>
              <a:buNone/>
            </a:pPr>
            <a:r>
              <a:rPr lang="fr-FR" sz="800" b="1" i="0" u="none" strike="noStrike" cap="none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Page </a:t>
            </a:r>
            <a:fld id="{00000000-1234-1234-1234-123412341234}" type="slidenum">
              <a:rPr lang="fr-FR" sz="800" b="1" i="0" u="none" strike="noStrike" cap="none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‹N°›</a:t>
            </a:fld>
            <a:endParaRPr sz="800" b="1" i="0" u="none" strike="noStrike" cap="none">
              <a:solidFill>
                <a:srgbClr val="3F3F3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gination central">
  <p:cSld name="Pagination central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8"/>
          <p:cNvSpPr txBox="1"/>
          <p:nvPr/>
        </p:nvSpPr>
        <p:spPr>
          <a:xfrm>
            <a:off x="5793361" y="6427688"/>
            <a:ext cx="605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Quattrocento Sans"/>
              <a:buNone/>
            </a:pPr>
            <a:r>
              <a:rPr lang="fr-FR" sz="800" b="1" i="0" u="none" strike="noStrike" cap="none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Page </a:t>
            </a:r>
            <a:fld id="{00000000-1234-1234-1234-123412341234}" type="slidenum">
              <a:rPr lang="fr-FR" sz="800" b="1" i="0" u="none" strike="noStrike" cap="none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‹N°›</a:t>
            </a:fld>
            <a:endParaRPr sz="800" b="1" i="0" u="none" strike="noStrike" cap="none">
              <a:solidFill>
                <a:srgbClr val="3F3F3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ns pagination">
  <p:cSld name="Sans pagina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328" y="6506296"/>
            <a:ext cx="252640" cy="258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67124" y="6455825"/>
            <a:ext cx="308853" cy="308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0"/>
          <p:cNvSpPr/>
          <p:nvPr/>
        </p:nvSpPr>
        <p:spPr>
          <a:xfrm>
            <a:off x="305" y="1714500"/>
            <a:ext cx="12191695" cy="5143500"/>
          </a:xfrm>
          <a:prstGeom prst="rect">
            <a:avLst/>
          </a:prstGeom>
          <a:solidFill>
            <a:srgbClr val="0B0E2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Google Shape;28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328" y="6506296"/>
            <a:ext cx="252640" cy="258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67124" y="6455825"/>
            <a:ext cx="308853" cy="30885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0"/>
          <p:cNvSpPr txBox="1"/>
          <p:nvPr/>
        </p:nvSpPr>
        <p:spPr>
          <a:xfrm>
            <a:off x="261392" y="6427688"/>
            <a:ext cx="605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Quattrocento Sans"/>
              <a:buNone/>
            </a:pPr>
            <a:r>
              <a:rPr lang="fr-FR" sz="8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Page </a:t>
            </a:r>
            <a:fld id="{00000000-1234-1234-1234-123412341234}" type="slidenum">
              <a:rPr lang="fr-FR" sz="8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‹N°›</a:t>
            </a:fld>
            <a:endParaRPr sz="800" b="1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bg>
      <p:bgPr>
        <a:solidFill>
          <a:srgbClr val="002060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328" y="6506296"/>
            <a:ext cx="252640" cy="258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67124" y="6455825"/>
            <a:ext cx="308853" cy="308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47"/>
            <a:ext cx="12191937" cy="6857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1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0004" y="446"/>
            <a:ext cx="9702750" cy="6857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1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72264" y="648062"/>
            <a:ext cx="1854191" cy="6209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1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07213" y="447"/>
            <a:ext cx="4984724" cy="6857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1" descr=" 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264" y="-182343"/>
            <a:ext cx="2901935" cy="6774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1" descr="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290002" y="446"/>
            <a:ext cx="2901935" cy="677456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"/>
          <p:cNvSpPr/>
          <p:nvPr/>
        </p:nvSpPr>
        <p:spPr>
          <a:xfrm>
            <a:off x="354800" y="2542098"/>
            <a:ext cx="6628726" cy="1573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699" b="0" i="0" u="none" strike="noStrike" cap="none" dirty="0">
                <a:solidFill>
                  <a:srgbClr val="1E224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La première plateforme d’annonces immobilières </a:t>
            </a:r>
            <a:r>
              <a:rPr lang="fr-FR" sz="2699" b="0" i="0" u="none" strike="noStrike" cap="none" dirty="0">
                <a:solidFill>
                  <a:srgbClr val="FF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100% vérifiées </a:t>
            </a:r>
            <a:r>
              <a:rPr lang="fr-FR" sz="2699" b="0" i="0" u="none" strike="noStrike" cap="none" dirty="0">
                <a:solidFill>
                  <a:srgbClr val="1E224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en Tunisie</a:t>
            </a:r>
            <a:endParaRPr sz="2699" b="0" i="0" u="none" strike="noStrike" cap="none" dirty="0">
              <a:solidFill>
                <a:srgbClr val="1E224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ctr" rtl="0">
              <a:lnSpc>
                <a:spcPct val="9292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99" b="0" i="0" u="none" strike="noStrike" cap="none" dirty="0">
              <a:solidFill>
                <a:srgbClr val="1E224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7617430" y="1524707"/>
            <a:ext cx="3930630" cy="4539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7617430" y="1524707"/>
            <a:ext cx="3930630" cy="1028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8442524" y="1135660"/>
            <a:ext cx="2805649" cy="463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2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rgbClr val="002C8B"/>
                </a:solidFill>
                <a:latin typeface="DM Sans"/>
                <a:ea typeface="DM Sans"/>
                <a:cs typeface="DM Sans"/>
                <a:sym typeface="DM Sans"/>
              </a:rPr>
              <a:t>Contexte &amp; Problématique</a:t>
            </a:r>
            <a:endParaRPr/>
          </a:p>
        </p:txBody>
      </p:sp>
      <p:sp>
        <p:nvSpPr>
          <p:cNvPr id="49" name="Google Shape;49;p1"/>
          <p:cNvSpPr/>
          <p:nvPr/>
        </p:nvSpPr>
        <p:spPr>
          <a:xfrm>
            <a:off x="7878314" y="1160018"/>
            <a:ext cx="379930" cy="48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5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00" b="1">
                <a:solidFill>
                  <a:srgbClr val="002C8B"/>
                </a:solidFill>
                <a:latin typeface="DM Sans"/>
                <a:ea typeface="DM Sans"/>
                <a:cs typeface="DM Sans"/>
                <a:sym typeface="DM Sans"/>
              </a:rPr>
              <a:t>01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7617430" y="2654860"/>
            <a:ext cx="3854430" cy="11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7857899" y="1543287"/>
            <a:ext cx="431365" cy="537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5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00" b="1">
                <a:solidFill>
                  <a:srgbClr val="002C8B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  <a:endParaRPr/>
          </a:p>
        </p:txBody>
      </p:sp>
      <p:sp>
        <p:nvSpPr>
          <p:cNvPr id="52" name="Google Shape;52;p1"/>
          <p:cNvSpPr/>
          <p:nvPr/>
        </p:nvSpPr>
        <p:spPr>
          <a:xfrm>
            <a:off x="7617430" y="3911996"/>
            <a:ext cx="3854430" cy="1168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7855645" y="1980167"/>
            <a:ext cx="437707" cy="542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5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00" b="1">
                <a:solidFill>
                  <a:srgbClr val="002C8B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7617431" y="5181831"/>
            <a:ext cx="3859298" cy="882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7865548" y="2391350"/>
            <a:ext cx="450848" cy="43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5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00" b="1">
                <a:solidFill>
                  <a:srgbClr val="002C8B"/>
                </a:solidFill>
                <a:latin typeface="DM Sans"/>
                <a:ea typeface="DM Sans"/>
                <a:cs typeface="DM Sans"/>
                <a:sym typeface="DM Sans"/>
              </a:rPr>
              <a:t>04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p1" descr="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6794062"/>
            <a:ext cx="12191937" cy="63492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/>
          <p:nvPr/>
        </p:nvSpPr>
        <p:spPr>
          <a:xfrm>
            <a:off x="10594201" y="6477980"/>
            <a:ext cx="914294" cy="133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58;p1" descr=" 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594201" y="6477979"/>
            <a:ext cx="133325" cy="133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" descr=" 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647357" y="6524818"/>
            <a:ext cx="34850" cy="39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" descr=" 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854524" y="6477979"/>
            <a:ext cx="133325" cy="13330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"/>
          <p:cNvSpPr/>
          <p:nvPr/>
        </p:nvSpPr>
        <p:spPr>
          <a:xfrm>
            <a:off x="11114849" y="6477980"/>
            <a:ext cx="133324" cy="133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" name="Google Shape;62;p1" descr=" 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1114848" y="6477979"/>
            <a:ext cx="133325" cy="133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" descr=" 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1375172" y="6477979"/>
            <a:ext cx="133325" cy="133308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"/>
          <p:cNvSpPr/>
          <p:nvPr/>
        </p:nvSpPr>
        <p:spPr>
          <a:xfrm>
            <a:off x="255407" y="6339552"/>
            <a:ext cx="1634058" cy="167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Avril 2026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3207226" y="6530156"/>
            <a:ext cx="2134673" cy="654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rgbClr val="242C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www.immo24.tn</a:t>
            </a:r>
            <a:endParaRPr sz="800">
              <a:solidFill>
                <a:srgbClr val="242C6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6" name="Google Shape;66;p1" descr="Une image contenant texte, Police, logo, Graphique&#10;&#10;Le contenu généré par l’IA peut être incorrect."/>
          <p:cNvPicPr preferRelativeResize="0"/>
          <p:nvPr/>
        </p:nvPicPr>
        <p:blipFill rotWithShape="1">
          <a:blip r:embed="rId15">
            <a:alphaModFix/>
          </a:blip>
          <a:srcRect b="12777"/>
          <a:stretch/>
        </p:blipFill>
        <p:spPr>
          <a:xfrm>
            <a:off x="1013121" y="305820"/>
            <a:ext cx="5082847" cy="146302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"/>
          <p:cNvSpPr/>
          <p:nvPr/>
        </p:nvSpPr>
        <p:spPr>
          <a:xfrm>
            <a:off x="8442524" y="1527073"/>
            <a:ext cx="2805649" cy="463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2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rgbClr val="002C8B"/>
                </a:solidFill>
                <a:latin typeface="DM Sans"/>
                <a:ea typeface="DM Sans"/>
                <a:cs typeface="DM Sans"/>
                <a:sym typeface="DM Sans"/>
              </a:rPr>
              <a:t>Solution Immo24.tn</a:t>
            </a:r>
            <a:endParaRPr/>
          </a:p>
        </p:txBody>
      </p:sp>
      <p:sp>
        <p:nvSpPr>
          <p:cNvPr id="68" name="Google Shape;68;p1"/>
          <p:cNvSpPr/>
          <p:nvPr/>
        </p:nvSpPr>
        <p:spPr>
          <a:xfrm>
            <a:off x="8483214" y="2791553"/>
            <a:ext cx="2805649" cy="463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2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rgbClr val="002C8B"/>
                </a:solidFill>
                <a:latin typeface="DM Sans"/>
                <a:ea typeface="DM Sans"/>
                <a:cs typeface="DM Sans"/>
                <a:sym typeface="DM Sans"/>
              </a:rPr>
              <a:t>Backlog clés MVP</a:t>
            </a:r>
            <a:endParaRPr/>
          </a:p>
        </p:txBody>
      </p:sp>
      <p:sp>
        <p:nvSpPr>
          <p:cNvPr id="69" name="Google Shape;69;p1"/>
          <p:cNvSpPr/>
          <p:nvPr/>
        </p:nvSpPr>
        <p:spPr>
          <a:xfrm>
            <a:off x="8423568" y="2375682"/>
            <a:ext cx="2805649" cy="463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27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rgbClr val="002C8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" name="Google Shape;70;p1"/>
          <p:cNvSpPr/>
          <p:nvPr/>
        </p:nvSpPr>
        <p:spPr>
          <a:xfrm>
            <a:off x="7885552" y="2820859"/>
            <a:ext cx="450848" cy="43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5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00" b="1">
                <a:solidFill>
                  <a:srgbClr val="002C8B"/>
                </a:solidFill>
                <a:latin typeface="DM Sans"/>
                <a:ea typeface="DM Sans"/>
                <a:cs typeface="DM Sans"/>
                <a:sym typeface="DM Sans"/>
              </a:rPr>
              <a:t>06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"/>
          <p:cNvSpPr/>
          <p:nvPr/>
        </p:nvSpPr>
        <p:spPr>
          <a:xfrm>
            <a:off x="8473544" y="1958814"/>
            <a:ext cx="2805649" cy="463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2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rgbClr val="002C8B"/>
                </a:solidFill>
                <a:latin typeface="DM Sans"/>
                <a:ea typeface="DM Sans"/>
                <a:cs typeface="DM Sans"/>
                <a:sym typeface="DM Sans"/>
              </a:rPr>
              <a:t>Modèle économique</a:t>
            </a:r>
            <a:endParaRPr/>
          </a:p>
        </p:txBody>
      </p:sp>
      <p:sp>
        <p:nvSpPr>
          <p:cNvPr id="72" name="Google Shape;72;p1"/>
          <p:cNvSpPr/>
          <p:nvPr/>
        </p:nvSpPr>
        <p:spPr>
          <a:xfrm>
            <a:off x="7865366" y="3233510"/>
            <a:ext cx="450848" cy="43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5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00" b="1">
                <a:solidFill>
                  <a:srgbClr val="002C8B"/>
                </a:solidFill>
                <a:latin typeface="DM Sans"/>
                <a:ea typeface="DM Sans"/>
                <a:cs typeface="DM Sans"/>
                <a:sym typeface="DM Sans"/>
              </a:rPr>
              <a:t>07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"/>
          <p:cNvSpPr/>
          <p:nvPr/>
        </p:nvSpPr>
        <p:spPr>
          <a:xfrm>
            <a:off x="7885552" y="3663019"/>
            <a:ext cx="450848" cy="43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5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00" b="1">
                <a:solidFill>
                  <a:srgbClr val="002C8B"/>
                </a:solidFill>
                <a:latin typeface="DM Sans"/>
                <a:ea typeface="DM Sans"/>
                <a:cs typeface="DM Sans"/>
                <a:sym typeface="DM Sans"/>
              </a:rPr>
              <a:t>08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"/>
          <p:cNvSpPr/>
          <p:nvPr/>
        </p:nvSpPr>
        <p:spPr>
          <a:xfrm>
            <a:off x="7865366" y="4115829"/>
            <a:ext cx="450848" cy="43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5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00" b="1">
                <a:solidFill>
                  <a:srgbClr val="002C8B"/>
                </a:solidFill>
                <a:latin typeface="DM Sans"/>
                <a:ea typeface="DM Sans"/>
                <a:cs typeface="DM Sans"/>
                <a:sym typeface="DM Sans"/>
              </a:rPr>
              <a:t>09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"/>
          <p:cNvSpPr/>
          <p:nvPr/>
        </p:nvSpPr>
        <p:spPr>
          <a:xfrm>
            <a:off x="8483215" y="2407691"/>
            <a:ext cx="2805649" cy="463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2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rgbClr val="002C8B"/>
                </a:solidFill>
                <a:latin typeface="DM Sans"/>
                <a:ea typeface="DM Sans"/>
                <a:cs typeface="DM Sans"/>
                <a:sym typeface="DM Sans"/>
              </a:rPr>
              <a:t>Offre de lancement</a:t>
            </a:r>
            <a:endParaRPr/>
          </a:p>
        </p:txBody>
      </p:sp>
      <p:sp>
        <p:nvSpPr>
          <p:cNvPr id="76" name="Google Shape;76;p1"/>
          <p:cNvSpPr/>
          <p:nvPr/>
        </p:nvSpPr>
        <p:spPr>
          <a:xfrm>
            <a:off x="8442524" y="3224929"/>
            <a:ext cx="2805649" cy="463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2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rgbClr val="002C8B"/>
                </a:solidFill>
                <a:latin typeface="DM Sans"/>
                <a:ea typeface="DM Sans"/>
                <a:cs typeface="DM Sans"/>
                <a:sym typeface="DM Sans"/>
              </a:rPr>
              <a:t>Architecture technique</a:t>
            </a:r>
            <a:endParaRPr/>
          </a:p>
        </p:txBody>
      </p:sp>
      <p:sp>
        <p:nvSpPr>
          <p:cNvPr id="77" name="Google Shape;77;p1"/>
          <p:cNvSpPr/>
          <p:nvPr/>
        </p:nvSpPr>
        <p:spPr>
          <a:xfrm>
            <a:off x="8423568" y="3600466"/>
            <a:ext cx="2805649" cy="463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2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rgbClr val="002C8B"/>
                </a:solidFill>
                <a:latin typeface="DM Sans"/>
                <a:ea typeface="DM Sans"/>
                <a:cs typeface="DM Sans"/>
                <a:sym typeface="DM Sans"/>
              </a:rPr>
              <a:t>Optimisation &amp; Performance</a:t>
            </a:r>
            <a:endParaRPr/>
          </a:p>
        </p:txBody>
      </p:sp>
      <p:sp>
        <p:nvSpPr>
          <p:cNvPr id="78" name="Google Shape;78;p1"/>
          <p:cNvSpPr/>
          <p:nvPr/>
        </p:nvSpPr>
        <p:spPr>
          <a:xfrm>
            <a:off x="8443119" y="4063545"/>
            <a:ext cx="2805649" cy="463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2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rgbClr val="002C8B"/>
                </a:solidFill>
                <a:latin typeface="DM Sans"/>
                <a:ea typeface="DM Sans"/>
                <a:cs typeface="DM Sans"/>
                <a:sym typeface="DM Sans"/>
              </a:rPr>
              <a:t>Roadmap :Intelligence artificielle</a:t>
            </a:r>
            <a:endParaRPr/>
          </a:p>
        </p:txBody>
      </p:sp>
      <p:sp>
        <p:nvSpPr>
          <p:cNvPr id="79" name="Google Shape;79;p1"/>
          <p:cNvSpPr/>
          <p:nvPr/>
        </p:nvSpPr>
        <p:spPr>
          <a:xfrm>
            <a:off x="8507462" y="4559729"/>
            <a:ext cx="28056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2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rgbClr val="002C8B"/>
                </a:solidFill>
                <a:latin typeface="DM Sans"/>
                <a:ea typeface="DM Sans"/>
                <a:cs typeface="DM Sans"/>
                <a:sym typeface="DM Sans"/>
              </a:rPr>
              <a:t>Questions</a:t>
            </a:r>
            <a:endParaRPr/>
          </a:p>
        </p:txBody>
      </p:sp>
      <p:sp>
        <p:nvSpPr>
          <p:cNvPr id="80" name="Google Shape;80;p1"/>
          <p:cNvSpPr/>
          <p:nvPr/>
        </p:nvSpPr>
        <p:spPr>
          <a:xfrm>
            <a:off x="7878314" y="4604931"/>
            <a:ext cx="450848" cy="43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5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00" b="1">
                <a:solidFill>
                  <a:srgbClr val="002C8B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"/>
          <p:cNvSpPr/>
          <p:nvPr/>
        </p:nvSpPr>
        <p:spPr>
          <a:xfrm>
            <a:off x="10665202" y="39375"/>
            <a:ext cx="2134673" cy="654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rgbClr val="242C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www.immo24.tn</a:t>
            </a:r>
            <a:endParaRPr sz="800">
              <a:solidFill>
                <a:srgbClr val="242C6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/>
          <p:nvPr/>
        </p:nvSpPr>
        <p:spPr>
          <a:xfrm>
            <a:off x="3862315" y="699512"/>
            <a:ext cx="8329685" cy="6158488"/>
          </a:xfrm>
          <a:prstGeom prst="roundRect">
            <a:avLst>
              <a:gd name="adj" fmla="val 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0" y="-34264"/>
            <a:ext cx="12192000" cy="733776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197256" y="49496"/>
            <a:ext cx="724049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Contexte &amp; Problématique</a:t>
            </a:r>
            <a:endParaRPr/>
          </a:p>
        </p:txBody>
      </p:sp>
      <p:sp>
        <p:nvSpPr>
          <p:cNvPr id="90" name="Google Shape;90;p2"/>
          <p:cNvSpPr txBox="1"/>
          <p:nvPr/>
        </p:nvSpPr>
        <p:spPr>
          <a:xfrm>
            <a:off x="197256" y="1307746"/>
            <a:ext cx="5632044" cy="1277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1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Contexte &amp;</a:t>
            </a:r>
            <a:endParaRPr/>
          </a:p>
          <a:p>
            <a:pPr marL="0" marR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3600" b="1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Problématique</a:t>
            </a:r>
            <a:endParaRPr sz="3600" b="1" i="0" u="none" strike="noStrike" cap="none">
              <a:solidFill>
                <a:srgbClr val="3B82F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8174891" y="4428981"/>
            <a:ext cx="969896" cy="937810"/>
          </a:xfrm>
          <a:prstGeom prst="ellipse">
            <a:avLst/>
          </a:prstGeom>
          <a:gradFill>
            <a:gsLst>
              <a:gs pos="0">
                <a:srgbClr val="194996"/>
              </a:gs>
              <a:gs pos="50000">
                <a:srgbClr val="2569D8"/>
              </a:gs>
              <a:gs pos="100000">
                <a:srgbClr val="2C7EFF"/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oppins"/>
              <a:buNone/>
            </a:pPr>
            <a:r>
              <a:rPr lang="fr-FR" sz="2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Elevé</a:t>
            </a:r>
            <a:endParaRPr sz="20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8088997" y="1630912"/>
            <a:ext cx="969896" cy="937810"/>
          </a:xfrm>
          <a:prstGeom prst="ellipse">
            <a:avLst/>
          </a:prstGeom>
          <a:gradFill>
            <a:gsLst>
              <a:gs pos="0">
                <a:srgbClr val="194996"/>
              </a:gs>
              <a:gs pos="50000">
                <a:srgbClr val="2569D8"/>
              </a:gs>
              <a:gs pos="100000">
                <a:srgbClr val="2C7EFF"/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Trop</a:t>
            </a:r>
            <a:endParaRPr sz="2400" b="1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368054" y="2773370"/>
            <a:ext cx="5974308" cy="227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rgbClr val="374151"/>
                </a:solidFill>
                <a:latin typeface="Poppins"/>
                <a:ea typeface="Poppins"/>
                <a:cs typeface="Poppins"/>
                <a:sym typeface="Poppins"/>
              </a:rPr>
              <a:t>Le marché immobilier en Tunisie est fragmenté et peu transparent. Les plateformes existantes ne combinent pas carte interactive, filtres intelligents et gestion efficace des leads.</a:t>
            </a:r>
            <a:endParaRPr/>
          </a:p>
          <a:p>
            <a:pPr marL="342900" marR="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>
              <a:solidFill>
                <a:srgbClr val="37415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marR="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>
              <a:solidFill>
                <a:srgbClr val="37415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rgbClr val="374151"/>
                </a:solidFill>
                <a:latin typeface="Poppins"/>
                <a:ea typeface="Poppins"/>
                <a:cs typeface="Poppins"/>
                <a:sym typeface="Poppins"/>
              </a:rPr>
              <a:t>Cela crée des frictions majeures pour les acheteurs comme pour les promoteurs.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37415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rgbClr val="374151"/>
                </a:solidFill>
                <a:latin typeface="Poppins"/>
                <a:ea typeface="Poppins"/>
                <a:cs typeface="Poppins"/>
                <a:sym typeface="Poppins"/>
              </a:rPr>
              <a:t>Les promoteurs ont du mal à toucher efficacement leurs clients potentiels et à gérer les leads.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37415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rgbClr val="374151"/>
                </a:solidFill>
                <a:latin typeface="Poppins"/>
                <a:ea typeface="Poppins"/>
                <a:cs typeface="Poppins"/>
                <a:sym typeface="Poppins"/>
              </a:rPr>
              <a:t>Les plateformes existantes ne combinent pas map interactive + filtres intelligents + gestion leads.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9144787" y="1698358"/>
            <a:ext cx="2681905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0" i="0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 temps perdu par les acheteurs à chercher des projets sans informations fiables.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9239250" y="4278179"/>
            <a:ext cx="386876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-FR" sz="1800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</a:t>
            </a:r>
            <a:r>
              <a:rPr lang="fr-FR" sz="1800" b="0" i="0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 coût d'acquisition pour les promoteurs peinant à gérer efficacement leurs leads.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3816855" y="839488"/>
            <a:ext cx="8329685" cy="6158488"/>
          </a:xfrm>
          <a:prstGeom prst="roundRect">
            <a:avLst>
              <a:gd name="adj" fmla="val 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0" y="-83760"/>
            <a:ext cx="12192000" cy="733776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197256" y="49496"/>
            <a:ext cx="724049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Solution Immo24.tn</a:t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197256" y="1204631"/>
            <a:ext cx="5632044" cy="1277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1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3600" b="1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Immo24.tn</a:t>
            </a:r>
            <a:endParaRPr sz="3600" b="1" i="0" u="none" strike="noStrike" cap="none">
              <a:solidFill>
                <a:srgbClr val="3B82F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10538974" y="1868574"/>
            <a:ext cx="1485900" cy="1552275"/>
          </a:xfrm>
          <a:prstGeom prst="ellipse">
            <a:avLst/>
          </a:prstGeom>
          <a:gradFill>
            <a:gsLst>
              <a:gs pos="0">
                <a:srgbClr val="194996"/>
              </a:gs>
              <a:gs pos="50000">
                <a:srgbClr val="2569D8"/>
              </a:gs>
              <a:gs pos="100000">
                <a:srgbClr val="2C7EFF"/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lang="fr-FR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🏢 </a:t>
            </a:r>
            <a:r>
              <a:rPr lang="fr-F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Résidences neuves prêtes à livrer </a:t>
            </a:r>
            <a:endParaRPr/>
          </a:p>
        </p:txBody>
      </p:sp>
      <p:sp>
        <p:nvSpPr>
          <p:cNvPr id="106" name="Google Shape;106;p3"/>
          <p:cNvSpPr txBox="1"/>
          <p:nvPr/>
        </p:nvSpPr>
        <p:spPr>
          <a:xfrm>
            <a:off x="368054" y="2773370"/>
            <a:ext cx="3051802" cy="3133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374151"/>
                </a:solidFill>
                <a:latin typeface="Poppins"/>
                <a:ea typeface="Poppins"/>
                <a:cs typeface="Poppins"/>
                <a:sym typeface="Poppins"/>
              </a:rPr>
              <a:t>Dédiée à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l'immobilier en Tunisie</a:t>
            </a:r>
            <a:endParaRPr dirty="0">
              <a:solidFill>
                <a:srgbClr val="FF000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37415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i="0" dirty="0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Une plateforme moderne centralisant tous les projets et les petites annonces en Tunisie. Nous travaillons directement avec les promoteurs et les agences </a:t>
            </a:r>
            <a:r>
              <a:rPr lang="fr-FR" sz="1400" b="0" i="0" dirty="0" err="1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immobilieres</a:t>
            </a:r>
            <a:r>
              <a:rPr lang="fr-FR" sz="1400" b="0" i="0" dirty="0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les plus fiables pour garantir des informations fiables et de qualité.</a:t>
            </a:r>
            <a:endParaRPr sz="14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6039093" y="3549453"/>
            <a:ext cx="35052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 i="0" dirty="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📍</a:t>
            </a:r>
            <a:r>
              <a:rPr lang="fr-FR" sz="1800" b="1" i="0" dirty="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Focus de lancement :</a:t>
            </a:r>
            <a:br>
              <a:rPr lang="fr-F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-FR" sz="1800" b="1" i="0" dirty="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Grand Tunis uniquement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9300618" y="731027"/>
            <a:ext cx="1485900" cy="1552275"/>
          </a:xfrm>
          <a:prstGeom prst="ellipse">
            <a:avLst/>
          </a:prstGeom>
          <a:gradFill>
            <a:gsLst>
              <a:gs pos="0">
                <a:srgbClr val="194996"/>
              </a:gs>
              <a:gs pos="50000">
                <a:srgbClr val="2569D8"/>
              </a:gs>
              <a:gs pos="100000">
                <a:srgbClr val="2C7EFF"/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🏗️ </a:t>
            </a:r>
            <a:r>
              <a:rPr lang="fr-FR" sz="11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Appartements en construction </a:t>
            </a:r>
            <a:endParaRPr sz="9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10473138" y="5165429"/>
            <a:ext cx="1485900" cy="1552275"/>
          </a:xfrm>
          <a:prstGeom prst="ellipse">
            <a:avLst/>
          </a:prstGeom>
          <a:gradFill>
            <a:gsLst>
              <a:gs pos="0">
                <a:srgbClr val="194996"/>
              </a:gs>
              <a:gs pos="50000">
                <a:srgbClr val="2569D8"/>
              </a:gs>
              <a:gs pos="100000">
                <a:srgbClr val="2C7EFF"/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2400"/>
            </a:pPr>
            <a:r>
              <a:rPr lang="fr-FR" sz="2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🏠</a:t>
            </a:r>
            <a:r>
              <a:rPr lang="fr-FR" sz="1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2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Laucaux</a:t>
            </a:r>
            <a:r>
              <a:rPr lang="fr-FR" sz="1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2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industruels</a:t>
            </a:r>
            <a:r>
              <a:rPr lang="fr-FR" sz="1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900" dirty="0">
                <a:solidFill>
                  <a:schemeClr val="bg1"/>
                </a:solidFill>
              </a:rPr>
              <a:t>(V/L)</a:t>
            </a:r>
            <a:endParaRPr lang="fr-FR" sz="900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9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9300618" y="1924729"/>
            <a:ext cx="1485900" cy="1552275"/>
          </a:xfrm>
          <a:prstGeom prst="ellipse">
            <a:avLst/>
          </a:prstGeom>
          <a:gradFill>
            <a:gsLst>
              <a:gs pos="0">
                <a:srgbClr val="194996"/>
              </a:gs>
              <a:gs pos="50000">
                <a:srgbClr val="2569D8"/>
              </a:gs>
              <a:gs pos="100000">
                <a:srgbClr val="2C7EFF"/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fr-FR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🏘️</a:t>
            </a:r>
            <a:r>
              <a:rPr lang="fr-F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Projets sur plan 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09;p3"/>
          <p:cNvSpPr/>
          <p:nvPr/>
        </p:nvSpPr>
        <p:spPr>
          <a:xfrm>
            <a:off x="9142961" y="5248483"/>
            <a:ext cx="1485900" cy="1552275"/>
          </a:xfrm>
          <a:prstGeom prst="ellipse">
            <a:avLst/>
          </a:prstGeom>
          <a:gradFill>
            <a:gsLst>
              <a:gs pos="0">
                <a:srgbClr val="194996"/>
              </a:gs>
              <a:gs pos="50000">
                <a:srgbClr val="2569D8"/>
              </a:gs>
              <a:gs pos="100000">
                <a:srgbClr val="2C7EFF"/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fontAlgn="b"/>
            <a:r>
              <a:rPr lang="fr-FR" sz="2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🏠</a:t>
            </a:r>
            <a:r>
              <a:rPr lang="fr-FR" sz="1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200" dirty="0">
                <a:solidFill>
                  <a:schemeClr val="bg1"/>
                </a:solidFill>
                <a:ea typeface="Calibri"/>
              </a:rPr>
              <a:t>B</a:t>
            </a:r>
            <a:r>
              <a:rPr lang="fr-FR" sz="1200" dirty="0">
                <a:solidFill>
                  <a:schemeClr val="bg1"/>
                </a:solidFill>
              </a:rPr>
              <a:t>ureaux / Cabinets (V/L)</a:t>
            </a:r>
            <a:endParaRPr lang="fr-FR" sz="1200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fontAlgn="b"/>
            <a:endParaRPr lang="fr-FR" sz="120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Google Shape;109;p3"/>
          <p:cNvSpPr/>
          <p:nvPr/>
        </p:nvSpPr>
        <p:spPr>
          <a:xfrm>
            <a:off x="4404233" y="2014516"/>
            <a:ext cx="1485900" cy="1552275"/>
          </a:xfrm>
          <a:prstGeom prst="ellipse">
            <a:avLst/>
          </a:prstGeom>
          <a:gradFill>
            <a:gsLst>
              <a:gs pos="0">
                <a:srgbClr val="194996"/>
              </a:gs>
              <a:gs pos="50000">
                <a:srgbClr val="2569D8"/>
              </a:gs>
              <a:gs pos="100000">
                <a:srgbClr val="2C7EFF"/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fontAlgn="b"/>
            <a:r>
              <a:rPr lang="fr-FR" sz="2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🏠</a:t>
            </a:r>
            <a:r>
              <a:rPr lang="fr-FR" sz="1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200" dirty="0">
                <a:solidFill>
                  <a:schemeClr val="bg1"/>
                </a:solidFill>
              </a:rPr>
              <a:t>logement meublé (L)</a:t>
            </a:r>
            <a:endParaRPr lang="fr-FR" sz="120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Google Shape;109;p3"/>
          <p:cNvSpPr/>
          <p:nvPr/>
        </p:nvSpPr>
        <p:spPr>
          <a:xfrm>
            <a:off x="10597701" y="722465"/>
            <a:ext cx="1485900" cy="1552275"/>
          </a:xfrm>
          <a:prstGeom prst="ellipse">
            <a:avLst/>
          </a:prstGeom>
          <a:gradFill>
            <a:gsLst>
              <a:gs pos="0">
                <a:srgbClr val="194996"/>
              </a:gs>
              <a:gs pos="50000">
                <a:srgbClr val="2569D8"/>
              </a:gs>
              <a:gs pos="100000">
                <a:srgbClr val="2C7EFF"/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lang="fr-FR" sz="2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🏠</a:t>
            </a:r>
            <a:r>
              <a:rPr lang="fr-FR" sz="1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Projet neuf (V)</a:t>
            </a:r>
            <a:endParaRPr sz="9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09;p3"/>
          <p:cNvSpPr/>
          <p:nvPr/>
        </p:nvSpPr>
        <p:spPr>
          <a:xfrm>
            <a:off x="9232848" y="3989303"/>
            <a:ext cx="1485900" cy="1552275"/>
          </a:xfrm>
          <a:prstGeom prst="ellipse">
            <a:avLst/>
          </a:prstGeom>
          <a:gradFill>
            <a:gsLst>
              <a:gs pos="0">
                <a:srgbClr val="194996"/>
              </a:gs>
              <a:gs pos="50000">
                <a:srgbClr val="2569D8"/>
              </a:gs>
              <a:gs pos="100000">
                <a:srgbClr val="2C7EFF"/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2400"/>
            </a:pPr>
            <a:r>
              <a:rPr lang="fr-FR" sz="2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🏠</a:t>
            </a:r>
            <a:r>
              <a:rPr lang="fr-FR" sz="1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Locaux </a:t>
            </a:r>
            <a:r>
              <a:rPr lang="fr-FR" sz="1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Commerciaux </a:t>
            </a:r>
            <a:r>
              <a:rPr lang="fr-FR" sz="900" dirty="0">
                <a:solidFill>
                  <a:schemeClr val="bg1"/>
                </a:solidFill>
              </a:rPr>
              <a:t>(V/L)</a:t>
            </a:r>
            <a:endParaRPr lang="fr-FR" sz="900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9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09;p3"/>
          <p:cNvSpPr/>
          <p:nvPr/>
        </p:nvSpPr>
        <p:spPr>
          <a:xfrm>
            <a:off x="4576482" y="4937802"/>
            <a:ext cx="1485900" cy="1552275"/>
          </a:xfrm>
          <a:prstGeom prst="ellipse">
            <a:avLst/>
          </a:prstGeom>
          <a:gradFill>
            <a:gsLst>
              <a:gs pos="0">
                <a:srgbClr val="194996"/>
              </a:gs>
              <a:gs pos="50000">
                <a:srgbClr val="2569D8"/>
              </a:gs>
              <a:gs pos="100000">
                <a:srgbClr val="2C7EFF"/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fontAlgn="b"/>
            <a:r>
              <a:rPr lang="fr-FR" sz="2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🏠</a:t>
            </a:r>
            <a:r>
              <a:rPr lang="fr-FR" sz="1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200" dirty="0">
                <a:solidFill>
                  <a:schemeClr val="bg1"/>
                </a:solidFill>
                <a:ea typeface="Calibri"/>
              </a:rPr>
              <a:t>Terrains </a:t>
            </a:r>
            <a:r>
              <a:rPr lang="fr-FR" sz="1200" dirty="0">
                <a:solidFill>
                  <a:schemeClr val="bg1"/>
                </a:solidFill>
              </a:rPr>
              <a:t>(V/L)</a:t>
            </a:r>
            <a:endParaRPr lang="fr-FR" sz="1200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fontAlgn="b"/>
            <a:endParaRPr lang="fr-FR" sz="120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Google Shape;109;p3"/>
          <p:cNvSpPr/>
          <p:nvPr/>
        </p:nvSpPr>
        <p:spPr>
          <a:xfrm>
            <a:off x="4576482" y="3748055"/>
            <a:ext cx="1485900" cy="1552275"/>
          </a:xfrm>
          <a:prstGeom prst="ellipse">
            <a:avLst/>
          </a:prstGeom>
          <a:gradFill>
            <a:gsLst>
              <a:gs pos="0">
                <a:srgbClr val="194996"/>
              </a:gs>
              <a:gs pos="50000">
                <a:srgbClr val="2569D8"/>
              </a:gs>
              <a:gs pos="100000">
                <a:srgbClr val="2C7EFF"/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fontAlgn="b"/>
            <a:r>
              <a:rPr lang="fr-FR" sz="2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🏠</a:t>
            </a:r>
            <a:r>
              <a:rPr lang="fr-FR" sz="1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200" dirty="0">
                <a:solidFill>
                  <a:schemeClr val="bg1"/>
                </a:solidFill>
                <a:ea typeface="Calibri"/>
              </a:rPr>
              <a:t>Fermes </a:t>
            </a:r>
            <a:r>
              <a:rPr lang="fr-FR" sz="1200" dirty="0">
                <a:solidFill>
                  <a:schemeClr val="bg1"/>
                </a:solidFill>
              </a:rPr>
              <a:t>(V/L)</a:t>
            </a:r>
            <a:endParaRPr lang="fr-FR" sz="1200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fontAlgn="b"/>
            <a:endParaRPr lang="fr-FR" sz="120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Google Shape;109;p3"/>
          <p:cNvSpPr/>
          <p:nvPr/>
        </p:nvSpPr>
        <p:spPr>
          <a:xfrm>
            <a:off x="10538974" y="3933148"/>
            <a:ext cx="1485900" cy="1552275"/>
          </a:xfrm>
          <a:prstGeom prst="ellipse">
            <a:avLst/>
          </a:prstGeom>
          <a:gradFill>
            <a:gsLst>
              <a:gs pos="0">
                <a:srgbClr val="194996"/>
              </a:gs>
              <a:gs pos="50000">
                <a:srgbClr val="2569D8"/>
              </a:gs>
              <a:gs pos="100000">
                <a:srgbClr val="2C7EFF"/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2400"/>
            </a:pPr>
            <a:r>
              <a:rPr lang="fr-FR" sz="2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🏠</a:t>
            </a:r>
            <a:r>
              <a:rPr lang="fr-FR" sz="1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2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Depots</a:t>
            </a:r>
            <a:r>
              <a:rPr lang="fr-FR" sz="1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200" dirty="0">
                <a:solidFill>
                  <a:schemeClr val="bg1"/>
                </a:solidFill>
              </a:rPr>
              <a:t>(V/L)</a:t>
            </a:r>
            <a:endParaRPr lang="fr-FR" sz="1200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lang="fr-FR" sz="1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09;p3"/>
          <p:cNvSpPr/>
          <p:nvPr/>
        </p:nvSpPr>
        <p:spPr>
          <a:xfrm>
            <a:off x="4394660" y="1011779"/>
            <a:ext cx="1485900" cy="1552275"/>
          </a:xfrm>
          <a:prstGeom prst="ellipse">
            <a:avLst/>
          </a:prstGeom>
          <a:gradFill>
            <a:gsLst>
              <a:gs pos="0">
                <a:srgbClr val="194996"/>
              </a:gs>
              <a:gs pos="50000">
                <a:srgbClr val="2569D8"/>
              </a:gs>
              <a:gs pos="100000">
                <a:srgbClr val="2C7EFF"/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fontAlgn="b"/>
            <a:r>
              <a:rPr lang="fr-FR" sz="2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🏠</a:t>
            </a:r>
            <a:r>
              <a:rPr lang="fr-FR" sz="1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200" dirty="0">
                <a:solidFill>
                  <a:schemeClr val="bg1"/>
                </a:solidFill>
              </a:rPr>
              <a:t>logement de vacances (L)</a:t>
            </a:r>
            <a:endParaRPr lang="fr-FR" sz="1200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fontAlgn="b"/>
            <a:r>
              <a:rPr lang="fr-FR" sz="1200" dirty="0">
                <a:solidFill>
                  <a:schemeClr val="bg1"/>
                </a:solidFill>
              </a:rPr>
              <a:t> </a:t>
            </a:r>
            <a:endParaRPr lang="fr-FR" sz="120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/>
          <p:nvPr/>
        </p:nvSpPr>
        <p:spPr>
          <a:xfrm>
            <a:off x="0" y="-34264"/>
            <a:ext cx="12192000" cy="733776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7210425" y="855163"/>
            <a:ext cx="635317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000"/>
              <a:buFont typeface="EB Garamond"/>
              <a:buNone/>
            </a:pPr>
            <a:r>
              <a:rPr lang="fr-FR" sz="2000" b="1" i="0">
                <a:solidFill>
                  <a:srgbClr val="1E3A8A"/>
                </a:solidFill>
                <a:latin typeface="EB Garamond"/>
                <a:ea typeface="EB Garamond"/>
                <a:cs typeface="EB Garamond"/>
                <a:sym typeface="EB Garamond"/>
              </a:rPr>
              <a:t>Parcours utilisateur</a:t>
            </a:r>
            <a:endParaRPr/>
          </a:p>
        </p:txBody>
      </p:sp>
      <p:sp>
        <p:nvSpPr>
          <p:cNvPr id="119" name="Google Shape;119;p4"/>
          <p:cNvSpPr txBox="1"/>
          <p:nvPr/>
        </p:nvSpPr>
        <p:spPr>
          <a:xfrm>
            <a:off x="197256" y="49496"/>
            <a:ext cx="724049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Solution Immo24.tn</a:t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298989" y="783272"/>
            <a:ext cx="5498059" cy="5694655"/>
          </a:xfrm>
          <a:prstGeom prst="roundRect">
            <a:avLst>
              <a:gd name="adj" fmla="val 948"/>
            </a:avLst>
          </a:prstGeom>
          <a:solidFill>
            <a:srgbClr val="4285F4"/>
          </a:solidFill>
          <a:ln>
            <a:noFill/>
          </a:ln>
          <a:effectLst>
            <a:outerShdw blurRad="241300" dist="101600" dir="5400000" algn="bl" rotWithShape="0">
              <a:srgbClr val="4285F4">
                <a:alpha val="3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769697" y="1925956"/>
            <a:ext cx="4381805" cy="9144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1072819" y="907542"/>
            <a:ext cx="3660343" cy="295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Poppins"/>
              <a:buNone/>
            </a:pPr>
            <a:r>
              <a:rPr lang="fr-FR" sz="19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Objectifs du projet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778993" y="1695068"/>
            <a:ext cx="4302252" cy="486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AutoNum type="arabicPeriod"/>
            </a:pPr>
            <a:r>
              <a:rPr lang="fr-FR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Aux utilisateurs / acheteurs :</a:t>
            </a:r>
            <a:endParaRPr/>
          </a:p>
          <a:p>
            <a:pPr marL="22860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975741" y="1982428"/>
            <a:ext cx="4302252" cy="486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fr-F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Explorer les projets immobiliers neufs / annonces des agences via une carte interactive et une liste synchronisée.</a:t>
            </a:r>
            <a:endParaRPr dirty="0"/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fr-F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Filtrer selon prix, localisation, statut du projet...</a:t>
            </a:r>
            <a:r>
              <a:rPr lang="fr-FR" sz="12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etc</a:t>
            </a:r>
            <a:endParaRPr dirty="0"/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fr-F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Contacter directement le promoteur  /agence via un bouton </a:t>
            </a:r>
            <a:r>
              <a:rPr lang="fr-FR" sz="12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Whatsupp</a:t>
            </a:r>
            <a:r>
              <a:rPr lang="fr-F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/ prise de RDV / formulaire.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fr-FR" sz="1200" dirty="0">
                <a:solidFill>
                  <a:srgbClr val="FFFFFF"/>
                </a:solidFill>
                <a:latin typeface="Poppins"/>
                <a:cs typeface="Poppins"/>
                <a:sym typeface="Poppins"/>
              </a:rPr>
              <a:t>Avoir des contacts avec des corps de </a:t>
            </a:r>
            <a:r>
              <a:rPr lang="fr-FR" sz="1200" dirty="0" err="1">
                <a:solidFill>
                  <a:srgbClr val="FFFFFF"/>
                </a:solidFill>
                <a:latin typeface="Poppins"/>
                <a:cs typeface="Poppins"/>
                <a:sym typeface="Poppins"/>
              </a:rPr>
              <a:t>metiers</a:t>
            </a:r>
            <a:r>
              <a:rPr lang="fr-FR" sz="1200" dirty="0">
                <a:solidFill>
                  <a:srgbClr val="FFFFFF"/>
                </a:solidFill>
                <a:latin typeface="Poppins"/>
                <a:cs typeface="Poppins"/>
                <a:sym typeface="Poppins"/>
              </a:rPr>
              <a:t> en relation avec l’ </a:t>
            </a:r>
            <a:r>
              <a:rPr lang="fr-FR" sz="1200" dirty="0" err="1">
                <a:solidFill>
                  <a:srgbClr val="FFFFFF"/>
                </a:solidFill>
                <a:latin typeface="Poppins"/>
                <a:cs typeface="Poppins"/>
                <a:sym typeface="Poppins"/>
              </a:rPr>
              <a:t>immobiilier</a:t>
            </a:r>
            <a:endParaRPr dirty="0"/>
          </a:p>
        </p:txBody>
      </p:sp>
      <p:sp>
        <p:nvSpPr>
          <p:cNvPr id="125" name="Google Shape;125;p4"/>
          <p:cNvSpPr txBox="1"/>
          <p:nvPr/>
        </p:nvSpPr>
        <p:spPr>
          <a:xfrm>
            <a:off x="740893" y="1399723"/>
            <a:ext cx="4869788" cy="242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Créer une plateforme web responsive qui permet 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740893" y="3357254"/>
            <a:ext cx="4302252" cy="486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Aux promoteurs / Agences </a:t>
            </a:r>
            <a:r>
              <a:rPr lang="fr-FR" sz="12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immobilieres</a:t>
            </a:r>
            <a:r>
              <a:rPr lang="fr-F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dirty="0"/>
          </a:p>
          <a:p>
            <a:pPr marL="22860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975741" y="3843715"/>
            <a:ext cx="4302252" cy="486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fr-F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Gérer leurs annonces facilement depuis un backoffice simple.</a:t>
            </a:r>
            <a:endParaRPr dirty="0"/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fr-F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Recevoir des leads qualifiés et suivre leur statut.</a:t>
            </a:r>
            <a:endParaRPr dirty="0"/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fr-FR" sz="1200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gérer des bannières publicitaires.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929143" y="4480557"/>
            <a:ext cx="4302252" cy="486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 Administrateur de la plateforme:</a:t>
            </a:r>
            <a:endParaRPr dirty="0"/>
          </a:p>
          <a:p>
            <a:pPr marL="22860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1072819" y="4967018"/>
            <a:ext cx="4580569" cy="486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fr-F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Valider ou refuser les projets / annonces publiés par les promoteurs / agences.</a:t>
            </a:r>
            <a:endParaRPr dirty="0"/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fr-F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Gérer les utilisateurs et leurs rôles (promoteurs, agences, </a:t>
            </a:r>
            <a:r>
              <a:rPr lang="fr-FR" sz="12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admins</a:t>
            </a:r>
            <a:r>
              <a:rPr lang="fr-F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dirty="0"/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fr-F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Suivre les statistiques globales et le trafic de la plateforme. (KPI)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fr-FR" sz="1200" dirty="0">
                <a:solidFill>
                  <a:srgbClr val="FFFFFF"/>
                </a:solidFill>
                <a:latin typeface="Poppins"/>
                <a:cs typeface="Poppins"/>
                <a:sym typeface="Poppins"/>
              </a:rPr>
              <a:t>Activer / </a:t>
            </a:r>
            <a:r>
              <a:rPr lang="fr-FR" sz="1200" dirty="0" err="1">
                <a:solidFill>
                  <a:srgbClr val="FFFFFF"/>
                </a:solidFill>
                <a:latin typeface="Poppins"/>
                <a:cs typeface="Poppins"/>
                <a:sym typeface="Poppins"/>
              </a:rPr>
              <a:t>deactiver</a:t>
            </a:r>
            <a:r>
              <a:rPr lang="fr-FR" sz="1200" dirty="0">
                <a:solidFill>
                  <a:srgbClr val="FFFFFF"/>
                </a:solidFill>
                <a:latin typeface="Poppins"/>
                <a:cs typeface="Poppins"/>
                <a:sym typeface="Poppins"/>
              </a:rPr>
              <a:t> le </a:t>
            </a:r>
            <a:r>
              <a:rPr lang="fr-FR" sz="1200" dirty="0" err="1">
                <a:solidFill>
                  <a:srgbClr val="FFFFFF"/>
                </a:solidFill>
                <a:latin typeface="Poppins"/>
                <a:cs typeface="Poppins"/>
                <a:sym typeface="Poppins"/>
              </a:rPr>
              <a:t>workflow</a:t>
            </a:r>
            <a:endParaRPr lang="fr-FR" sz="1200" dirty="0">
              <a:solidFill>
                <a:srgbClr val="FFFFFF"/>
              </a:solidFill>
              <a:latin typeface="Poppins"/>
              <a:cs typeface="Poppins"/>
              <a:sym typeface="Poppin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333488" y="1517904"/>
            <a:ext cx="3941064" cy="663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Arrivée sur la carte</a:t>
            </a:r>
          </a:p>
        </p:txBody>
      </p:sp>
      <p:cxnSp>
        <p:nvCxnSpPr>
          <p:cNvPr id="4" name="Connecteur droit avec flèche 3"/>
          <p:cNvCxnSpPr>
            <a:stCxn id="2" idx="2"/>
          </p:cNvCxnSpPr>
          <p:nvPr/>
        </p:nvCxnSpPr>
        <p:spPr>
          <a:xfrm flipH="1">
            <a:off x="9299448" y="2181529"/>
            <a:ext cx="4572" cy="7902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328916" y="2441714"/>
            <a:ext cx="3941064" cy="663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Affiner la recherche (</a:t>
            </a:r>
            <a:r>
              <a:rPr lang="fr-FR" dirty="0" err="1"/>
              <a:t>filte</a:t>
            </a:r>
            <a:r>
              <a:rPr lang="fr-FR" dirty="0"/>
              <a:t>, barre de recherche)</a:t>
            </a:r>
          </a:p>
        </p:txBody>
      </p:sp>
      <p:cxnSp>
        <p:nvCxnSpPr>
          <p:cNvPr id="20" name="Connecteur droit avec flèche 19"/>
          <p:cNvCxnSpPr/>
          <p:nvPr/>
        </p:nvCxnSpPr>
        <p:spPr>
          <a:xfrm flipH="1">
            <a:off x="9266682" y="3205348"/>
            <a:ext cx="2286" cy="447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328916" y="3397159"/>
            <a:ext cx="3941064" cy="663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Cliquer sur un projet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8916" y="4242951"/>
            <a:ext cx="3941064" cy="663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Détail projet</a:t>
            </a:r>
          </a:p>
        </p:txBody>
      </p:sp>
      <p:cxnSp>
        <p:nvCxnSpPr>
          <p:cNvPr id="23" name="Connecteur droit avec flèche 22"/>
          <p:cNvCxnSpPr/>
          <p:nvPr/>
        </p:nvCxnSpPr>
        <p:spPr>
          <a:xfrm>
            <a:off x="9266682" y="4144703"/>
            <a:ext cx="0" cy="579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328916" y="5088743"/>
            <a:ext cx="3941064" cy="663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Cliquer sur annonce</a:t>
            </a:r>
          </a:p>
        </p:txBody>
      </p:sp>
      <p:cxnSp>
        <p:nvCxnSpPr>
          <p:cNvPr id="27" name="Connecteur droit avec flèche 26"/>
          <p:cNvCxnSpPr/>
          <p:nvPr/>
        </p:nvCxnSpPr>
        <p:spPr>
          <a:xfrm flipH="1">
            <a:off x="9264396" y="5333949"/>
            <a:ext cx="2286" cy="447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293864" y="5934535"/>
            <a:ext cx="3941064" cy="663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Détail annonce (contacter </a:t>
            </a:r>
            <a:r>
              <a:rPr lang="fr-FR" dirty="0" err="1"/>
              <a:t>whats</a:t>
            </a:r>
            <a:r>
              <a:rPr lang="fr-FR" dirty="0"/>
              <a:t> </a:t>
            </a:r>
            <a:r>
              <a:rPr lang="fr-FR" dirty="0" err="1"/>
              <a:t>app</a:t>
            </a:r>
            <a:r>
              <a:rPr lang="fr-FR" dirty="0"/>
              <a:t>, Télécharger la </a:t>
            </a:r>
            <a:r>
              <a:rPr lang="fr-FR" dirty="0" err="1"/>
              <a:t>brochure,telécharger</a:t>
            </a:r>
            <a:r>
              <a:rPr lang="fr-FR" dirty="0"/>
              <a:t> le plan, mettre en favoris)</a:t>
            </a:r>
          </a:p>
        </p:txBody>
      </p:sp>
      <p:cxnSp>
        <p:nvCxnSpPr>
          <p:cNvPr id="29" name="Connecteur droit avec flèche 28"/>
          <p:cNvCxnSpPr/>
          <p:nvPr/>
        </p:nvCxnSpPr>
        <p:spPr>
          <a:xfrm>
            <a:off x="9255252" y="4892436"/>
            <a:ext cx="35052" cy="196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/>
          <p:cNvCxnSpPr/>
          <p:nvPr/>
        </p:nvCxnSpPr>
        <p:spPr>
          <a:xfrm>
            <a:off x="9124188" y="5668762"/>
            <a:ext cx="35052" cy="196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en angle 8"/>
          <p:cNvCxnSpPr>
            <a:stCxn id="19" idx="3"/>
            <a:endCxn id="24" idx="3"/>
          </p:cNvCxnSpPr>
          <p:nvPr/>
        </p:nvCxnSpPr>
        <p:spPr>
          <a:xfrm>
            <a:off x="11269980" y="2773527"/>
            <a:ext cx="12700" cy="2647029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92053"/>
            </a:gs>
            <a:gs pos="100000">
              <a:srgbClr val="0B0E25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/>
          <p:nvPr/>
        </p:nvSpPr>
        <p:spPr>
          <a:xfrm>
            <a:off x="7905902" y="-1429207"/>
            <a:ext cx="5715000" cy="5715000"/>
          </a:xfrm>
          <a:prstGeom prst="ellipse">
            <a:avLst/>
          </a:prstGeom>
          <a:solidFill>
            <a:srgbClr val="3B82F6">
              <a:alpha val="509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761695" y="2464819"/>
            <a:ext cx="7424362" cy="144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oppins"/>
              <a:buNone/>
            </a:pPr>
            <a:r>
              <a:rPr lang="fr-FR" sz="4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Modèle économique</a:t>
            </a:r>
            <a:endParaRPr sz="4800" b="1" i="0" u="none" strike="noStrike" cap="none">
              <a:solidFill>
                <a:srgbClr val="3B82F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6" name="Google Shape;136;p5"/>
          <p:cNvSpPr/>
          <p:nvPr/>
        </p:nvSpPr>
        <p:spPr>
          <a:xfrm rot="5400000">
            <a:off x="230512" y="800844"/>
            <a:ext cx="719187" cy="1180216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28C6FF"/>
          </a:solidFill>
          <a:ln>
            <a:noFill/>
          </a:ln>
          <a:effectLst>
            <a:outerShdw blurRad="254000" dist="127000" dir="5400000" algn="t" rotWithShape="0">
              <a:schemeClr val="accent4">
                <a:alpha val="20000"/>
              </a:schemeClr>
            </a:outerShdw>
          </a:effectLst>
        </p:spPr>
        <p:txBody>
          <a:bodyPr spcFirstLastPara="1" wrap="square" lIns="243825" tIns="45700" rIns="2438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</a:pPr>
            <a:endParaRPr sz="2133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109270" y="1113848"/>
            <a:ext cx="961669" cy="554208"/>
          </a:xfrm>
          <a:prstGeom prst="roundRect">
            <a:avLst>
              <a:gd name="adj" fmla="val 27835"/>
            </a:avLst>
          </a:prstGeom>
          <a:noFill/>
          <a:ln>
            <a:noFill/>
          </a:ln>
          <a:effectLst>
            <a:outerShdw blurRad="254000" dist="127000" dir="5400000" algn="t" rotWithShape="0">
              <a:schemeClr val="accent4">
                <a:alpha val="20000"/>
              </a:schemeClr>
            </a:outerShdw>
          </a:effectLst>
        </p:spPr>
        <p:txBody>
          <a:bodyPr spcFirstLastPara="1" wrap="square" lIns="243825" tIns="45700" rIns="2438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Montserrat"/>
              <a:buNone/>
            </a:pPr>
            <a:r>
              <a:rPr lang="fr-FR" sz="2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2133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/>
          <p:nvPr/>
        </p:nvSpPr>
        <p:spPr>
          <a:xfrm>
            <a:off x="0" y="-83760"/>
            <a:ext cx="12192000" cy="733776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197256" y="49496"/>
            <a:ext cx="724049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Solution Immo24.tn</a:t>
            </a:r>
            <a:endParaRPr/>
          </a:p>
        </p:txBody>
      </p:sp>
      <p:sp>
        <p:nvSpPr>
          <p:cNvPr id="145" name="Google Shape;145;p6"/>
          <p:cNvSpPr txBox="1"/>
          <p:nvPr/>
        </p:nvSpPr>
        <p:spPr>
          <a:xfrm>
            <a:off x="197256" y="1204631"/>
            <a:ext cx="5632044" cy="1277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1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Modèle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3600" b="1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économique</a:t>
            </a:r>
            <a:endParaRPr sz="3600" b="1" i="0" u="none" strike="noStrike" cap="none">
              <a:solidFill>
                <a:srgbClr val="3B82F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368053" y="2773370"/>
            <a:ext cx="3939996" cy="227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37415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i="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 modèle de revenus prévisible et stable, basé sur des abonnements récurrents et la monétisation des projets pour les promoteurs immobiliers.</a:t>
            </a:r>
            <a:endParaRPr sz="1400" b="0" i="0" u="none" strike="noStrike" cap="none" dirty="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6874990" y="1344858"/>
            <a:ext cx="6553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 i="0" dirty="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Abonnement </a:t>
            </a:r>
            <a:r>
              <a:rPr lang="fr-FR" sz="1800" b="1" dirty="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agence immobilière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5153025" y="1745508"/>
            <a:ext cx="7038975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i="0" dirty="0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Les agences paient un forfait mensuel (accès illimité)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rgbClr val="6B7280"/>
                </a:solidFill>
                <a:latin typeface="JetBrains Mono"/>
                <a:cs typeface="JetBrains Mono"/>
                <a:sym typeface="JetBrains Mono"/>
              </a:rPr>
              <a:t>Les promoteurs paient pour chaque  projet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Gratuit pour particuliers : attirer beaucoup d’utilisateurs</a:t>
            </a:r>
            <a:endParaRPr dirty="0"/>
          </a:p>
        </p:txBody>
      </p:sp>
      <p:pic>
        <p:nvPicPr>
          <p:cNvPr id="149" name="Google Shape;149;p6" descr="Une image contenant logo, Graphique, Police, Bleu électrique&#10;&#10;Le contenu généré par l’IA peut être incorrect."/>
          <p:cNvPicPr preferRelativeResize="0"/>
          <p:nvPr/>
        </p:nvPicPr>
        <p:blipFill rotWithShape="1">
          <a:blip r:embed="rId3">
            <a:alphaModFix/>
          </a:blip>
          <a:srcRect l="6558" t="23562" r="8927" b="18373"/>
          <a:stretch/>
        </p:blipFill>
        <p:spPr>
          <a:xfrm>
            <a:off x="5533242" y="913165"/>
            <a:ext cx="1341748" cy="7337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" name="Google Shape;150;p6"/>
          <p:cNvCxnSpPr/>
          <p:nvPr/>
        </p:nvCxnSpPr>
        <p:spPr>
          <a:xfrm>
            <a:off x="5153025" y="3845904"/>
            <a:ext cx="6515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1" name="Google Shape;151;p6"/>
          <p:cNvSpPr txBox="1"/>
          <p:nvPr/>
        </p:nvSpPr>
        <p:spPr>
          <a:xfrm>
            <a:off x="5153025" y="3845904"/>
            <a:ext cx="9291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 dirty="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Services</a:t>
            </a:r>
            <a:endParaRPr dirty="0"/>
          </a:p>
        </p:txBody>
      </p:sp>
      <p:sp>
        <p:nvSpPr>
          <p:cNvPr id="153" name="Google Shape;153;p6"/>
          <p:cNvSpPr txBox="1"/>
          <p:nvPr/>
        </p:nvSpPr>
        <p:spPr>
          <a:xfrm>
            <a:off x="5218113" y="4284347"/>
            <a:ext cx="764381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 i="0" dirty="0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Services Premium (</a:t>
            </a:r>
            <a:r>
              <a:rPr lang="fr-FR" sz="1800" b="1" i="0" dirty="0" err="1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Upsell</a:t>
            </a:r>
            <a:r>
              <a:rPr lang="fr-FR" sz="1800" b="1" i="0" dirty="0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 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5255132" y="4869663"/>
            <a:ext cx="6834759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• Mise en avant dans la </a:t>
            </a:r>
            <a:r>
              <a:rPr lang="fr-FR" sz="1800" dirty="0" err="1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map</a:t>
            </a:r>
            <a:r>
              <a:rPr lang="fr-FR" sz="1800" dirty="0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(Pin premium)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la une dans la vue « liste »</a:t>
            </a:r>
            <a:endParaRPr lang="fr-FR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1800" b="0" i="0" dirty="0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Pack marketing (Vidéo, Drone)</a:t>
            </a:r>
            <a:endParaRPr lang="fr-FR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1800" i="1" dirty="0">
                <a:solidFill>
                  <a:srgbClr val="6B7280"/>
                </a:solidFill>
                <a:latin typeface="JetBrains Mono"/>
                <a:ea typeface="Calibri"/>
                <a:cs typeface="JetBrains Mono"/>
                <a:sym typeface="JetBrains Mono"/>
              </a:rPr>
              <a:t>Bannière publicitaire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/>
          <p:nvPr/>
        </p:nvSpPr>
        <p:spPr>
          <a:xfrm>
            <a:off x="0" y="-83760"/>
            <a:ext cx="12192000" cy="733776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197256" y="49496"/>
            <a:ext cx="724049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Solution Immo24.tn</a:t>
            </a:r>
            <a:endParaRPr/>
          </a:p>
        </p:txBody>
      </p:sp>
      <p:sp>
        <p:nvSpPr>
          <p:cNvPr id="145" name="Google Shape;145;p6"/>
          <p:cNvSpPr txBox="1"/>
          <p:nvPr/>
        </p:nvSpPr>
        <p:spPr>
          <a:xfrm>
            <a:off x="197256" y="1204631"/>
            <a:ext cx="771230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1" dirty="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Les packs « agences Immobilières »</a:t>
            </a:r>
            <a:endParaRPr sz="3600" b="1" i="0" u="none" strike="noStrike" cap="none" dirty="0">
              <a:solidFill>
                <a:srgbClr val="3B82F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84048" y="2002536"/>
            <a:ext cx="3090672" cy="2240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30 Annonces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54768" y="2002536"/>
            <a:ext cx="2749924" cy="3191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50 annonces </a:t>
            </a:r>
          </a:p>
          <a:p>
            <a:pPr algn="ctr"/>
            <a:r>
              <a:rPr lang="fr-FR" dirty="0"/>
              <a:t>+ </a:t>
            </a:r>
          </a:p>
          <a:p>
            <a:pPr algn="ctr"/>
            <a:r>
              <a:rPr lang="fr-FR" dirty="0" err="1"/>
              <a:t>Baniere</a:t>
            </a:r>
            <a:r>
              <a:rPr lang="fr-FR" dirty="0"/>
              <a:t> </a:t>
            </a:r>
            <a:r>
              <a:rPr lang="fr-FR" dirty="0" err="1"/>
              <a:t>deusieme</a:t>
            </a:r>
            <a:r>
              <a:rPr lang="fr-FR" dirty="0"/>
              <a:t> position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99876" y="2002536"/>
            <a:ext cx="4105656" cy="4133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Annonces illimitées</a:t>
            </a:r>
          </a:p>
          <a:p>
            <a:pPr algn="ctr"/>
            <a:r>
              <a:rPr lang="fr-FR" dirty="0" err="1"/>
              <a:t>Baniere</a:t>
            </a:r>
            <a:r>
              <a:rPr lang="fr-FR" dirty="0"/>
              <a:t> </a:t>
            </a:r>
            <a:r>
              <a:rPr lang="fr-FR" dirty="0" err="1"/>
              <a:t>premiere</a:t>
            </a:r>
            <a:r>
              <a:rPr lang="fr-FR" dirty="0"/>
              <a:t> position</a:t>
            </a:r>
          </a:p>
          <a:p>
            <a:pPr algn="ctr"/>
            <a:r>
              <a:rPr lang="fr-FR" dirty="0"/>
              <a:t>Annonces a la une</a:t>
            </a:r>
          </a:p>
          <a:p>
            <a:pPr algn="ctr"/>
            <a:r>
              <a:rPr lang="fr-FR" dirty="0"/>
              <a:t>Mise en avant sur le </a:t>
            </a:r>
            <a:r>
              <a:rPr lang="fr-FR" dirty="0" err="1"/>
              <a:t>map</a:t>
            </a:r>
            <a:endParaRPr lang="fr-FR" dirty="0"/>
          </a:p>
          <a:p>
            <a:pPr algn="ctr"/>
            <a:r>
              <a:rPr lang="fr-FR" dirty="0"/>
              <a:t>Pin </a:t>
            </a:r>
            <a:r>
              <a:rPr lang="fr-FR" dirty="0" err="1"/>
              <a:t>platinium</a:t>
            </a:r>
            <a:r>
              <a:rPr lang="fr-FR" dirty="0"/>
              <a:t> </a:t>
            </a:r>
          </a:p>
        </p:txBody>
      </p:sp>
      <p:sp>
        <p:nvSpPr>
          <p:cNvPr id="16" name="Google Shape;145;p6"/>
          <p:cNvSpPr txBox="1"/>
          <p:nvPr/>
        </p:nvSpPr>
        <p:spPr>
          <a:xfrm>
            <a:off x="669696" y="2405536"/>
            <a:ext cx="319821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1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Sliver</a:t>
            </a:r>
            <a:endParaRPr sz="36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  <p:sp>
        <p:nvSpPr>
          <p:cNvPr id="17" name="Google Shape;145;p6"/>
          <p:cNvSpPr txBox="1"/>
          <p:nvPr/>
        </p:nvSpPr>
        <p:spPr>
          <a:xfrm>
            <a:off x="4449516" y="2397056"/>
            <a:ext cx="146704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Gold</a:t>
            </a:r>
            <a:endParaRPr sz="36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  <p:sp>
        <p:nvSpPr>
          <p:cNvPr id="18" name="Google Shape;145;p6"/>
          <p:cNvSpPr txBox="1"/>
          <p:nvPr/>
        </p:nvSpPr>
        <p:spPr>
          <a:xfrm>
            <a:off x="8237880" y="2405536"/>
            <a:ext cx="213446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1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Platinium</a:t>
            </a:r>
            <a:endParaRPr sz="36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8511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/>
          <p:nvPr/>
        </p:nvSpPr>
        <p:spPr>
          <a:xfrm>
            <a:off x="0" y="-83760"/>
            <a:ext cx="12192000" cy="733776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197256" y="49496"/>
            <a:ext cx="724049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Solution Immo24.tn</a:t>
            </a:r>
            <a:endParaRPr/>
          </a:p>
        </p:txBody>
      </p:sp>
      <p:sp>
        <p:nvSpPr>
          <p:cNvPr id="145" name="Google Shape;145;p6"/>
          <p:cNvSpPr txBox="1"/>
          <p:nvPr/>
        </p:nvSpPr>
        <p:spPr>
          <a:xfrm>
            <a:off x="197256" y="1204631"/>
            <a:ext cx="771230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1" dirty="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Les packs Promoteurs (par projet)</a:t>
            </a:r>
            <a:endParaRPr sz="3600" b="1" i="0" u="none" strike="noStrike" cap="none" dirty="0">
              <a:solidFill>
                <a:srgbClr val="3B82F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84048" y="2002536"/>
            <a:ext cx="3090672" cy="3739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Fiche projet vérifiée par l'équipe Immo24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Présence sur la carte interactive (marqueur standard)</a:t>
            </a:r>
            <a:endParaRPr lang="fr-F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Fiche unités — liste des appartements disponibles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Contact intégré dans la fiche appartement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algn="ctr"/>
            <a:endParaRPr lang="fr-FR" dirty="0"/>
          </a:p>
        </p:txBody>
      </p:sp>
      <p:sp>
        <p:nvSpPr>
          <p:cNvPr id="14" name="Rectangle 13"/>
          <p:cNvSpPr/>
          <p:nvPr/>
        </p:nvSpPr>
        <p:spPr>
          <a:xfrm>
            <a:off x="3620160" y="2002536"/>
            <a:ext cx="4289400" cy="4061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Visite virtuelle 360° produite et hébergée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Vidéo drone du site (tournage + montage 2 min)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Brochure PDF commerciale professionnelle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Bannière </a:t>
            </a:r>
            <a:r>
              <a:rPr lang="fr-FR" dirty="0" err="1"/>
              <a:t>homepage</a:t>
            </a:r>
            <a:r>
              <a:rPr lang="fr-FR" dirty="0"/>
              <a:t> en rotation prioritaire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Page projet dédiée (</a:t>
            </a:r>
            <a:r>
              <a:rPr lang="fr-FR" dirty="0" err="1"/>
              <a:t>minisite</a:t>
            </a:r>
            <a:r>
              <a:rPr lang="fr-FR" dirty="0"/>
              <a:t> intégré à immo24.tn)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Présence sur la carte interactive (marqueur standard)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Fiche unités — liste des appartements disponibles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Contact intégré dans la fiche appartement</a:t>
            </a:r>
          </a:p>
          <a:p>
            <a:endParaRPr lang="fr-FR" b="1" dirty="0"/>
          </a:p>
          <a:p>
            <a:endParaRPr lang="fr-FR" dirty="0"/>
          </a:p>
        </p:txBody>
      </p:sp>
      <p:sp>
        <p:nvSpPr>
          <p:cNvPr id="16" name="Google Shape;145;p6"/>
          <p:cNvSpPr txBox="1"/>
          <p:nvPr/>
        </p:nvSpPr>
        <p:spPr>
          <a:xfrm>
            <a:off x="604824" y="2073911"/>
            <a:ext cx="319821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Lancement</a:t>
            </a:r>
            <a:endParaRPr sz="36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Google Shape;145;p6"/>
          <p:cNvSpPr txBox="1"/>
          <p:nvPr/>
        </p:nvSpPr>
        <p:spPr>
          <a:xfrm>
            <a:off x="4321500" y="2003864"/>
            <a:ext cx="42894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Prestige</a:t>
            </a:r>
            <a:endParaRPr sz="36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  <p:sp>
        <p:nvSpPr>
          <p:cNvPr id="18" name="Google Shape;145;p6"/>
          <p:cNvSpPr txBox="1"/>
          <p:nvPr/>
        </p:nvSpPr>
        <p:spPr>
          <a:xfrm>
            <a:off x="8375040" y="1233391"/>
            <a:ext cx="213446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Prestige</a:t>
            </a:r>
            <a:endParaRPr sz="36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4556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/>
          <p:nvPr/>
        </p:nvSpPr>
        <p:spPr>
          <a:xfrm>
            <a:off x="0" y="0"/>
            <a:ext cx="12192000" cy="109545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1" name="Google Shape;161;p7"/>
          <p:cNvSpPr txBox="1"/>
          <p:nvPr/>
        </p:nvSpPr>
        <p:spPr>
          <a:xfrm>
            <a:off x="215442" y="96698"/>
            <a:ext cx="5828995" cy="419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fr-FR" sz="2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Offre au</a:t>
            </a:r>
            <a:r>
              <a:rPr lang="fr-FR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lancement </a:t>
            </a: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 txBox="1"/>
          <p:nvPr/>
        </p:nvSpPr>
        <p:spPr>
          <a:xfrm>
            <a:off x="390525" y="2355751"/>
            <a:ext cx="60960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3600"/>
              <a:buFont typeface="Calibri"/>
              <a:buNone/>
            </a:pPr>
            <a:r>
              <a:rPr lang="fr-FR" sz="3600" b="1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Offre de</a:t>
            </a:r>
            <a:br>
              <a:rPr lang="fr-FR" sz="3600" b="1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-FR" sz="3600" b="1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Lancement</a:t>
            </a:r>
            <a:endParaRPr/>
          </a:p>
        </p:txBody>
      </p:sp>
      <p:pic>
        <p:nvPicPr>
          <p:cNvPr id="163" name="Google Shape;163;p7" descr="Une image contenant texte, capture d’écran, Police, Bleu électrique&#10;&#10;Le contenu généré par l’IA peut êtr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47122" y="1816855"/>
            <a:ext cx="5803344" cy="396482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7"/>
          <p:cNvSpPr txBox="1"/>
          <p:nvPr/>
        </p:nvSpPr>
        <p:spPr>
          <a:xfrm>
            <a:off x="457139" y="4017417"/>
            <a:ext cx="5089983" cy="130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800"/>
              <a:buFont typeface="EB Garamond"/>
              <a:buNone/>
            </a:pPr>
            <a:r>
              <a:rPr lang="fr-FR" sz="1800" b="1" i="0">
                <a:solidFill>
                  <a:srgbClr val="1E3A8A"/>
                </a:solidFill>
                <a:latin typeface="EB Garamond"/>
                <a:ea typeface="EB Garamond"/>
                <a:cs typeface="EB Garamond"/>
                <a:sym typeface="EB Garamond"/>
              </a:rPr>
              <a:t>Avantages exclusifs :</a:t>
            </a:r>
            <a:endParaRPr/>
          </a:p>
          <a:p>
            <a:pPr marL="0" marR="0" lvl="0" indent="0" algn="l" rtl="0">
              <a:spcBef>
                <a:spcPts val="75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JetBrains Mono"/>
              <a:buNone/>
            </a:pPr>
            <a:r>
              <a:rPr lang="fr-FR" sz="1800" b="0" i="0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Une offre spéciale pour nos premiers partenaires promoteurs, conçue pour maximiser votre visibilité dès le premier jour.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92053"/>
            </a:gs>
            <a:gs pos="100000">
              <a:srgbClr val="0B0E25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/>
          <p:nvPr/>
        </p:nvSpPr>
        <p:spPr>
          <a:xfrm>
            <a:off x="7905902" y="-1429207"/>
            <a:ext cx="5715000" cy="5715000"/>
          </a:xfrm>
          <a:prstGeom prst="ellipse">
            <a:avLst/>
          </a:prstGeom>
          <a:solidFill>
            <a:srgbClr val="3B82F6">
              <a:alpha val="509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0" name="Google Shape;170;p8"/>
          <p:cNvSpPr txBox="1"/>
          <p:nvPr/>
        </p:nvSpPr>
        <p:spPr>
          <a:xfrm>
            <a:off x="761695" y="2464819"/>
            <a:ext cx="7424362" cy="144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oppins"/>
              <a:buNone/>
            </a:pPr>
            <a:r>
              <a:rPr lang="fr-FR" sz="48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Backlog</a:t>
            </a:r>
            <a:r>
              <a:rPr lang="fr-FR" sz="48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fonctionnel  MVP</a:t>
            </a:r>
            <a:endParaRPr sz="4800" b="1" dirty="0">
              <a:solidFill>
                <a:srgbClr val="3B82F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1" name="Google Shape;171;p8"/>
          <p:cNvSpPr/>
          <p:nvPr/>
        </p:nvSpPr>
        <p:spPr>
          <a:xfrm rot="5400000">
            <a:off x="230512" y="800844"/>
            <a:ext cx="719187" cy="1180216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28C6FF"/>
          </a:solidFill>
          <a:ln>
            <a:noFill/>
          </a:ln>
          <a:effectLst>
            <a:outerShdw blurRad="254000" dist="127000" dir="5400000" algn="t" rotWithShape="0">
              <a:schemeClr val="accent4">
                <a:alpha val="20000"/>
              </a:schemeClr>
            </a:outerShdw>
          </a:effectLst>
        </p:spPr>
        <p:txBody>
          <a:bodyPr spcFirstLastPara="1" wrap="square" lIns="243825" tIns="45700" rIns="2438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</a:pPr>
            <a:endParaRPr sz="2133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109270" y="1113848"/>
            <a:ext cx="961669" cy="554208"/>
          </a:xfrm>
          <a:prstGeom prst="roundRect">
            <a:avLst>
              <a:gd name="adj" fmla="val 27835"/>
            </a:avLst>
          </a:prstGeom>
          <a:noFill/>
          <a:ln>
            <a:noFill/>
          </a:ln>
          <a:effectLst>
            <a:outerShdw blurRad="254000" dist="127000" dir="5400000" algn="t" rotWithShape="0">
              <a:schemeClr val="accent4">
                <a:alpha val="20000"/>
              </a:schemeClr>
            </a:outerShdw>
          </a:effectLst>
        </p:spPr>
        <p:txBody>
          <a:bodyPr spcFirstLastPara="1" wrap="square" lIns="243825" tIns="45700" rIns="2438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33"/>
              <a:buFont typeface="Montserrat"/>
              <a:buNone/>
            </a:pPr>
            <a:r>
              <a:rPr lang="fr-FR" sz="2133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0;p8">
            <a:extLst>
              <a:ext uri="{FF2B5EF4-FFF2-40B4-BE49-F238E27FC236}">
                <a16:creationId xmlns:a16="http://schemas.microsoft.com/office/drawing/2014/main" id="{BCD9C9A6-C348-189A-48D2-713BA83E8A23}"/>
              </a:ext>
            </a:extLst>
          </p:cNvPr>
          <p:cNvSpPr txBox="1"/>
          <p:nvPr/>
        </p:nvSpPr>
        <p:spPr>
          <a:xfrm>
            <a:off x="761695" y="2464819"/>
            <a:ext cx="7424362" cy="144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oppins"/>
              <a:buNone/>
            </a:pPr>
            <a:r>
              <a:rPr lang="fr-FR" sz="4800" b="1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Home page</a:t>
            </a:r>
            <a:endParaRPr sz="4800" b="1" dirty="0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505893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0287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91;p10">
            <a:extLst>
              <a:ext uri="{FF2B5EF4-FFF2-40B4-BE49-F238E27FC236}">
                <a16:creationId xmlns:a16="http://schemas.microsoft.com/office/drawing/2014/main" id="{7B7BB7FB-3D69-8C89-AC28-FE57ED2238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6440173"/>
              </p:ext>
            </p:extLst>
          </p:nvPr>
        </p:nvGraphicFramePr>
        <p:xfrm>
          <a:off x="327221" y="323355"/>
          <a:ext cx="11449913" cy="339325"/>
        </p:xfrm>
        <a:graphic>
          <a:graphicData uri="http://schemas.openxmlformats.org/drawingml/2006/table">
            <a:tbl>
              <a:tblPr>
                <a:noFill/>
                <a:tableStyleId>{C72D1A7B-A8CF-40B2-ACF2-88DE3A67A9A7}</a:tableStyleId>
              </a:tblPr>
              <a:tblGrid>
                <a:gridCol w="454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9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1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8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69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9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EPIC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Titre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 Story</a:t>
                      </a: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Critères d'acceptation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Tâches techniques</a:t>
                      </a: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Google Shape;190;p10">
            <a:extLst>
              <a:ext uri="{FF2B5EF4-FFF2-40B4-BE49-F238E27FC236}">
                <a16:creationId xmlns:a16="http://schemas.microsoft.com/office/drawing/2014/main" id="{D6C862A8-7B33-ED5B-50E1-75F7C96C5E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5887797"/>
              </p:ext>
            </p:extLst>
          </p:nvPr>
        </p:nvGraphicFramePr>
        <p:xfrm>
          <a:off x="239575" y="750368"/>
          <a:ext cx="11537558" cy="5444952"/>
        </p:xfrm>
        <a:graphic>
          <a:graphicData uri="http://schemas.openxmlformats.org/drawingml/2006/table">
            <a:tbl>
              <a:tblPr>
                <a:noFill/>
                <a:tableStyleId>{C72D1A7B-A8CF-40B2-ACF2-88DE3A67A9A7}</a:tableStyleId>
              </a:tblPr>
              <a:tblGrid>
                <a:gridCol w="534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7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8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61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83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8018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US-04</a:t>
                      </a: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Visiteur : Navigation</a:t>
                      </a: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Affichage de la navigation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En tant que visiteur, je veux voir une barre de navigation claire avec le logo, les menus et le bouton de connexion, afin de naviguer efficacement sur la plateforme.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Logo cliquable → redirige vers la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homepage</a:t>
                      </a:r>
                      <a:endParaRPr lang="fr-FR"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Menus déroulants fonctionnels au survol et au clic</a:t>
                      </a: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Barre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sticky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 (reste en haut au scroll)</a:t>
                      </a: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Responsive : hamburger menu sur mobile</a:t>
                      </a: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Bouton "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Sign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 In" → redirige vers la page de connexion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900"/>
                        <a:buFont typeface="Arial"/>
                        <a:buNone/>
                      </a:pPr>
                      <a:endParaRPr/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23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US-05</a:t>
                      </a: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Visiteur: Menu</a:t>
                      </a: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br>
                        <a:rPr lang="fr-FR" dirty="0"/>
                      </a:b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Sous-menus dynamiques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visiteur, je veux que les sous-menus s'ouvrent au survol et affichent les liens configurés, afin d'accéder rapidement aux sections importantes.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Sous-menu s'affiche au survol avec délai 150ms (évite les ouvertures accidentelles)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Chaque item du sous-menu affiche label + lien (interne ou externe)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Lien externe s'ouvre dans un nouvel onglet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Item actif mis en évidence visuellement</a:t>
                      </a: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900"/>
                        <a:buFont typeface="Arial"/>
                        <a:buNone/>
                      </a:pPr>
                      <a:endParaRPr/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79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1E84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US-06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dirty="0"/>
                        <a:t> </a:t>
                      </a: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cs typeface="Arial"/>
                          <a:sym typeface="Arial"/>
                        </a:rPr>
                        <a:t>Admin :</a:t>
                      </a: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Gérer les items du menu principal</a:t>
                      </a:r>
                      <a:endParaRPr sz="900" b="1" i="0" u="none" strike="noStrike" cap="none" dirty="0">
                        <a:solidFill>
                          <a:srgbClr val="1E8449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Admin gestion des menus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qu'admin, je veux ajouter, modifier, réordonner et supprimer les items du menu principal, afin d'adapter la navigation sans intervention technique.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CRUD sur les items : label (FR/AR), URL cible, icône optionnelle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URL cible : interne (sélecteur de page) ou externe (champ URL libre)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Drag &amp; drop pour réordonner les items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Toggle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visibilité (publié / masqué) sans suppression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Prévisualisation en temps réel avant publication</a:t>
                      </a: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900"/>
                        <a:buFont typeface="Arial"/>
                        <a:buNone/>
                      </a:pPr>
                      <a:endParaRPr/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43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US-07</a:t>
                      </a:r>
                      <a:endParaRPr sz="900" b="1" i="0" u="none" strike="noStrike" cap="none" dirty="0">
                        <a:solidFill>
                          <a:srgbClr val="1E8449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cs typeface="Arial"/>
                          <a:sym typeface="Arial"/>
                        </a:rPr>
                        <a:t>Admin: Configurer le logo et nom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E8449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Configurer le logo et le nom du site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qu'admin, je veux modifier le logo, le nom affiché et la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tagline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de la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navbar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afin de maintenir l'identité visuelle à jour.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Upload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logo SVG/PNG (max 500 KB), prévisualisation immédiate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Champ "nom du site" et "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tagline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 éditables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URL de redirection du logo configurable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900"/>
                        <a:buFont typeface="Arial"/>
                        <a:buNone/>
                      </a:pPr>
                      <a:endParaRPr/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576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1E84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US-08</a:t>
                      </a:r>
                      <a:endParaRPr sz="900" b="1" i="0" u="none" strike="noStrike" cap="none">
                        <a:solidFill>
                          <a:srgbClr val="1E8449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cs typeface="Arial"/>
                          <a:sym typeface="Arial"/>
                        </a:rPr>
                        <a:t>Admin: </a:t>
                      </a: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Configurer le bouton CTA </a:t>
                      </a:r>
                      <a:r>
                        <a:rPr lang="fr-FR" sz="900" b="1" i="0" u="none" strike="noStrike" cap="none" dirty="0" err="1">
                          <a:solidFill>
                            <a:srgbClr val="1E84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Sign</a:t>
                      </a: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in</a:t>
                      </a:r>
                      <a:endParaRPr sz="900" b="1" i="0" u="none" strike="noStrike" cap="none" dirty="0">
                        <a:solidFill>
                          <a:srgbClr val="1E8449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qu'admin, je veux modifier le libellé, et la destination du bouton "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Sign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In" dans la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navbar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afin d'adapter le CTA selon la période (ex: "Publier votre projet").</a:t>
                      </a:r>
                    </a:p>
                    <a:p>
                      <a:b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Label du bouton éditable (ex: "Connexion", "Publier", "Espace Pro")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URL cible : interne ou externe, configurable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Option d'affichage : toujours visible / masqué si connecté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67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>
                        <a:solidFill>
                          <a:srgbClr val="1E8449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cs typeface="Arial"/>
                          <a:sym typeface="Arial"/>
                        </a:rPr>
                        <a:t>Visiteur: Bannière principale</a:t>
                      </a:r>
                      <a:endParaRPr sz="900" b="1" i="0" u="none" strike="noStrike" cap="none" dirty="0">
                        <a:solidFill>
                          <a:srgbClr val="1E8449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visiteur, je veux voir une bannière visuelle immersive dès l'arrivée sur la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homepage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afin de comprendre immédiatement que la plateforme couvre l'immobilier tunisien.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Image de fond pleine largeur (ou vidéo en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autoplay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muet)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Marqueurs de prix flottants animés sur l'image (décoratifs ou liés à de vrais projets)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Overlay sombre ajustable pour lisibilité du widget de recherche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LCP &lt; 2.5s : image optimisée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WebP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lazy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load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désactivé sur cette image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Hauteur responsive : 100vh desktop, 60vh mobile</a:t>
                      </a:r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264831"/>
                  </a:ext>
                </a:extLst>
              </a:tr>
              <a:tr h="93015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>
                        <a:solidFill>
                          <a:srgbClr val="1E8449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endParaRPr lang="fr-FR" sz="900" b="1" i="0" u="none" strike="noStrike" cap="none" dirty="0">
                        <a:solidFill>
                          <a:srgbClr val="1E8449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cs typeface="Arial"/>
                          <a:sym typeface="Arial"/>
                        </a:rPr>
                        <a:t>Visiteur: Bascule Vente / Location</a:t>
                      </a:r>
                      <a:endParaRPr sz="900" b="1" i="0" u="none" strike="noStrike" cap="none" dirty="0">
                        <a:solidFill>
                          <a:srgbClr val="1E8449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visiteur, je veux basculer entre "Vente" et "Location" dans le widget de recherche, afin de filtrer les annonces selon mon intention immédiate.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Onglets "Vente" / "Location" clairement différenciés visuellement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Sélection active mémorisée pendant la session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dropdown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"Type de bien" se met à jour selon le mode (ex: Location → retire "Sur plan")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768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5206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78134-9191-E8A4-BFC0-DFFE32872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91;p10">
            <a:extLst>
              <a:ext uri="{FF2B5EF4-FFF2-40B4-BE49-F238E27FC236}">
                <a16:creationId xmlns:a16="http://schemas.microsoft.com/office/drawing/2014/main" id="{31BAB5F8-4908-8EE7-CD41-543AF86FD8F6}"/>
              </a:ext>
            </a:extLst>
          </p:cNvPr>
          <p:cNvGraphicFramePr/>
          <p:nvPr/>
        </p:nvGraphicFramePr>
        <p:xfrm>
          <a:off x="239576" y="411042"/>
          <a:ext cx="11566700" cy="339325"/>
        </p:xfrm>
        <a:graphic>
          <a:graphicData uri="http://schemas.openxmlformats.org/drawingml/2006/table">
            <a:tbl>
              <a:tblPr>
                <a:noFill/>
                <a:tableStyleId>{C72D1A7B-A8CF-40B2-ACF2-88DE3A67A9A7}</a:tableStyleId>
              </a:tblPr>
              <a:tblGrid>
                <a:gridCol w="34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9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84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6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3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59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339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39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EPIC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Titre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 Story</a:t>
                      </a: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Critères d'acceptation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Tâches techniques</a:t>
                      </a: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Priorité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 / Composant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Notes / Clarifications</a:t>
                      </a: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Google Shape;190;p10">
            <a:extLst>
              <a:ext uri="{FF2B5EF4-FFF2-40B4-BE49-F238E27FC236}">
                <a16:creationId xmlns:a16="http://schemas.microsoft.com/office/drawing/2014/main" id="{E8ED0A39-6BDF-3C86-8C9B-CE96D037CF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9745244"/>
              </p:ext>
            </p:extLst>
          </p:nvPr>
        </p:nvGraphicFramePr>
        <p:xfrm>
          <a:off x="239576" y="750368"/>
          <a:ext cx="14950323" cy="5914201"/>
        </p:xfrm>
        <a:graphic>
          <a:graphicData uri="http://schemas.openxmlformats.org/drawingml/2006/table">
            <a:tbl>
              <a:tblPr>
                <a:noFill/>
                <a:tableStyleId>{C72D1A7B-A8CF-40B2-ACF2-88DE3A67A9A7}</a:tableStyleId>
              </a:tblPr>
              <a:tblGrid>
                <a:gridCol w="443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12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19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45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843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38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525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cs typeface="Arial"/>
                          <a:sym typeface="Arial"/>
                        </a:rPr>
                        <a:t>Visiteur : Recherche par mot clé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Recherche par mot-clé avec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autocomplete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visiteur, je veux taper un mot-clé (ville, quartier, projet) dans le champ de recherche et voir des suggestions en temps réel, afin de trouver rapidement ce que je cherche.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Autocomplete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bilingue FR/AR avec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debounce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300ms</a:t>
                      </a:r>
                    </a:p>
                    <a:p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Suggestions catégorisées : Quartiers, Villes, Projets, Promoteurs</a:t>
                      </a:r>
                    </a:p>
                    <a:p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Effacement en un clic (icône ×)</a:t>
                      </a:r>
                    </a:p>
                    <a:p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Recherche persistée dans l'URL (?q=)</a:t>
                      </a:r>
                    </a:p>
                    <a:p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Placeholder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configurable en backoffice</a:t>
                      </a: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900"/>
                        <a:buFont typeface="Arial"/>
                        <a:buNone/>
                      </a:pP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79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cs typeface="Arial"/>
                          <a:sym typeface="Arial"/>
                        </a:rPr>
                        <a:t>Visiteur : Clique sur chercher sur la </a:t>
                      </a:r>
                      <a:r>
                        <a:rPr lang="fr-FR" sz="900" b="1" i="0" u="none" strike="noStrike" cap="none" dirty="0" err="1">
                          <a:solidFill>
                            <a:srgbClr val="1E8449"/>
                          </a:solidFill>
                          <a:latin typeface="Arial"/>
                          <a:cs typeface="Arial"/>
                          <a:sym typeface="Arial"/>
                        </a:rPr>
                        <a:t>map</a:t>
                      </a:r>
                      <a:endParaRPr lang="fr-FR" sz="900" b="1" i="0" u="none" strike="noStrike" cap="none" dirty="0">
                        <a:solidFill>
                          <a:srgbClr val="1E8449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Bouton "Chercher sur la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map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"</a:t>
                      </a:r>
                      <a:endParaRPr lang="fr-FR" sz="9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visiteur, je veux cliquer sur "Chercher sur la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map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 depuis le widget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hero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afin d'être redirigé vers la page carte interactive avec mes filtres déjà appliqués.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Bouton "Chercher sur la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map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 visible dans le widget de recherche (à côté de "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Search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")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Redirige vers /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carte?mode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vente&amp;q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=...&amp;type=... (paramètres du widget transmis)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 carte s'ouvre centrée sur Tunis par défaut, ou sur la zone saisie si reconnue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Icône carte (pin/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map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 associée au bouton pour clarté visuelle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Libellé du bouton configurable en backoffice (FR/AR)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endParaRPr lang="fr-FR"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900"/>
                        <a:buFont typeface="Arial"/>
                        <a:buNone/>
                      </a:pP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45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cs typeface="Arial"/>
                          <a:sym typeface="Arial"/>
                        </a:rPr>
                        <a:t>Visiteur : Filtres avancés (Advanced)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E8449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visiteur, je veux accéder aux filtres avancés (prix, surface, nb chambres, statut) depuis le bouton "Advanced" dans le widget, afin d'affiner ma recherche sans quitter la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homepage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Panel déroulant sous le widget au clic sur "Advanced"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Filtres : prix min/max (DT), surface min/max (m²), nb chambres, statut (Neuf/2ème main/Sur plan)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Compteur de filtres actifs affiché sur le bouton "Advanced"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Bouton "Réinitialiser" si filtres actifs</a:t>
                      </a: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900"/>
                        <a:buFont typeface="Arial"/>
                        <a:buNone/>
                      </a:pP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39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E8449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cs typeface="Arial"/>
                          <a:sym typeface="Arial"/>
                        </a:rPr>
                        <a:t>Visiteur: </a:t>
                      </a: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Bouton recherche IA</a:t>
                      </a:r>
                      <a:endParaRPr sz="900" b="1" i="0" u="none" strike="noStrike" cap="none" dirty="0">
                        <a:solidFill>
                          <a:srgbClr val="1E8449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visiteur, je veux utiliser le bouton "AI" pour décrire mon besoin en langage naturel, afin de lancer une recherche intelligente sans remplir des formulaires.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Bouton "AI" ouvre un modal avec champ texte libre (ex: "3 pièces à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Menzah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moins de 300 000 DT, livraison 2025")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 requête est interprétée et les filtres correspondants sont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pré-remplis</a:t>
                      </a:r>
                      <a:endParaRPr lang="fr-FR" sz="9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Résultats affichés directement ou redirection vers /carte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Bouton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masquable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en backoffice (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feature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flag)</a:t>
                      </a: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900"/>
                        <a:buFont typeface="Arial"/>
                        <a:buNone/>
                      </a:pP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921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E8449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cs typeface="Arial"/>
                          <a:sym typeface="Arial"/>
                        </a:rPr>
                        <a:t>Admin: </a:t>
                      </a: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Configurer l'image/vidéo de fond </a:t>
                      </a:r>
                      <a:r>
                        <a:rPr lang="fr-FR" sz="900" b="1" i="0" u="none" strike="noStrike" cap="none" dirty="0" err="1">
                          <a:solidFill>
                            <a:srgbClr val="1E84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hero</a:t>
                      </a:r>
                      <a:endParaRPr sz="900" b="1" i="0" u="none" strike="noStrike" cap="none" dirty="0">
                        <a:solidFill>
                          <a:srgbClr val="1E8449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qu'admin, je veux modifier l'image ou la vidéo de fond du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hero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afin de rafraîchir le visuel sans déploiement technique.</a:t>
                      </a: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Upload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image (JPG/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WebP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max 5 MB) ou saisie URL vidéo (YouTube,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Vimeo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mp4)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Ajustement de l'opacité de l'overlay (0–80%)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configurable (accessibilité + SEO)</a:t>
                      </a: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695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E8449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cs typeface="Arial"/>
                          <a:sym typeface="Arial"/>
                        </a:rPr>
                        <a:t>Admin:  Configurer le widget de recherche</a:t>
                      </a:r>
                      <a:endParaRPr sz="900" b="1" i="0" u="none" strike="noStrike" cap="none" dirty="0">
                        <a:solidFill>
                          <a:srgbClr val="1E8449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qu'admin, je veux configurer tous les éléments du widget de recherche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hero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(labels, options, boutons, destinations), afin de l'adapter sans code.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Labels des onglets Vente/Location configurables (ex: "Acheter" / "Louer")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Placeholder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du champ keyword configurable (FR/AR)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Options du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dropdown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"Type de bien" : CRUD complet (ajouter/supprimer/réordonner)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Bouton "Chercher sur la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map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 : label,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Bouton "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Search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 : label,, URL cible configurables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Bouton "AI" : activé/désactivé par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toggle</a:t>
                      </a:r>
                      <a:endParaRPr lang="fr-FR" sz="9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endParaRPr lang="fr-FR" sz="9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/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264831"/>
                  </a:ext>
                </a:extLst>
              </a:tr>
              <a:tr h="10164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>
                        <a:solidFill>
                          <a:srgbClr val="1E8449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Visiteur: Affichage de la barre de </a:t>
                      </a:r>
                      <a:r>
                        <a:rPr lang="fr-FR" sz="900" b="1" i="0" u="none" strike="noStrike" cap="none" dirty="0" err="1">
                          <a:solidFill>
                            <a:srgbClr val="1E84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CTAs</a:t>
                      </a: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4</a:t>
                      </a:r>
                      <a:endParaRPr sz="900" b="1" i="0" u="none" strike="noStrike" cap="none" dirty="0">
                        <a:solidFill>
                          <a:srgbClr val="1E8449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visiteur, je veux voir 4 boutons d'action thématiques sous la bannière, afin d'accéder rapidement aux services annexes qui m'intéressent.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4 boutons affichés en grille horizontale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Chaque bouton affiche son label clairement,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Clic → redirection vers URL configurée (interne ou nouvel onglet si externe)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768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5710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E2A0C-7509-7882-6886-FA116BFF2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91;p10">
            <a:extLst>
              <a:ext uri="{FF2B5EF4-FFF2-40B4-BE49-F238E27FC236}">
                <a16:creationId xmlns:a16="http://schemas.microsoft.com/office/drawing/2014/main" id="{D4D5E295-FF82-2BF1-0E03-CB38465DC0BB}"/>
              </a:ext>
            </a:extLst>
          </p:cNvPr>
          <p:cNvGraphicFramePr/>
          <p:nvPr/>
        </p:nvGraphicFramePr>
        <p:xfrm>
          <a:off x="239576" y="411042"/>
          <a:ext cx="11566700" cy="339325"/>
        </p:xfrm>
        <a:graphic>
          <a:graphicData uri="http://schemas.openxmlformats.org/drawingml/2006/table">
            <a:tbl>
              <a:tblPr>
                <a:noFill/>
                <a:tableStyleId>{C72D1A7B-A8CF-40B2-ACF2-88DE3A67A9A7}</a:tableStyleId>
              </a:tblPr>
              <a:tblGrid>
                <a:gridCol w="34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9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84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6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3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59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339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39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EPIC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Titre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 Story</a:t>
                      </a: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Critères d'acceptation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Tâches techniques</a:t>
                      </a: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Priorité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 / Composant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Notes / Clarifications</a:t>
                      </a: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Google Shape;190;p10">
            <a:extLst>
              <a:ext uri="{FF2B5EF4-FFF2-40B4-BE49-F238E27FC236}">
                <a16:creationId xmlns:a16="http://schemas.microsoft.com/office/drawing/2014/main" id="{B60C9F08-8B1F-4D7E-1412-334F4E106E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1515010"/>
              </p:ext>
            </p:extLst>
          </p:nvPr>
        </p:nvGraphicFramePr>
        <p:xfrm>
          <a:off x="535909" y="750367"/>
          <a:ext cx="11656091" cy="6867435"/>
        </p:xfrm>
        <a:graphic>
          <a:graphicData uri="http://schemas.openxmlformats.org/drawingml/2006/table">
            <a:tbl>
              <a:tblPr>
                <a:noFill/>
                <a:tableStyleId>{C72D1A7B-A8CF-40B2-ACF2-88DE3A67A9A7}</a:tableStyleId>
              </a:tblPr>
              <a:tblGrid>
                <a:gridCol w="1047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147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5257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cs typeface="Arial"/>
                          <a:sym typeface="Arial"/>
                        </a:rPr>
                        <a:t>Admin:  Configurer le widget de recherche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Configurer chaque bouton CTA individuellement</a:t>
                      </a:r>
                      <a:endParaRPr lang="fr-FR"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qu'admin, je veux modifier le label, la couleur, l'icône et la destination de chacun des 4 boutons, afin d'adapter la barre aux campagnes en cours.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Label configurable en FR et AR pour chaque bouton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Icône optionnelle :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upload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SVG ou sélection dans une bibliothèque d'icônes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URL cible : interne (sélecteur de page du site) ou externe (champ URL libre)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Ouverture : nouvel onglet 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Toggle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visibilité par bouton (afficher/masquer sans supprimer)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76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cs typeface="Arial"/>
                          <a:sym typeface="Arial"/>
                        </a:rPr>
                        <a:t>Visiteur : projets phares des promoteurs</a:t>
                      </a:r>
                      <a:endParaRPr sz="900" b="1" i="0" u="none" strike="noStrike" cap="none" dirty="0">
                        <a:solidFill>
                          <a:srgbClr val="1E8449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Affichage du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carousel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de projets phares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visiteur, je veux voir les projets immobiliers mis en avant sur la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homepage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afin de découvrir les meilleures opportunités sans chercher.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cards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visibles simultanément sur desktop, (composant défilant)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Chaque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card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: image, badge statut coloré, nom, ville, fourchette de prix, tags, nom promoteur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Navigation par flèches gauche/droite + indicateurs dots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Clic sur la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card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→ fiche projet (/projets/[slug])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Skeleton loader pendant le chargement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900"/>
                        <a:buFont typeface="Arial"/>
                        <a:buNone/>
                      </a:pPr>
                      <a:endParaRPr lang="fr-FR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2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cs typeface="Arial"/>
                          <a:sym typeface="Arial"/>
                        </a:rPr>
                        <a:t>Visiteur : projets phares des promoteurs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Voir tous les projets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visiteur, je veux cliquer sur un lien "Voir tous les projets" à la fin de la section, afin d'accéder à la liste complète.</a:t>
                      </a:r>
                      <a:b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endParaRPr dirty="0"/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Lien/bouton "Voir tous les projets" visible sous le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carousel</a:t>
                      </a:r>
                      <a:endParaRPr lang="fr-FR" sz="9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Redirige vers /projets ou /carte selon configuration backoffice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Label et destination configurables par l'admin</a:t>
                      </a: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3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cs typeface="Arial"/>
                          <a:sym typeface="Arial"/>
                        </a:rPr>
                        <a:t>Admin:  Configurer la section projets phares</a:t>
                      </a:r>
                      <a:endParaRPr sz="900" b="1" i="0" u="none" strike="noStrike" cap="none" dirty="0">
                        <a:solidFill>
                          <a:srgbClr val="1E8449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Config titre section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qu'admin, je veux modifier le titre "Projets phares des promoteurs" et le sous-titre de la section, afin de personnaliser l'accroche.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Champs titre et sous-titre éditables en FR et AR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Toggle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: afficher/masquer la section entière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92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cs typeface="Arial"/>
                          <a:sym typeface="Arial"/>
                        </a:rPr>
                        <a:t>Admin:  Configurer la section projets phares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E8449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Sélectionner et ordonner les projets mis en avant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qu'admin, je veux choisir manuellement quels projets apparaissent dans le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carousel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de la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homepage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et dans quel ordre, afin de contrôler la mise en avant éditoriale</a:t>
                      </a:r>
                      <a:r>
                        <a:rPr lang="fr-FR" sz="1400" b="0" i="1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dirty="0"/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Interface de sélection : recherche de projets par nom/promoteur + drag &amp; drop pour ordonner</a:t>
                      </a:r>
                    </a:p>
                    <a:p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Maximum 10 projets sélectionnables (le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carousel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en affiche 4 à la fois)</a:t>
                      </a:r>
                    </a:p>
                    <a:p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Option "Automatique" : affiche les projets avec le flag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featured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triés par date</a:t>
                      </a:r>
                    </a:p>
                    <a:p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Chaque projet sélectionné peut avoir un badge personnalisé (texte + couleur)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69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cs typeface="Arial"/>
                          <a:sym typeface="Arial"/>
                        </a:rPr>
                        <a:t>Visiteur : Section partenaires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E8449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Nos meilleurs partenaires pour vos projets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visiteur, je veux voir les partenaires recommandés par Immo24, afin de trouver des services complémentaires à mon achat immobilier.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Cards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partenaires en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carousel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horizontal avec scroll fluide</a:t>
                      </a:r>
                    </a:p>
                    <a:p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Chaque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card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: image/logo, titre, description (max 120 caractères), bouton CTA</a:t>
                      </a:r>
                    </a:p>
                    <a:p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CTA de chaque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card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redirige vers URL configurée (interne ou externe)</a:t>
                      </a:r>
                    </a:p>
                    <a:p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Badge "Partenaire officiel" optionnel sur certaines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cards</a:t>
                      </a:r>
                      <a:endParaRPr lang="fr-FR" sz="9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Clic sur la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card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(hors CTA) → page partenaire ou URL configurée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264831"/>
                  </a:ext>
                </a:extLst>
              </a:tr>
              <a:tr h="10164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cs typeface="Arial"/>
                          <a:sym typeface="Arial"/>
                        </a:rPr>
                        <a:t>Admin : Section partenaires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E8449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CRUD partenaires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qu'admin, je veux créer, modifier, réordonner et archiver les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cards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partenaires de la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homepage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changer le titre de la section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Titre de section éditable (FR/AR)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Toggle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masquer/afficher la section entière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Nombre max de partenaires affichés simultanément configurable (3, 4, 5…)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Formulaire partenaire : nom, logo (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upload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), description courte, description longue, catégorie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CTA : label configurable + URL cible (interne ou externe) + ouverture (même/nouvel onglet)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Badge "Partenaire officiel" :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toggle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on/off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Drag &amp; drop pour réordonner dans le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carousel</a:t>
                      </a:r>
                      <a:endParaRPr lang="fr-FR" sz="9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Toggle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actif/inactif sans suppression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fr-FR" sz="9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768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6898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EF236-0C67-0A05-A832-D2740439D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91;p10">
            <a:extLst>
              <a:ext uri="{FF2B5EF4-FFF2-40B4-BE49-F238E27FC236}">
                <a16:creationId xmlns:a16="http://schemas.microsoft.com/office/drawing/2014/main" id="{12DD5AC0-73FC-0E7F-C1E5-C8E2B15741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0481303"/>
              </p:ext>
            </p:extLst>
          </p:nvPr>
        </p:nvGraphicFramePr>
        <p:xfrm>
          <a:off x="239576" y="411042"/>
          <a:ext cx="11566700" cy="339325"/>
        </p:xfrm>
        <a:graphic>
          <a:graphicData uri="http://schemas.openxmlformats.org/drawingml/2006/table">
            <a:tbl>
              <a:tblPr>
                <a:noFill/>
                <a:tableStyleId>{C72D1A7B-A8CF-40B2-ACF2-88DE3A67A9A7}</a:tableStyleId>
              </a:tblPr>
              <a:tblGrid>
                <a:gridCol w="34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74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9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84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6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3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59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339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39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EPIC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Titre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 Story</a:t>
                      </a: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Critères d'acceptation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Tâches techniques</a:t>
                      </a: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Priorité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 / Composant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Notes / Clarifications</a:t>
                      </a: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Google Shape;190;p10">
            <a:extLst>
              <a:ext uri="{FF2B5EF4-FFF2-40B4-BE49-F238E27FC236}">
                <a16:creationId xmlns:a16="http://schemas.microsoft.com/office/drawing/2014/main" id="{488689B0-4A91-5440-E65A-A0987BBF59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199707"/>
              </p:ext>
            </p:extLst>
          </p:nvPr>
        </p:nvGraphicFramePr>
        <p:xfrm>
          <a:off x="267954" y="750367"/>
          <a:ext cx="11656091" cy="5260185"/>
        </p:xfrm>
        <a:graphic>
          <a:graphicData uri="http://schemas.openxmlformats.org/drawingml/2006/table">
            <a:tbl>
              <a:tblPr>
                <a:noFill/>
                <a:tableStyleId>{C72D1A7B-A8CF-40B2-ACF2-88DE3A67A9A7}</a:tableStyleId>
              </a:tblPr>
              <a:tblGrid>
                <a:gridCol w="1089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79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97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5257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Visiteur: Section "Les dernières annonces"</a:t>
                      </a:r>
                      <a:endParaRPr sz="900" b="1" i="0" u="none" strike="noStrike" cap="none" dirty="0">
                        <a:solidFill>
                          <a:srgbClr val="1E8449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Affichage des dernières annonces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visiteur, je veux voir les annonces les plus récentes sur la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homepage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afin de découvrir les nouvelles opportunités immobilières sans faire de recherche.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cards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visibles sur desktop, (effet de découpe pour indiquer le scroll)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Chaque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card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: photo principale avec numérotation (1/N), badge Nouveau,, prix, prix/m², icône favori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Infos : type de bien, nb pièces, chambres, surface, ville/quartier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Clic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card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→ fiche annonce (/annonces/[slug])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Icône favori (cœur) → ajouter aux favoris (sans connexion : prompt de connexion)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Skeleton loader pendant le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fetch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des annonces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 survol : flèches gauche/droite apparaissent sur la photo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Compteur photos mis à jour (ex: 2/17)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Navigation par swipe sur mobile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 5 photos chargées en prévisualisation (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lazy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load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des suivantes)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76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Backoffice : Section "Les dernières annonces"</a:t>
                      </a:r>
                      <a:endParaRPr sz="900" b="1" i="0" u="none" strike="noStrike" cap="none" dirty="0">
                        <a:solidFill>
                          <a:srgbClr val="1E8449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Configurer la source et les critères des annonces affichées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qu'admin, je veux définir quels types d'annonces apparaissent dans la section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homepage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(critères de tri, filtres), afin de contrôler la qualité éditoriale.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 "automatique" : tri par date de publication décroissante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Filtres applicables : type de bien, gouvernorat, statut (neuf/ancien), fourchette de prix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 "Manuel" : sélectionner et épingler des annonces spécifiques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Nombre d'annonces affichées configurable (5, 8, 10)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Exclure les annonces d'un promoteur spécifique (liste noire)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27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cs typeface="Arial"/>
                          <a:sym typeface="Arial"/>
                        </a:rPr>
                        <a:t>Backoffice : Section "Les dernières annonces"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Configurer titre, CTA et visibilité section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qu'admin, je veux modifier le titre "Les dernières annonces", le CTA "Voir toutes les annonces" et masquer la section, afin de la contrôler entièrement depuis le backoffice.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Titre de section éditable (FR/AR)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CTA "Voir toutes" : label + URL cible (interne ou externe) configurables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Toggle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masquer/afficher la section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fr-FR" sz="9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3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Visiteur Affichage du </a:t>
                      </a:r>
                      <a:r>
                        <a:rPr lang="fr-FR" sz="900" b="1" i="0" u="none" strike="noStrike" cap="none" dirty="0" err="1">
                          <a:solidFill>
                            <a:srgbClr val="1E84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footer</a:t>
                      </a:r>
                      <a:br>
                        <a:rPr lang="fr-FR" sz="900" dirty="0"/>
                      </a:br>
                      <a:endParaRPr sz="900" b="1" i="0" u="none" strike="noStrike" cap="none" dirty="0">
                        <a:solidFill>
                          <a:srgbClr val="1E8449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visiteur, je veux trouver dans le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footer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les informations légales, les liens utiles et les contacts, afin d'accéder aux ressources importantes en bas de page.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Logo +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tagline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+ colonnes de liens organisées par catégorie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Icônes réseaux sociaux cliquables (Facebook, Instagram, LinkedIn, WhatsApp)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Mentions légales, CGU, politique de confidentialité accessibles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Copyright avec année dynamique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Numéro WhatsApp cliquable (tel:+216…)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921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cs typeface="Arial"/>
                          <a:sym typeface="Arial"/>
                        </a:rPr>
                        <a:t>Admin: Gérer les colonnes et liens du </a:t>
                      </a:r>
                      <a:r>
                        <a:rPr lang="fr-FR" sz="900" b="1" i="0" u="none" strike="noStrike" cap="none" dirty="0" err="1">
                          <a:solidFill>
                            <a:srgbClr val="1E8449"/>
                          </a:solidFill>
                          <a:latin typeface="Arial"/>
                          <a:cs typeface="Arial"/>
                          <a:sym typeface="Arial"/>
                        </a:rPr>
                        <a:t>footer</a:t>
                      </a:r>
                      <a:endParaRPr sz="900" b="1" i="0" u="none" strike="noStrike" cap="none" dirty="0">
                        <a:solidFill>
                          <a:srgbClr val="1E8449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qu'admin, je veux ajouter, modifier et réordonner les colonnes et liens du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footer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afin de maintenir la navigation de bas de page à jour.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CRUD colonnes : titre (FR/AR), ordre d'affichage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CRUD liens : label (FR/AR), URL (interne ou externe), ouverture (même/nouvel onglet)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Liens réseaux sociaux configurables (URL + icône par réseau)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Texte copyright éditable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Numéro WhatsApp et email de contact configurables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2340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E7FF3-3288-7D69-6EBB-AA5946206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0;p8">
            <a:extLst>
              <a:ext uri="{FF2B5EF4-FFF2-40B4-BE49-F238E27FC236}">
                <a16:creationId xmlns:a16="http://schemas.microsoft.com/office/drawing/2014/main" id="{38D0FDAE-0AD3-C666-D116-8A47D82ECFC0}"/>
              </a:ext>
            </a:extLst>
          </p:cNvPr>
          <p:cNvSpPr txBox="1"/>
          <p:nvPr/>
        </p:nvSpPr>
        <p:spPr>
          <a:xfrm>
            <a:off x="761695" y="2464819"/>
            <a:ext cx="7424362" cy="144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oppins"/>
              <a:buNone/>
            </a:pPr>
            <a:r>
              <a:rPr lang="fr-FR" sz="4800" b="1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Page </a:t>
            </a:r>
            <a:r>
              <a:rPr lang="fr-FR" sz="4800" b="1" i="0" u="none" strike="noStrike" cap="none" dirty="0" err="1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maps</a:t>
            </a:r>
            <a:r>
              <a:rPr lang="fr-FR" sz="4800" b="1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 + Liste</a:t>
            </a:r>
            <a:endParaRPr sz="4800" b="1" dirty="0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6218589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/>
          <p:nvPr/>
        </p:nvSpPr>
        <p:spPr>
          <a:xfrm>
            <a:off x="239576" y="191463"/>
            <a:ext cx="364231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1" dirty="0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Périmètre du Projet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59595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482540" y="553769"/>
            <a:ext cx="1156670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EXIGENCES FONCTIONNELLES</a:t>
            </a:r>
            <a:endParaRPr dirty="0"/>
          </a:p>
        </p:txBody>
      </p:sp>
      <p:cxnSp>
        <p:nvCxnSpPr>
          <p:cNvPr id="180" name="Google Shape;180;p9"/>
          <p:cNvCxnSpPr/>
          <p:nvPr/>
        </p:nvCxnSpPr>
        <p:spPr>
          <a:xfrm>
            <a:off x="366794" y="514628"/>
            <a:ext cx="778437" cy="0"/>
          </a:xfrm>
          <a:prstGeom prst="straightConnector1">
            <a:avLst/>
          </a:prstGeom>
          <a:noFill/>
          <a:ln w="28575" cap="flat" cmpd="sng">
            <a:solidFill>
              <a:srgbClr val="F05617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181" name="Google Shape;181;p9"/>
          <p:cNvGraphicFramePr/>
          <p:nvPr>
            <p:extLst>
              <p:ext uri="{D42A27DB-BD31-4B8C-83A1-F6EECF244321}">
                <p14:modId xmlns:p14="http://schemas.microsoft.com/office/powerpoint/2010/main" val="2433796894"/>
              </p:ext>
            </p:extLst>
          </p:nvPr>
        </p:nvGraphicFramePr>
        <p:xfrm>
          <a:off x="239576" y="951898"/>
          <a:ext cx="11712825" cy="5976288"/>
        </p:xfrm>
        <a:graphic>
          <a:graphicData uri="http://schemas.openxmlformats.org/drawingml/2006/table">
            <a:tbl>
              <a:tblPr>
                <a:noFill/>
                <a:tableStyleId>{C72D1A7B-A8CF-40B2-ACF2-88DE3A67A9A7}</a:tableStyleId>
              </a:tblPr>
              <a:tblGrid>
                <a:gridCol w="345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8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3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3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9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88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533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7678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05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🏠 IMMO24.TN — PRODUCT BACKLOG  |</a:t>
                      </a: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3C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86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EPIC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Titre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 Story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Critères d'acceptation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Tâches techniques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Priorité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 / Composant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Notes / Clarifications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039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276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1A527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US-01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276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1A527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🏠 Home page MAP – Carte+Liste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Carte interactive des projets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visiteur, je veux explorer les projets sur une carte interactive, afin de localiser visuellement les biens disponibles.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Voir les projets regroupés pour éviter la surcharge visuelle.</a:t>
                      </a: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Marqueurs chargés depuis l'API publique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Clustering auto à faible zoom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Clic marqueur → fiche projet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Zoom/pan fluide, responsive touch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Chargement lazy dans le viewport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Intégrer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Mapbox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GL JS (ou Leaflet.js)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Clustering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Mapbox</a:t>
                      </a:r>
                      <a:b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GET /api/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projects?bbox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b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Composant &lt;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MapView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avec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clustering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supercluster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b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Marqueur custom avec miniature + prix</a:t>
                      </a:r>
                      <a:b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Skeleton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loader pendant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fetch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922B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🔴 High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1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Mapbox GL / Leaflet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Zoom par défaut :Tunis</a:t>
                      </a: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59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276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 dirty="0">
                          <a:solidFill>
                            <a:srgbClr val="1A527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US-01</a:t>
                      </a: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276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1A527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🏠 Home page MAP – Carte+Liste</a:t>
                      </a:r>
                      <a:endParaRPr/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Carte interactive des projets</a:t>
                      </a:r>
                      <a:endParaRPr/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visiteur, je veux explorer les annonces sur une carte interactive, afin de localiser visuellement les biens disponibles.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Voir les projets regroupés pour éviter la surcharge visuelle.</a:t>
                      </a:r>
                      <a:endParaRPr dirty="0"/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Marqueurs chargés depuis l'API publique</a:t>
                      </a:r>
                      <a:b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Clustering auto à faible zoom</a:t>
                      </a:r>
                      <a:b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Clic marqueur → fiche projet</a:t>
                      </a:r>
                      <a:b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Zoom/pan fluide, responsive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touch</a:t>
                      </a:r>
                      <a:b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Chargement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lazy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dans le 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viewport</a:t>
                      </a:r>
                      <a:endParaRPr dirty="0"/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Intégrer Mapbox GL JS (ou Leaflet.js)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Clustering Mapbox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GET /api/projects?bbox=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Composant &lt;MapView&gt; avec clustering (supercluster)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Marqueur custom avec miniature + prix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Skeleton loader pendant fetch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922B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🔴 High</a:t>
                      </a:r>
                      <a:endParaRPr/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1</a:t>
                      </a:r>
                      <a:endParaRPr/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Mapbox GL / Leaflet</a:t>
                      </a:r>
                      <a:endParaRPr/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Zoom par défaut :Tunis</a:t>
                      </a:r>
                      <a:endParaRPr dirty="0"/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215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276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1A527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US-02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276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1A527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🏠 Home page MAP – Carte+Liste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Liste synchronisée avec la carte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visiteur, je veux voir la liste des projets se mettre à jour quand je bouge la carte, afin de naviguer entre vues sans perdre mon contexte.</a:t>
                      </a: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Hover liste → highlight marqueur carte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Clic marqueur → scroll vers card liste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Filtres appliqués = mise à jour des deux vues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Compteur résultats visible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State partagé Zustand (MapView ↔ ListView)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Event bus bidirectionnel hover/click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Debounce 300ms sur synchronisation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Composant &lt;ResultsCounter&gt;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922B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🔴 High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1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Zustand store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Comportement mobile : onglets ou split-</a:t>
                      </a:r>
                      <a:r>
                        <a:rPr lang="fr-FR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</a:t>
                      </a: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276"/>
                        </a:buClr>
                        <a:buSzPts val="900"/>
                        <a:buFont typeface="Arial"/>
                        <a:buNone/>
                      </a:pP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276"/>
                        </a:buClr>
                        <a:buSzPts val="900"/>
                        <a:buFont typeface="Arial"/>
                        <a:buNone/>
                      </a:pPr>
                      <a:endParaRPr/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Liste synchronisée avec la carte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/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/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900"/>
                        <a:buFont typeface="Arial"/>
                        <a:buNone/>
                      </a:pPr>
                      <a:endParaRPr/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/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/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28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276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1A527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US-03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276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1A527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🏠 Home page MAP – Carte+Liste</a:t>
                      </a:r>
                      <a:endParaRPr sz="900" b="1" i="0" u="none" strike="noStrike" cap="none">
                        <a:solidFill>
                          <a:srgbClr val="1A527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Page d'accueil hero + CTA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visiteur, je veux arriver sur une homepage claire avec une carte et un CTA, afin de comprendre immédiatement la valeur de la plateforme.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Hero section avec baseline + CTA 'Explorer les projets'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Carte en plein écran ou split layout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Compteur de projets vérifiés en live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Section 'Pourquoi Immo24?'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Design responsive mobile-first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Next.js page / avec layout hero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Composant &lt;HeroSection&gt; + animation chiffres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CTA scroll vers carte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OG tags + meta SEO homepage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Vitesse LCP &lt; 2.5s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922B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🔴 High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1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Next.js App Router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Chiffres animés : projets, promoteurs, leads?</a:t>
                      </a: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753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900" b="1" i="0" u="none" strike="noStrike" cap="none">
                        <a:solidFill>
                          <a:srgbClr val="1A527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276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 dirty="0">
                          <a:solidFill>
                            <a:srgbClr val="1A527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🏠 Home page MAP – </a:t>
                      </a:r>
                      <a:r>
                        <a:rPr lang="fr-FR" sz="900" b="1" i="0" u="none" strike="noStrike" cap="none" dirty="0" err="1">
                          <a:solidFill>
                            <a:srgbClr val="1A527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Carte+Liste</a:t>
                      </a:r>
                      <a:endParaRPr sz="900" b="1" i="0" u="none" strike="noStrike" cap="none" dirty="0">
                        <a:solidFill>
                          <a:srgbClr val="1A527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900" b="1" i="0" u="none" strike="noStrike" cap="none" dirty="0">
                        <a:solidFill>
                          <a:srgbClr val="1A527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Pins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qu’utilisateur, je veux cliquer sur un pin pour voir un aperçu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fr-FR" sz="900" u="none" strike="noStrike" cap="none" dirty="0"/>
                        <a:t>chaque item affiche : nom </a:t>
                      </a:r>
                      <a:r>
                        <a:rPr lang="fr-FR" sz="900" u="none" strike="noStrike" cap="none" dirty="0" err="1"/>
                        <a:t>projet,Logo</a:t>
                      </a:r>
                      <a:r>
                        <a:rPr lang="fr-FR" sz="900" u="none" strike="noStrike" cap="none" dirty="0"/>
                        <a:t> promoteur  prix, localisation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900" b="1" i="0" u="none" strike="noStrike" cap="none">
                        <a:solidFill>
                          <a:srgbClr val="922B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28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900" b="1" i="0" u="none" strike="noStrike" cap="none">
                        <a:solidFill>
                          <a:srgbClr val="1A527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  <a:tabLst/>
                        <a:defRPr/>
                      </a:pPr>
                      <a:r>
                        <a:rPr lang="fr-FR" sz="900" b="1" i="0" u="none" strike="noStrike" cap="none" dirty="0">
                          <a:solidFill>
                            <a:srgbClr val="1A527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🏠 Home page MAP – </a:t>
                      </a:r>
                      <a:r>
                        <a:rPr lang="fr-FR" sz="900" b="1" i="0" u="none" strike="noStrike" cap="none" dirty="0" err="1">
                          <a:solidFill>
                            <a:srgbClr val="1A527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Carte+Liste</a:t>
                      </a:r>
                      <a:endParaRPr lang="fr-FR" sz="900" b="1" i="0" u="none" strike="noStrike" cap="none" dirty="0">
                        <a:solidFill>
                          <a:srgbClr val="1A527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900" b="1" i="0" u="none" strike="noStrike" cap="none" dirty="0">
                        <a:solidFill>
                          <a:srgbClr val="1A527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Vue</a:t>
                      </a:r>
                      <a:r>
                        <a:rPr lang="fr-FR" sz="900" b="0" i="0" u="none" strike="noStrike" cap="none" baseline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Liste /Vue </a:t>
                      </a:r>
                      <a:r>
                        <a:rPr lang="fr-FR" sz="900" b="0" i="0" u="none" strike="noStrike" cap="none" baseline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gallerie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  <a:tabLst/>
                        <a:defRPr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visiteur, je veux voir la page</a:t>
                      </a:r>
                      <a:r>
                        <a:rPr lang="fr-FR" sz="900" b="0" i="0" u="none" strike="noStrike" cap="none" baseline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sous forme de Liste uniquement, ou galerie (sans </a:t>
                      </a:r>
                      <a:r>
                        <a:rPr lang="fr-FR" sz="900" b="0" i="0" u="none" strike="noStrike" cap="none" baseline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map</a:t>
                      </a:r>
                      <a:r>
                        <a:rPr lang="fr-FR" sz="900" b="0" i="0" u="none" strike="noStrike" cap="none" baseline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900" b="1" i="0" u="none" strike="noStrike" cap="none">
                        <a:solidFill>
                          <a:srgbClr val="922B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"/>
          <p:cNvSpPr/>
          <p:nvPr/>
        </p:nvSpPr>
        <p:spPr>
          <a:xfrm>
            <a:off x="239576" y="191463"/>
            <a:ext cx="364231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Périmètre du Projet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59595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8" name="Google Shape;188;p10"/>
          <p:cNvSpPr txBox="1"/>
          <p:nvPr/>
        </p:nvSpPr>
        <p:spPr>
          <a:xfrm>
            <a:off x="385718" y="760849"/>
            <a:ext cx="1156670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EXIGENCES FONCTIONNELLES</a:t>
            </a:r>
            <a:endParaRPr/>
          </a:p>
        </p:txBody>
      </p:sp>
      <p:cxnSp>
        <p:nvCxnSpPr>
          <p:cNvPr id="189" name="Google Shape;189;p10"/>
          <p:cNvCxnSpPr/>
          <p:nvPr/>
        </p:nvCxnSpPr>
        <p:spPr>
          <a:xfrm>
            <a:off x="366794" y="514628"/>
            <a:ext cx="778437" cy="0"/>
          </a:xfrm>
          <a:prstGeom prst="straightConnector1">
            <a:avLst/>
          </a:prstGeom>
          <a:noFill/>
          <a:ln w="28575" cap="flat" cmpd="sng">
            <a:solidFill>
              <a:srgbClr val="F05617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190" name="Google Shape;190;p10"/>
          <p:cNvGraphicFramePr/>
          <p:nvPr/>
        </p:nvGraphicFramePr>
        <p:xfrm>
          <a:off x="239576" y="1952624"/>
          <a:ext cx="11566700" cy="4067175"/>
        </p:xfrm>
        <a:graphic>
          <a:graphicData uri="http://schemas.openxmlformats.org/drawingml/2006/table">
            <a:tbl>
              <a:tblPr>
                <a:noFill/>
                <a:tableStyleId>{C72D1A7B-A8CF-40B2-ACF2-88DE3A67A9A7}</a:tableStyleId>
              </a:tblPr>
              <a:tblGrid>
                <a:gridCol w="34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5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15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6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3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59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339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885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 dirty="0">
                          <a:solidFill>
                            <a:srgbClr val="1E84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US-04</a:t>
                      </a: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1E84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🔍 Recherche &amp; Filtres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Barre de recherche textuelle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visiteur, je veux effectuer une recherche par mot-clé (nom projet, quartier, ville), afin de trouver rapidement un bien précis.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Autocomplete en temps réel (debounce 300ms)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Suggestions : projets + quartiers + villes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Recherche persistée dans l'URL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Effacement en un clic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Composant &lt;SearchBar&gt; avec useDebounce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GET /api/search?q=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Full-text search PostgreSQL (tsvector) ou Elasticsearch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URLSearchParams serialization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922B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🔴 High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2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GET /api/search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Recherche en arabe/francais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2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1E84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US-05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1E84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🔍 Recherche &amp; Filtres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Filtre par prix (fourchette)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visiteur, je veux filtrer par fourchette de prix min/max, afin de n'afficher que les projets dans mon budget.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Slider double borne min/max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Saisie manuelle possible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Mise à jour carte + liste en temps réel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URL enrichie (?minPrice=&amp;maxPrice=)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Reset individuel du filtre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Composant &lt;PriceRangeSlider&gt; (react-slider)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Hook useFilters avec URLSearchParams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Filtre persistant en session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Formatage DT (dinar tunisien)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922B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🔴 High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2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GET /api/projects?minPrice&amp;maxPrice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Devise dinars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5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1E84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US-06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1E84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🔍 Recherche &amp; Filtres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Filtre par localisation géographique</a:t>
                      </a: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visiteur, je veux filtrer par gouvernorat/délégation ou activer 'Autour de moi', afin de cibler une zone précise.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Dropdown hiérarchique Gouvernorat → Délégation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Recherche texte avec autocomplete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Option 'Autour de moi' (géolocalisation)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Rayon km ajustable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Dataset GeoJSON Tunisie (gouvernorats/délégations)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Composant &lt;LocationFilter&gt;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navigator.geolocation + ST_DWithin PostGIS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Tuiles frontières gouvernorat sur carte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922B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🔴 High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2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PostGIS ST_DWithin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Granularité : délégation ou quartier?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1E84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US-07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1E84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🔍 Recherche &amp; Filtres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Filtre par statut du projet</a:t>
                      </a: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visiteur, je veux filtrer selon l'avancement du projet (En cours / Livré / Pré-vente), afin de cibler selon ma disponibilité.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Chips multi-sélection colorés par statut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Combinable avec autres filtres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Badge statut cohérent sur cards + carte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Composant &lt;StatusChips&gt;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Enum PROJECT_STATUS en DB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Badge coloré : En cours=bleu, Livré=vert, Pré-vente=orange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7D660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🟡 Medium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2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GET /api/projects?status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Liste exacte des statuts à valider promoteurs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1E84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US-08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1E84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🔍 Recherche &amp; Filtres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Filtre par type de bien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visiteur, je veux filtrer par type (Appartement / Villa / Local commercial / Terrain), afin d'affiner ma recherche.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Sélection multiple par type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Icônes illustratives par type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Compteur résultats mis à jour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Composant &lt;TypeFilter&gt;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Enum PROPERTY_TYPE en DB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Filtres combinés avec prix + statut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7D660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🟡 Medium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2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GET /api/projects?type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91" name="Google Shape;191;p10"/>
          <p:cNvGraphicFramePr/>
          <p:nvPr/>
        </p:nvGraphicFramePr>
        <p:xfrm>
          <a:off x="239575" y="1613309"/>
          <a:ext cx="11566700" cy="339325"/>
        </p:xfrm>
        <a:graphic>
          <a:graphicData uri="http://schemas.openxmlformats.org/drawingml/2006/table">
            <a:tbl>
              <a:tblPr>
                <a:noFill/>
                <a:tableStyleId>{C72D1A7B-A8CF-40B2-ACF2-88DE3A67A9A7}</a:tableStyleId>
              </a:tblPr>
              <a:tblGrid>
                <a:gridCol w="34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5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15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6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3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59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339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39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EPIC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Titre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 Story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Critères d'acceptation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Tâches techniques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Priorité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 / Composant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Notes / Clarifications</a:t>
                      </a: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2" name="Google Shape;192;p10"/>
          <p:cNvSpPr txBox="1"/>
          <p:nvPr/>
        </p:nvSpPr>
        <p:spPr>
          <a:xfrm>
            <a:off x="-1797994" y="6165731"/>
            <a:ext cx="6096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Optimisation requêtes (PostGIS)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E268E-F325-8FAA-A1AC-E7C7A9F78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0;p8">
            <a:extLst>
              <a:ext uri="{FF2B5EF4-FFF2-40B4-BE49-F238E27FC236}">
                <a16:creationId xmlns:a16="http://schemas.microsoft.com/office/drawing/2014/main" id="{94FB2123-9A8D-634A-A5DF-6FD209AD83CA}"/>
              </a:ext>
            </a:extLst>
          </p:cNvPr>
          <p:cNvSpPr txBox="1"/>
          <p:nvPr/>
        </p:nvSpPr>
        <p:spPr>
          <a:xfrm>
            <a:off x="761695" y="2464819"/>
            <a:ext cx="7424362" cy="144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oppins"/>
              <a:buNone/>
            </a:pPr>
            <a:r>
              <a:rPr lang="fr-FR" sz="4800" b="1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Fiche projet</a:t>
            </a:r>
            <a:endParaRPr sz="4800" b="1" dirty="0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1552281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"/>
          <p:cNvSpPr/>
          <p:nvPr/>
        </p:nvSpPr>
        <p:spPr>
          <a:xfrm>
            <a:off x="239576" y="191463"/>
            <a:ext cx="364231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Périmètre du Projet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59595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9" name="Google Shape;199;p11"/>
          <p:cNvSpPr txBox="1"/>
          <p:nvPr/>
        </p:nvSpPr>
        <p:spPr>
          <a:xfrm>
            <a:off x="482540" y="553769"/>
            <a:ext cx="1156670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EXIGENCES FONCTIONNELLES</a:t>
            </a:r>
            <a:endParaRPr/>
          </a:p>
        </p:txBody>
      </p:sp>
      <p:cxnSp>
        <p:nvCxnSpPr>
          <p:cNvPr id="200" name="Google Shape;200;p11"/>
          <p:cNvCxnSpPr/>
          <p:nvPr/>
        </p:nvCxnSpPr>
        <p:spPr>
          <a:xfrm>
            <a:off x="366794" y="514628"/>
            <a:ext cx="778437" cy="0"/>
          </a:xfrm>
          <a:prstGeom prst="straightConnector1">
            <a:avLst/>
          </a:prstGeom>
          <a:noFill/>
          <a:ln w="28575" cap="flat" cmpd="sng">
            <a:solidFill>
              <a:srgbClr val="F05617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201" name="Google Shape;201;p11"/>
          <p:cNvGraphicFramePr/>
          <p:nvPr/>
        </p:nvGraphicFramePr>
        <p:xfrm>
          <a:off x="366794" y="1904623"/>
          <a:ext cx="11220475" cy="4566905"/>
        </p:xfrm>
        <a:graphic>
          <a:graphicData uri="http://schemas.openxmlformats.org/drawingml/2006/table">
            <a:tbl>
              <a:tblPr>
                <a:noFill/>
                <a:tableStyleId>{C72D1A7B-A8CF-40B2-ACF2-88DE3A67A9A7}</a:tableStyleId>
              </a:tblPr>
              <a:tblGrid>
                <a:gridCol w="33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1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8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9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9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5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5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6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88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97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04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A04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US-09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04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A04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🏗️ Fiche Projet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Afficher la fiche détaillée d'un projet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visiteur, je veux accéder à la fiche complète d'un projet, afin d'obtenir toutes les informations avant de contacter le promoteur.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Infos : nom, promoteur, prix,</a:t>
                      </a:r>
                      <a:r>
                        <a:rPr lang="fr-FR" sz="9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Nom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localisation, statut, description, standing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Galerie photos (carousel + lightbox)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Mini-carte de localisation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Badge 'Vérifié Immo24'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SEO : OG tags + schema.org RealEstateListing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Photos 3D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Plans des appartements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Vidéo du chantier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Localisation précise (Longitude/ Latitude)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Prix par m²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 de livraison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Nombre de lots restants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Page /projects/[slug] Next.js (SSR)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Composant &lt;ImageGallery&gt; + lightbox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JSON-LD RealEstateListing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Partage réseaux sociaux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Skeleton loading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922B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🔴 High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1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GET /api/projects/:slug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Format slug : nom-ville-id?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04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A04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US-10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04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A04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🏗️ Fiche Projet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Galerie photos immersive et plan 360°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visiteur, je veux voir les photos du projet en haute qualité avec option 360°, afin de visiter virtuellement le bien.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Carousel plein écran avec navigation clavier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Zoom sur les photos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Support iframe 360° (Matterport ou similaire)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Lazy loading des images avec placeholder flou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Compteur photos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Composant &lt;PhotoGallery&gt; (Swiper.js ou react-image-gallery)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Images optimisées WebP via CDN (CloudFront)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next/image blur placeholder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Intégration iframe 360° (option promoteur)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Responsive : plein écran mobile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7D660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🟡 Medium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3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Swiper.js / CloudFront CDN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Limite : max 20 photos par projet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5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04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A04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US-11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04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A04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🏗️ Fiche Projet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Télécharger la brochure et les plans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visiteur, je veux télécharger le plan de masse ou la brochure commerciale, afin de consulter les détails techniques hors ligne.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Bouton téléchargement visible sur la fiche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Formats acceptés : PDF, DWG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Tracking du nombre de téléchargements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Lien signé S3 (URL expirante 15min)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Compteur downloads en DB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Event Analytics 'document_download'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Gate email optionnelle (lead generation passif)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7D660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🟡 Medium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3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GET /api/projects/:id/documents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Gate email : obligatoire ou optionnel?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5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04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A04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US-12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04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A04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🏗️ Fiche Projet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Afficher les projets du même promoteur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visiteur, je veux voir les autres projets du même promoteur, afin d'explorer son portfolio.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Bloc 'Autres projets de ce promoteur'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Maximum 4 cards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Lien vers profil promoteur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GET /api/promoters/:id/projects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Composant &lt;PromoterProjects&gt;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Cache Redis TTL 30min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1E84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🟢 Low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4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GET /api/promoters/:id/projects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2" name="Google Shape;202;p11"/>
          <p:cNvGraphicFramePr/>
          <p:nvPr/>
        </p:nvGraphicFramePr>
        <p:xfrm>
          <a:off x="366794" y="1565308"/>
          <a:ext cx="11220475" cy="339325"/>
        </p:xfrm>
        <a:graphic>
          <a:graphicData uri="http://schemas.openxmlformats.org/drawingml/2006/table">
            <a:tbl>
              <a:tblPr>
                <a:noFill/>
                <a:tableStyleId>{C72D1A7B-A8CF-40B2-ACF2-88DE3A67A9A7}</a:tableStyleId>
              </a:tblPr>
              <a:tblGrid>
                <a:gridCol w="33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1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8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9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9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5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5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6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88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39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EPIC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Titre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 Story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Critères d'acceptation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Tâches techniques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Priorité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 / Composant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Notes / Clarifications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"/>
          <p:cNvSpPr/>
          <p:nvPr/>
        </p:nvSpPr>
        <p:spPr>
          <a:xfrm>
            <a:off x="239576" y="191463"/>
            <a:ext cx="364231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Périmètre du Projet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59595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9" name="Google Shape;209;p12"/>
          <p:cNvSpPr txBox="1"/>
          <p:nvPr/>
        </p:nvSpPr>
        <p:spPr>
          <a:xfrm>
            <a:off x="482540" y="553769"/>
            <a:ext cx="1156670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EXIGENCES FONCTIONNELLES</a:t>
            </a:r>
            <a:endParaRPr/>
          </a:p>
        </p:txBody>
      </p:sp>
      <p:cxnSp>
        <p:nvCxnSpPr>
          <p:cNvPr id="210" name="Google Shape;210;p12"/>
          <p:cNvCxnSpPr/>
          <p:nvPr/>
        </p:nvCxnSpPr>
        <p:spPr>
          <a:xfrm>
            <a:off x="366794" y="514628"/>
            <a:ext cx="778437" cy="0"/>
          </a:xfrm>
          <a:prstGeom prst="straightConnector1">
            <a:avLst/>
          </a:prstGeom>
          <a:noFill/>
          <a:ln w="28575" cap="flat" cmpd="sng">
            <a:solidFill>
              <a:srgbClr val="F05617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211" name="Google Shape;211;p12"/>
          <p:cNvGraphicFramePr/>
          <p:nvPr/>
        </p:nvGraphicFramePr>
        <p:xfrm>
          <a:off x="239576" y="2078899"/>
          <a:ext cx="11114175" cy="2887950"/>
        </p:xfrm>
        <a:graphic>
          <a:graphicData uri="http://schemas.openxmlformats.org/drawingml/2006/table">
            <a:tbl>
              <a:tblPr>
                <a:noFill/>
                <a:tableStyleId>{C72D1A7B-A8CF-40B2-ACF2-88DE3A67A9A7}</a:tableStyleId>
              </a:tblPr>
              <a:tblGrid>
                <a:gridCol w="32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65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93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24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2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9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739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214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922B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US-13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A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922B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📞 Lead / Contact &amp; Conversion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A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Formulaire de contact promoteur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visiteur, je veux envoyer une demande de contact au promoteur depuis la fiche (formulaire) , afin d'exprimer mon intérêt.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Champs : Nom, Prénom, Téléphone, Email, Message optionnel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Validation front (required, format)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CAPTCHA anti-spam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Lead enregistré en DB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Email notif promoteur + confirmation visiteur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Rate limiting 5 leads/IP/heure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Composant &lt;LeadForm&gt; (React Hook Form + Zod)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POST /api/leads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Google reCAPTCHA v3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Email transactionnel Mailjet/SendGrid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Rate limit Redis (clé ip:project)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Event Analytics 'lead_submitted'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922B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🔴 High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2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 /api/leads, SendGrid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Consentement RGPD requis?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922B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US-14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A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922B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📞 Lead / Contact &amp; Conversion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A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Confirmation et tracking du lead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A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visiteur, je veux recevoir une confirmation par email après envoi, afin d'être rassuré que ma demande a bien été transmise.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A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Toast de succès inline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Email de confirmation au visiteur (récapitulatif projet)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Email de notification au promoteur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Event de conversion tracké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A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Template email HTML responsive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Event GA4 'lead_conversion'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Tracking pixel Facebook (optionnel)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Log lead en DB avec UTM source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A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7D660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🟡 Medium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2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A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SendGrid templates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A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A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2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922B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US-15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A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922B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📞 Lead / Contact &amp; Conversion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A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Optimisation du tunnel de conversion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product manager, je veux mesurer et optimiser le funnel visiteur → lead, afin d'augmenter le taux de conversion.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Funnel steps définis : Vue fiche → CTA cliqué → Formulaire ouvert → Lead soumis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Chaque étape trackée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A/B test position CTA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Heatmap sur fiche projet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Events GA4 custom par étape funnel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Intégration Hotjar ou Microsoft Clarity (heatmaps)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Expériences Google Optimize (A/B test)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Dashboard funnel admin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7D660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🟡 Medium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5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GA4 Events, Hotjar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Budget outil heatmap (gratuit vs payant)?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2" name="Google Shape;212;p12"/>
          <p:cNvGraphicFramePr/>
          <p:nvPr/>
        </p:nvGraphicFramePr>
        <p:xfrm>
          <a:off x="239576" y="1728237"/>
          <a:ext cx="11114200" cy="339325"/>
        </p:xfrm>
        <a:graphic>
          <a:graphicData uri="http://schemas.openxmlformats.org/drawingml/2006/table">
            <a:tbl>
              <a:tblPr>
                <a:noFill/>
                <a:tableStyleId>{C72D1A7B-A8CF-40B2-ACF2-88DE3A67A9A7}</a:tableStyleId>
              </a:tblPr>
              <a:tblGrid>
                <a:gridCol w="32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9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29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24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2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9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739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39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EPIC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Titre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 Story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Critères d'acceptation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Tâches techniques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Priorité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 / Composant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Notes / Clarifications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D80B6-EFB4-FB49-BDB8-56FE4FC20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0;p8">
            <a:extLst>
              <a:ext uri="{FF2B5EF4-FFF2-40B4-BE49-F238E27FC236}">
                <a16:creationId xmlns:a16="http://schemas.microsoft.com/office/drawing/2014/main" id="{5700BCB3-08D0-68ED-1503-8AA3003FEF05}"/>
              </a:ext>
            </a:extLst>
          </p:cNvPr>
          <p:cNvSpPr txBox="1"/>
          <p:nvPr/>
        </p:nvSpPr>
        <p:spPr>
          <a:xfrm>
            <a:off x="761695" y="2464819"/>
            <a:ext cx="7424362" cy="144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oppins"/>
              <a:buNone/>
            </a:pPr>
            <a:r>
              <a:rPr lang="fr-FR" sz="4800" b="1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Fiche Annonce</a:t>
            </a:r>
            <a:endParaRPr sz="4800" b="1" dirty="0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340870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87109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05DC1-EA95-632A-A1E4-D7C592940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0;p8">
            <a:extLst>
              <a:ext uri="{FF2B5EF4-FFF2-40B4-BE49-F238E27FC236}">
                <a16:creationId xmlns:a16="http://schemas.microsoft.com/office/drawing/2014/main" id="{5F451B09-B371-269C-4040-042D606966A3}"/>
              </a:ext>
            </a:extLst>
          </p:cNvPr>
          <p:cNvSpPr txBox="1"/>
          <p:nvPr/>
        </p:nvSpPr>
        <p:spPr>
          <a:xfrm>
            <a:off x="761695" y="2464819"/>
            <a:ext cx="7424362" cy="144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oppins"/>
              <a:buNone/>
            </a:pPr>
            <a:r>
              <a:rPr lang="fr-FR" sz="4800" b="1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Monétisation et Mise en avant (a la une , bannière..)</a:t>
            </a:r>
            <a:endParaRPr sz="4800" b="1" dirty="0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2763477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"/>
          <p:cNvSpPr/>
          <p:nvPr/>
        </p:nvSpPr>
        <p:spPr>
          <a:xfrm>
            <a:off x="239576" y="191463"/>
            <a:ext cx="364231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Périmètre du Projet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59595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9" name="Google Shape;219;p13"/>
          <p:cNvSpPr txBox="1"/>
          <p:nvPr/>
        </p:nvSpPr>
        <p:spPr>
          <a:xfrm>
            <a:off x="482540" y="553769"/>
            <a:ext cx="1156670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EXIGENCES FONCTIONNELLES</a:t>
            </a:r>
            <a:endParaRPr/>
          </a:p>
        </p:txBody>
      </p:sp>
      <p:cxnSp>
        <p:nvCxnSpPr>
          <p:cNvPr id="220" name="Google Shape;220;p13"/>
          <p:cNvCxnSpPr/>
          <p:nvPr/>
        </p:nvCxnSpPr>
        <p:spPr>
          <a:xfrm>
            <a:off x="366794" y="514628"/>
            <a:ext cx="778437" cy="0"/>
          </a:xfrm>
          <a:prstGeom prst="straightConnector1">
            <a:avLst/>
          </a:prstGeom>
          <a:noFill/>
          <a:ln w="28575" cap="flat" cmpd="sng">
            <a:solidFill>
              <a:srgbClr val="F05617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221" name="Google Shape;221;p13"/>
          <p:cNvGraphicFramePr/>
          <p:nvPr/>
        </p:nvGraphicFramePr>
        <p:xfrm>
          <a:off x="777815" y="1363715"/>
          <a:ext cx="10871225" cy="4130575"/>
        </p:xfrm>
        <a:graphic>
          <a:graphicData uri="http://schemas.openxmlformats.org/drawingml/2006/table">
            <a:tbl>
              <a:tblPr>
                <a:noFill/>
                <a:tableStyleId>{C72D1A7B-A8CF-40B2-ACF2-88DE3A67A9A7}</a:tableStyleId>
              </a:tblPr>
              <a:tblGrid>
                <a:gridCol w="32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4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5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3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417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223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84212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7842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US-16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0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84212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7842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💰 Publicité &amp; Monétisation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0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Gestion des bannières par le promoteur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0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promoteur, je veux acheter et gérer des emplacements publicitaires, afin d'augmenter la visibilité de mes projets.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0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Catalogue emplacements : Homepage, Résultats, Fiche projet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Upload visuel bannière (formats définis : 728×90, 300×250)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Sélection période de diffusion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Statuts : En attente / Active / Expirée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Paiement en ligne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0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Module Banner CRUD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Intégration paiement (Konnect TN / Stripe)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Planificateur diffusion (cron BullMQ)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Preview bannière avant soumission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Formats et specs bannières documentés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0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7D660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🟡 Medium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5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0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 /api/banners, Konnect API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0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Modèle : forfait, CPM ou CPC?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3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84212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7842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US-17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0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84212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7842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💰 Publicité &amp; Monétisation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0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Affichage des bannières côté visiteur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visiteur, je veux voir des bannières publicitaires pertinentes sur la plateforme, afin d'être informé des projets mis en avant.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Bannières affichées selon emplacement et période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Pas de bannière sur utilisateur connecté admin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Rotation aléatoire si plusieurs bannières actives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Pas de ralentissement de la page (lazy load)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Composant &lt;BannerSlot&gt; configurable par emplacement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GET /api/banners/active?slot=homepage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Cache Redis TTL 5min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Lazy load intersection observer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Impressions comptées côté serveur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7D660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🟡 Medium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5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GET /api/banners/active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Règle : max 1 bannière concurrent par emplacement?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8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84212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7842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US-18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0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84212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7842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💰 Publicité &amp; Monétisation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0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Dashboard performance bannières (promoteur)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0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promoteur, je veux voir les impressions et clics de mes bannières, afin de mesurer le ROI de mon investissement pub.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0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KPIs : impressions, clics, CTR, durée restante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Graphique temporal (par jour/semaine)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Export CSV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0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GET /api/promoter/banners/:id/stats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Compteurs Redis flush vers DB toutes les 15min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Composant &lt;BannerStats&gt; avec Recharts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Export CSV Papa Parse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0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7D660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🟡 Medium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6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0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GET /api/promoter/banners/:id/stats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0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Fraude au clic : protection prévue?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5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84212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7842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US-19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0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84212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7842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💰 Publicité &amp; Monétisation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0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Projets mis en avant (featured listing)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promoteur, je veux payer pour que mon projet apparaisse en tête des résultats, afin de maximiser sa visibilité.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Badge 'Mis en avant' visible sur card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Tri : projets featured en premier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Durée configurable (7j, 15j, 30j)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Paiement en ligne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Champ is_featured + featured_until en DB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Logique de tri : featured first puis date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Paiement même flow que bannières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Expiration automatique (cron BullMQ)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7D660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🟡 Medium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5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PATCH /api/projects/:id/feature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Prix par durée à définir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22" name="Google Shape;222;p13"/>
          <p:cNvGraphicFramePr/>
          <p:nvPr/>
        </p:nvGraphicFramePr>
        <p:xfrm>
          <a:off x="777815" y="1037848"/>
          <a:ext cx="10871225" cy="339325"/>
        </p:xfrm>
        <a:graphic>
          <a:graphicData uri="http://schemas.openxmlformats.org/drawingml/2006/table">
            <a:tbl>
              <a:tblPr>
                <a:noFill/>
                <a:tableStyleId>{C72D1A7B-A8CF-40B2-ACF2-88DE3A67A9A7}</a:tableStyleId>
              </a:tblPr>
              <a:tblGrid>
                <a:gridCol w="32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4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5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3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417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39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EPIC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Titre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 Story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Critères d'acceptation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Tâches techniques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Priorité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 / Composant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Notes / Clarifications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3EEE4-2027-39F8-B3D6-2F20728E4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0;p8">
            <a:extLst>
              <a:ext uri="{FF2B5EF4-FFF2-40B4-BE49-F238E27FC236}">
                <a16:creationId xmlns:a16="http://schemas.microsoft.com/office/drawing/2014/main" id="{2ACEBF05-D4DF-95B5-5774-63D69D21C9FC}"/>
              </a:ext>
            </a:extLst>
          </p:cNvPr>
          <p:cNvSpPr txBox="1"/>
          <p:nvPr/>
        </p:nvSpPr>
        <p:spPr>
          <a:xfrm>
            <a:off x="761695" y="2464819"/>
            <a:ext cx="7424362" cy="144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oppins"/>
              <a:buNone/>
            </a:pPr>
            <a:r>
              <a:rPr lang="fr-FR" sz="4800" b="1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Authentification et création de compte</a:t>
            </a:r>
            <a:endParaRPr sz="4800" b="1" dirty="0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2774021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306D1959-A5EF-7D2B-D031-065E6AC9D2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901860"/>
              </p:ext>
            </p:extLst>
          </p:nvPr>
        </p:nvGraphicFramePr>
        <p:xfrm>
          <a:off x="188777" y="420158"/>
          <a:ext cx="10981350" cy="339325"/>
        </p:xfrm>
        <a:graphic>
          <a:graphicData uri="http://schemas.openxmlformats.org/drawingml/2006/table">
            <a:tbl>
              <a:tblPr>
                <a:noFill/>
                <a:tableStyleId>{C72D1A7B-A8CF-40B2-ACF2-88DE3A67A9A7}</a:tableStyleId>
              </a:tblPr>
              <a:tblGrid>
                <a:gridCol w="323625">
                  <a:extLst>
                    <a:ext uri="{9D8B030D-6E8A-4147-A177-3AD203B41FA5}">
                      <a16:colId xmlns:a16="http://schemas.microsoft.com/office/drawing/2014/main" val="1150065512"/>
                    </a:ext>
                  </a:extLst>
                </a:gridCol>
                <a:gridCol w="904700">
                  <a:extLst>
                    <a:ext uri="{9D8B030D-6E8A-4147-A177-3AD203B41FA5}">
                      <a16:colId xmlns:a16="http://schemas.microsoft.com/office/drawing/2014/main" val="4004683571"/>
                    </a:ext>
                  </a:extLst>
                </a:gridCol>
                <a:gridCol w="941475">
                  <a:extLst>
                    <a:ext uri="{9D8B030D-6E8A-4147-A177-3AD203B41FA5}">
                      <a16:colId xmlns:a16="http://schemas.microsoft.com/office/drawing/2014/main" val="3446375796"/>
                    </a:ext>
                  </a:extLst>
                </a:gridCol>
                <a:gridCol w="1779950">
                  <a:extLst>
                    <a:ext uri="{9D8B030D-6E8A-4147-A177-3AD203B41FA5}">
                      <a16:colId xmlns:a16="http://schemas.microsoft.com/office/drawing/2014/main" val="1216341833"/>
                    </a:ext>
                  </a:extLst>
                </a:gridCol>
                <a:gridCol w="2103600">
                  <a:extLst>
                    <a:ext uri="{9D8B030D-6E8A-4147-A177-3AD203B41FA5}">
                      <a16:colId xmlns:a16="http://schemas.microsoft.com/office/drawing/2014/main" val="680524867"/>
                    </a:ext>
                  </a:extLst>
                </a:gridCol>
                <a:gridCol w="2103600">
                  <a:extLst>
                    <a:ext uri="{9D8B030D-6E8A-4147-A177-3AD203B41FA5}">
                      <a16:colId xmlns:a16="http://schemas.microsoft.com/office/drawing/2014/main" val="1373228460"/>
                    </a:ext>
                  </a:extLst>
                </a:gridCol>
                <a:gridCol w="338350">
                  <a:extLst>
                    <a:ext uri="{9D8B030D-6E8A-4147-A177-3AD203B41FA5}">
                      <a16:colId xmlns:a16="http://schemas.microsoft.com/office/drawing/2014/main" val="2159916125"/>
                    </a:ext>
                  </a:extLst>
                </a:gridCol>
                <a:gridCol w="308925">
                  <a:extLst>
                    <a:ext uri="{9D8B030D-6E8A-4147-A177-3AD203B41FA5}">
                      <a16:colId xmlns:a16="http://schemas.microsoft.com/office/drawing/2014/main" val="1673151821"/>
                    </a:ext>
                  </a:extLst>
                </a:gridCol>
                <a:gridCol w="720800">
                  <a:extLst>
                    <a:ext uri="{9D8B030D-6E8A-4147-A177-3AD203B41FA5}">
                      <a16:colId xmlns:a16="http://schemas.microsoft.com/office/drawing/2014/main" val="1990485604"/>
                    </a:ext>
                  </a:extLst>
                </a:gridCol>
                <a:gridCol w="1456325">
                  <a:extLst>
                    <a:ext uri="{9D8B030D-6E8A-4147-A177-3AD203B41FA5}">
                      <a16:colId xmlns:a16="http://schemas.microsoft.com/office/drawing/2014/main" val="952451973"/>
                    </a:ext>
                  </a:extLst>
                </a:gridCol>
              </a:tblGrid>
              <a:tr h="339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EPIC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Titre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 Story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Critères d'acceptation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Tâches techniques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Priorité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 / Composant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Notes / Clarifications</a:t>
                      </a: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695839"/>
                  </a:ext>
                </a:extLst>
              </a:tr>
            </a:tbl>
          </a:graphicData>
        </a:graphic>
      </p:graphicFrame>
      <p:graphicFrame>
        <p:nvGraphicFramePr>
          <p:cNvPr id="3" name="Google Shape;231;p14">
            <a:extLst>
              <a:ext uri="{FF2B5EF4-FFF2-40B4-BE49-F238E27FC236}">
                <a16:creationId xmlns:a16="http://schemas.microsoft.com/office/drawing/2014/main" id="{C4311627-3A21-1C62-0567-7593B1A75E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7534072"/>
              </p:ext>
            </p:extLst>
          </p:nvPr>
        </p:nvGraphicFramePr>
        <p:xfrm>
          <a:off x="188777" y="759483"/>
          <a:ext cx="10914875" cy="2342295"/>
        </p:xfrm>
        <a:graphic>
          <a:graphicData uri="http://schemas.openxmlformats.org/drawingml/2006/table">
            <a:tbl>
              <a:tblPr>
                <a:noFill/>
                <a:tableStyleId>{C72D1A7B-A8CF-40B2-ACF2-88DE3A67A9A7}</a:tableStyleId>
              </a:tblPr>
              <a:tblGrid>
                <a:gridCol w="32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5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9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7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64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47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98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3483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6C348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US-20</a:t>
                      </a:r>
                      <a:endParaRPr lang="fr-FR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3483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6C348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🔐 Authentification &amp; Comptes</a:t>
                      </a:r>
                      <a:endParaRPr lang="fr-FR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Inscription et connexion promoteur</a:t>
                      </a:r>
                      <a:endParaRPr lang="fr-FR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promoteur, je veux créer un compte et me connecter, afin d'accéder au backoffice.</a:t>
                      </a:r>
                      <a:endParaRPr lang="fr-FR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Inscription : Email, Mot de passe, Nom société, Téléphone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Vérification email (lien 24h)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Connexion JWT + Refresh token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Session 'remember me'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Déconnexion sécurisée</a:t>
                      </a:r>
                      <a:endParaRPr lang="fr-FR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NestJS Auth module (Passport + JWT RS256)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Bcrypt rounds=12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Email vérification (Mailjet)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Refresh token rotation + Redis blacklist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Guard RBAC sur routes privées</a:t>
                      </a:r>
                      <a:endParaRPr lang="fr-FR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922B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🔴 High</a:t>
                      </a:r>
                      <a:endParaRPr lang="fr-FR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1</a:t>
                      </a:r>
                      <a:endParaRPr lang="fr-FR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 /auth/register, /auth/login</a:t>
                      </a:r>
                      <a:endParaRPr lang="en-US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SSO Google/LinkedIn prévu en v2?</a:t>
                      </a:r>
                      <a:endParaRPr lang="fr-FR"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D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3483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6C348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US-21</a:t>
                      </a:r>
                      <a:endParaRPr lang="fr-FR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3483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6C348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🔐 Authentification &amp; Comptes</a:t>
                      </a:r>
                      <a:endParaRPr lang="fr-FR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Réinitialisation mot de passe</a:t>
                      </a:r>
                      <a:endParaRPr lang="fr-FR"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qu'utilisateur, je veux réinitialiser mon mot de passe par email, afin de récupérer l'accès à mon compte.</a:t>
                      </a:r>
                      <a:endParaRPr lang="fr-FR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Lien reset par email (token HMAC, expiration 1h)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Formulaire nouveau mot de passe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Invalidation token après utilisation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Notification de sécurité par email</a:t>
                      </a:r>
                      <a:endParaRPr lang="fr-FR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POST /auth/forgot-password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Token crypto.randomBytes 32 stocké en Redis TTL 3600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POST /auth/reset-password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Email template sécurité</a:t>
                      </a:r>
                      <a:endParaRPr lang="fr-FR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7D660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🟡 Medium</a:t>
                      </a:r>
                      <a:endParaRPr lang="fr-FR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1</a:t>
                      </a:r>
                      <a:endParaRPr lang="fr-FR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 /auth/reset-password</a:t>
                      </a:r>
                      <a:endParaRPr lang="fr-FR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lang="fr-FR"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3483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6C348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US-22</a:t>
                      </a:r>
                      <a:endParaRPr lang="fr-FR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3483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6C348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🔐 Authentification &amp; Comptes</a:t>
                      </a:r>
                      <a:endParaRPr lang="fr-FR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Gestion du profil promoteur</a:t>
                      </a:r>
                      <a:endParaRPr lang="fr-FR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promoteur, je veux modifier mon profil (logo, description, contact), afin de renforcer ma crédibilité sur la plateforme.</a:t>
                      </a:r>
                      <a:endParaRPr lang="fr-FR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Édition : nom société, logo, description, site web, téléphone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Upload logo (max 2MB, JPEG/PNG/SVG)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Aperçu du profil public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Badge de vérification promoteur</a:t>
                      </a:r>
                      <a:endParaRPr lang="fr-FR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PUT /api/promoter/profile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Upload logo S3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Page publique /promoteurs/:slug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Validation manuelle par admin pour badge vérifié</a:t>
                      </a:r>
                      <a:endParaRPr lang="fr-FR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7D660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🟡 Medium</a:t>
                      </a:r>
                      <a:endParaRPr lang="fr-FR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3</a:t>
                      </a:r>
                      <a:endParaRPr lang="fr-FR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PUT /api/promoter/profile</a:t>
                      </a:r>
                      <a:endParaRPr lang="fr-FR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Critères badge vérification promoteur?</a:t>
                      </a:r>
                      <a:endParaRPr lang="fr-FR"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D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24815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83F8B-0F7F-684B-FB35-BF32BE419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0;p8">
            <a:extLst>
              <a:ext uri="{FF2B5EF4-FFF2-40B4-BE49-F238E27FC236}">
                <a16:creationId xmlns:a16="http://schemas.microsoft.com/office/drawing/2014/main" id="{C7172A06-74AC-4DD9-966C-B57DD1559040}"/>
              </a:ext>
            </a:extLst>
          </p:cNvPr>
          <p:cNvSpPr txBox="1"/>
          <p:nvPr/>
        </p:nvSpPr>
        <p:spPr>
          <a:xfrm>
            <a:off x="761695" y="2464819"/>
            <a:ext cx="7424362" cy="144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oppins"/>
              <a:buNone/>
            </a:pPr>
            <a:r>
              <a:rPr lang="fr-FR" sz="4800" b="1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Backoffice Admin</a:t>
            </a:r>
            <a:endParaRPr sz="4800" b="1" dirty="0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7953152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5"/>
          <p:cNvSpPr/>
          <p:nvPr/>
        </p:nvSpPr>
        <p:spPr>
          <a:xfrm>
            <a:off x="239576" y="191463"/>
            <a:ext cx="364231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Périmètre du Projet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59595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0" name="Google Shape;240;p15"/>
          <p:cNvSpPr txBox="1"/>
          <p:nvPr/>
        </p:nvSpPr>
        <p:spPr>
          <a:xfrm>
            <a:off x="482540" y="553769"/>
            <a:ext cx="1156670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EXIGENCES FONCTIONNELLES</a:t>
            </a:r>
            <a:endParaRPr/>
          </a:p>
        </p:txBody>
      </p:sp>
      <p:cxnSp>
        <p:nvCxnSpPr>
          <p:cNvPr id="241" name="Google Shape;241;p15"/>
          <p:cNvCxnSpPr/>
          <p:nvPr/>
        </p:nvCxnSpPr>
        <p:spPr>
          <a:xfrm>
            <a:off x="366794" y="514628"/>
            <a:ext cx="778437" cy="0"/>
          </a:xfrm>
          <a:prstGeom prst="straightConnector1">
            <a:avLst/>
          </a:prstGeom>
          <a:noFill/>
          <a:ln w="28575" cap="flat" cmpd="sng">
            <a:solidFill>
              <a:srgbClr val="F05617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242" name="Google Shape;242;p15"/>
          <p:cNvGraphicFramePr/>
          <p:nvPr/>
        </p:nvGraphicFramePr>
        <p:xfrm>
          <a:off x="777815" y="1037848"/>
          <a:ext cx="10871225" cy="339325"/>
        </p:xfrm>
        <a:graphic>
          <a:graphicData uri="http://schemas.openxmlformats.org/drawingml/2006/table">
            <a:tbl>
              <a:tblPr>
                <a:noFill/>
                <a:tableStyleId>{C72D1A7B-A8CF-40B2-ACF2-88DE3A67A9A7}</a:tableStyleId>
              </a:tblPr>
              <a:tblGrid>
                <a:gridCol w="32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4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5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3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417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39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EPIC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Titre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 Story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Critères d'acceptation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Tâches techniques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Priorité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 / Composant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Notes / Clarifications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3" name="Google Shape;243;p15"/>
          <p:cNvGraphicFramePr/>
          <p:nvPr/>
        </p:nvGraphicFramePr>
        <p:xfrm>
          <a:off x="756012" y="1377162"/>
          <a:ext cx="10871225" cy="3480600"/>
        </p:xfrm>
        <a:graphic>
          <a:graphicData uri="http://schemas.openxmlformats.org/drawingml/2006/table">
            <a:tbl>
              <a:tblPr>
                <a:noFill/>
                <a:tableStyleId>{C72D1A7B-A8CF-40B2-ACF2-88DE3A67A9A7}</a:tableStyleId>
              </a:tblPr>
              <a:tblGrid>
                <a:gridCol w="32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4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5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3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417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158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4053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2E40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US-23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DB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4053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2E40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⚙️ Admin Plateforme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DB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Valider ou refuser un projet soumis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qu'admin, je veux modérer les projets soumis avec validation ou refus motivé, afin de garantir la qualité 100% vérifiée.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File PENDING visible + prévisualisation fiche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Valider → statut PUBLISHED + notif promoteur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Refuser → motif obligatoire + notif promoteur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Checklist de vérification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Historique modération (audit log)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Interface admin React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PATCH /admin/projects/:id/status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Email notif promoteur (template validation/refus)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Audit log (acteur, date, action, motif)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Score IA de vérification affiché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922B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🔴 High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4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PATCH /admin/projects/:id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SLA modération : 24h ou 48h?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0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4053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2E40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US-24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DB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4053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2E40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⚙️ Admin Plateforme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DB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Gérer les utilisateurs et leurs rôles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DB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qu'admin, je veux gérer les comptes et attribuer les rôles (promoteur, admin, super-admin), afin de contrôler les accès.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DB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Liste utilisateurs : rôle, statut, date inscription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Suspension / réactivation compte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Attribution / révocation rôle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Recherche par email ou nom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Audit trail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DB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GET /admin/users (pagination)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PATCH /admin/users/:id/role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PATCH /admin/users/:id/status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RBAC NestJS Guards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Log chaque action admin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DB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922B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🔴 High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4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DB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CRUD /admin/users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DB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Super-admin unique?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D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4053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2E40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US-25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DB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4053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2E40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⚙️ Admin Plateforme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DB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Dashboard statistiques globales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qu'admin, je veux consulter un tableau de bord analytique, afin de mesurer les performances de la plateforme.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KPIs : projets publiés, leads/jour, visiteurs uniques, taux conversion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Graphiques temporels (leads, vues)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Filtre par période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Export rapport PDF/Excel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GET /admin/stats (agrégats SQL)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Vues materialisées PostgreSQL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Dashboard Recharts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Export PDF (jsPDF)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Données GA4 via API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7D660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🟡 Medium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5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GET /admin/stats, GA4 API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 externe Metabase envisagé?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4053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2E40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US-26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DB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4053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2E40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⚙️ Admin Plateforme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DB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Modération bannières publicitaires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DB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qu'admin, je veux approuver ou refuser les bannières soumises par les promoteurs, afin de contrôler la qualité des publicités.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DB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File de bannières PENDING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Prévisualisation sur page simulée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Validation/refus + motif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Notif promoteur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DB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PATCH /admin/banners/:id/status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Interface preview rendu bannière</a:t>
                      </a:r>
                      <a:b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Email notif promoteur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DB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1" i="0" u="none" strike="noStrike" cap="none">
                          <a:solidFill>
                            <a:srgbClr val="7D660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🟡 Medium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5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DB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PATCH /admin/banners/:id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DB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D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4"/>
          <p:cNvSpPr/>
          <p:nvPr/>
        </p:nvSpPr>
        <p:spPr>
          <a:xfrm>
            <a:off x="239576" y="191463"/>
            <a:ext cx="364231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Périmètre du Projet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59595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9" name="Google Shape;229;p14"/>
          <p:cNvSpPr txBox="1"/>
          <p:nvPr/>
        </p:nvSpPr>
        <p:spPr>
          <a:xfrm>
            <a:off x="482540" y="553769"/>
            <a:ext cx="1156670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EXIGENCES FONCTIONNELLES</a:t>
            </a:r>
            <a:endParaRPr/>
          </a:p>
        </p:txBody>
      </p:sp>
      <p:cxnSp>
        <p:nvCxnSpPr>
          <p:cNvPr id="230" name="Google Shape;230;p14"/>
          <p:cNvCxnSpPr/>
          <p:nvPr/>
        </p:nvCxnSpPr>
        <p:spPr>
          <a:xfrm>
            <a:off x="366794" y="514628"/>
            <a:ext cx="778437" cy="0"/>
          </a:xfrm>
          <a:prstGeom prst="straightConnector1">
            <a:avLst/>
          </a:prstGeom>
          <a:noFill/>
          <a:ln w="28575" cap="flat" cmpd="sng">
            <a:solidFill>
              <a:srgbClr val="F05617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232" name="Google Shape;232;p14"/>
          <p:cNvGraphicFramePr/>
          <p:nvPr>
            <p:extLst>
              <p:ext uri="{D42A27DB-BD31-4B8C-83A1-F6EECF244321}">
                <p14:modId xmlns:p14="http://schemas.microsoft.com/office/powerpoint/2010/main" val="534599696"/>
              </p:ext>
            </p:extLst>
          </p:nvPr>
        </p:nvGraphicFramePr>
        <p:xfrm>
          <a:off x="239576" y="1170093"/>
          <a:ext cx="10914875" cy="3047650"/>
        </p:xfrm>
        <a:graphic>
          <a:graphicData uri="http://schemas.openxmlformats.org/drawingml/2006/table">
            <a:tbl>
              <a:tblPr>
                <a:noFill/>
                <a:tableStyleId>{C72D1A7B-A8CF-40B2-ACF2-88DE3A67A9A7}</a:tableStyleId>
              </a:tblPr>
              <a:tblGrid>
                <a:gridCol w="32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5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9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7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64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47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98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655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0E66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US-27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F2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655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0E66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🏢 Backoffice Promoteur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F2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Créer et soumettre un projet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promoteur, je veux créer une fiche projet et la soumettre à validation, afin de la publier sur la plateforme.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Formulaire multi-étapes : Info générales → Médias → Localisation → Prix → Soumission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Draft sauvegardé auto (30s)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Upload photos (max 20, 5MB chacune) et PDF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Geocoding adresse → coordonnées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Statut PENDING après soumission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Formulaire React Hook Form + Zod (multi-steps)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Upload S3 avec presigned URL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POST /api/promoter/projects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Auto-save localStorage + PATCH draft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Google Maps Geocoding API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922B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🔴 High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3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 /api/promoter/projects, Geocoding API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Formats DWG supportés?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655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0E66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US-28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F2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655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0E66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🏢 Backoffice Promoteur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F2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Gérer ses projets (liste, édition, archivage)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F2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promoteur, je veux voir et gérer tous mes projets depuis un dashboard, afin de maintenir mes annonces à jour.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F2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Liste projets avec statut coloré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Édition projet existant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Archivage (soft delete)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✅Badge 'Action requise' si refusé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✅Je peux gérer mes annonces dans un projet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F2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GET /api/promoter/projects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PUT /api/promoter/projects/:id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DELETE soft /api/promoter/projects/:id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Pagination côté serveur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Filtre par statut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F2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922B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🔴 High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3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F2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CRUD /api/promoter/projects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F2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655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0E66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US-29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F2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655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0E66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🏢 Backoffice Promoteur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F2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Voir et gérer les leads reçus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promoteur, je veux consulter les leads reçus et mettre à jour leur statut, afin de suivre mes prospects.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Liste leads : nom, email, tél, projet, date, statut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Statuts : Nouveau / Contacté / Qualifié / Perdu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Notif email nouveau lead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Export CSV des leads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GET /api/promoter/leads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PATCH /api/promoter/leads/:id/status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Composant &lt;LeadsTable&gt;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Export CSV (Papa Parse)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Badge compteur leads non lus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922B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🔴 High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3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GET /api/promoter/leads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Notes internes sur leads prévues?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655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0E66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US-30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F2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655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0E66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🏢 Backoffice Promoteur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F2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Tableau de bord promoteur (</a:t>
                      </a:r>
                      <a:r>
                        <a:rPr lang="fr-FR" sz="8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analytics</a:t>
                      </a:r>
                      <a:r>
                        <a:rPr lang="fr-FR" sz="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projets)</a:t>
                      </a: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F2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promoteur, je veux voir les performances de mes projets (vues, leads, clics CTA), afin d'optimiser mes annonces.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F2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KPIs par projet : vues, leads, CTR CTA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Graphique temporel 7j/30j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Comparaison entre projets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Notification si projet sous-performant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F2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GET /api/promoter/stats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Agrégats depuis events tracking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Recharts barres + lignes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Digest email hebdo automatique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F2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7D660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🟡 Medium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6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F2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GET /api/promoter/stats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F2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33" name="Google Shape;233;p14"/>
          <p:cNvGraphicFramePr/>
          <p:nvPr/>
        </p:nvGraphicFramePr>
        <p:xfrm>
          <a:off x="239576" y="830768"/>
          <a:ext cx="10981350" cy="339325"/>
        </p:xfrm>
        <a:graphic>
          <a:graphicData uri="http://schemas.openxmlformats.org/drawingml/2006/table">
            <a:tbl>
              <a:tblPr>
                <a:noFill/>
                <a:tableStyleId>{C72D1A7B-A8CF-40B2-ACF2-88DE3A67A9A7}</a:tableStyleId>
              </a:tblPr>
              <a:tblGrid>
                <a:gridCol w="32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9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3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8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0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56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39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EPIC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Titre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 Story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Critères d'acceptation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Tâches techniques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Priorité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 / Composant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Notes / Clarifications</a:t>
                      </a:r>
                      <a:endParaRPr dirty="0"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92053"/>
            </a:gs>
            <a:gs pos="100000">
              <a:srgbClr val="0B0E25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6"/>
          <p:cNvSpPr/>
          <p:nvPr/>
        </p:nvSpPr>
        <p:spPr>
          <a:xfrm>
            <a:off x="7905902" y="-1429207"/>
            <a:ext cx="5715000" cy="5715000"/>
          </a:xfrm>
          <a:prstGeom prst="ellipse">
            <a:avLst/>
          </a:prstGeom>
          <a:solidFill>
            <a:srgbClr val="3B82F6">
              <a:alpha val="509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9" name="Google Shape;249;p16"/>
          <p:cNvSpPr txBox="1"/>
          <p:nvPr/>
        </p:nvSpPr>
        <p:spPr>
          <a:xfrm>
            <a:off x="761695" y="2464819"/>
            <a:ext cx="7424362" cy="144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oppins"/>
              <a:buNone/>
            </a:pPr>
            <a:r>
              <a:rPr lang="fr-FR" sz="4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Backlog des features transverses</a:t>
            </a:r>
            <a:endParaRPr sz="4800" b="1" i="0" u="none" strike="noStrike" cap="none">
              <a:solidFill>
                <a:srgbClr val="3B82F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0" name="Google Shape;250;p16"/>
          <p:cNvSpPr/>
          <p:nvPr/>
        </p:nvSpPr>
        <p:spPr>
          <a:xfrm rot="5400000">
            <a:off x="230512" y="800844"/>
            <a:ext cx="719187" cy="1180216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28C6FF"/>
          </a:solidFill>
          <a:ln>
            <a:noFill/>
          </a:ln>
          <a:effectLst>
            <a:outerShdw blurRad="254000" dist="127000" dir="5400000" algn="t" rotWithShape="0">
              <a:schemeClr val="accent4">
                <a:alpha val="20000"/>
              </a:schemeClr>
            </a:outerShdw>
          </a:effectLst>
        </p:spPr>
        <p:txBody>
          <a:bodyPr spcFirstLastPara="1" wrap="square" lIns="243825" tIns="45700" rIns="2438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</a:pPr>
            <a:endParaRPr sz="2133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16"/>
          <p:cNvSpPr/>
          <p:nvPr/>
        </p:nvSpPr>
        <p:spPr>
          <a:xfrm>
            <a:off x="109270" y="1113848"/>
            <a:ext cx="961669" cy="554208"/>
          </a:xfrm>
          <a:prstGeom prst="roundRect">
            <a:avLst>
              <a:gd name="adj" fmla="val 27835"/>
            </a:avLst>
          </a:prstGeom>
          <a:noFill/>
          <a:ln>
            <a:noFill/>
          </a:ln>
          <a:effectLst>
            <a:outerShdw blurRad="254000" dist="127000" dir="5400000" algn="t" rotWithShape="0">
              <a:schemeClr val="accent4">
                <a:alpha val="20000"/>
              </a:schemeClr>
            </a:outerShdw>
          </a:effectLst>
        </p:spPr>
        <p:txBody>
          <a:bodyPr spcFirstLastPara="1" wrap="square" lIns="243825" tIns="45700" rIns="2438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33"/>
              <a:buFont typeface="Montserrat"/>
              <a:buNone/>
            </a:pPr>
            <a:r>
              <a:rPr lang="fr-FR" sz="2133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7"/>
          <p:cNvSpPr/>
          <p:nvPr/>
        </p:nvSpPr>
        <p:spPr>
          <a:xfrm>
            <a:off x="239576" y="191463"/>
            <a:ext cx="364231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Quattrocento Sans"/>
              <a:buNone/>
            </a:pPr>
            <a:r>
              <a:rPr lang="fr-FR" sz="1400" b="1" i="0" u="none" strike="noStrike" cap="non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Périmètre du Projet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59595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8" name="Google Shape;258;p17"/>
          <p:cNvSpPr txBox="1"/>
          <p:nvPr/>
        </p:nvSpPr>
        <p:spPr>
          <a:xfrm>
            <a:off x="482540" y="553769"/>
            <a:ext cx="1156670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Quattrocento Sans"/>
              <a:buNone/>
            </a:pPr>
            <a:r>
              <a:rPr lang="fr-FR" sz="18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EXIGENCES FONCTIONNELLES</a:t>
            </a:r>
            <a:endParaRPr/>
          </a:p>
        </p:txBody>
      </p:sp>
      <p:cxnSp>
        <p:nvCxnSpPr>
          <p:cNvPr id="259" name="Google Shape;259;p17"/>
          <p:cNvCxnSpPr/>
          <p:nvPr/>
        </p:nvCxnSpPr>
        <p:spPr>
          <a:xfrm>
            <a:off x="366794" y="514628"/>
            <a:ext cx="778437" cy="0"/>
          </a:xfrm>
          <a:prstGeom prst="straightConnector1">
            <a:avLst/>
          </a:prstGeom>
          <a:noFill/>
          <a:ln w="28575" cap="flat" cmpd="sng">
            <a:solidFill>
              <a:srgbClr val="F05617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260" name="Google Shape;260;p17"/>
          <p:cNvGraphicFramePr/>
          <p:nvPr/>
        </p:nvGraphicFramePr>
        <p:xfrm>
          <a:off x="777815" y="1037848"/>
          <a:ext cx="10871225" cy="339325"/>
        </p:xfrm>
        <a:graphic>
          <a:graphicData uri="http://schemas.openxmlformats.org/drawingml/2006/table">
            <a:tbl>
              <a:tblPr>
                <a:noFill/>
                <a:tableStyleId>{C72D1A7B-A8CF-40B2-ACF2-88DE3A67A9A7}</a:tableStyleId>
              </a:tblPr>
              <a:tblGrid>
                <a:gridCol w="32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4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5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3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417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39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EPIC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Titre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 Story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Critères d'acceptation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Tâches techniques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Priorité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 / Composant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Notes / Clarifications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1" name="Google Shape;261;p17"/>
          <p:cNvGraphicFramePr/>
          <p:nvPr/>
        </p:nvGraphicFramePr>
        <p:xfrm>
          <a:off x="812680" y="1377163"/>
          <a:ext cx="10871225" cy="4257250"/>
        </p:xfrm>
        <a:graphic>
          <a:graphicData uri="http://schemas.openxmlformats.org/drawingml/2006/table">
            <a:tbl>
              <a:tblPr>
                <a:noFill/>
                <a:tableStyleId>{C72D1A7B-A8CF-40B2-ACF2-88DE3A67A9A7}</a:tableStyleId>
              </a:tblPr>
              <a:tblGrid>
                <a:gridCol w="32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4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5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3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417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032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276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1A527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US-31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276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1A527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🗄️ Cache Redis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Cache des résultats de recherche et filtres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développeur, je veux mettre en cache les résultats des requêtes fréquentes (carte, liste, filtres populaires), afin de réduire la charge PostgreSQL et d'accélérer les réponses.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Cache activé sur GET /api/projects avec clé basée sur les params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TTL configurable par route (30s résultats, 5min stats)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Invalidation auto à la publication d'un nouveau projet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Cache miss loggé pour monitoring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Hit rate &gt; 60% en prod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Redis 7 (cluster ou standalone)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Intercepteur NestJS @UseInterceptors(CacheInterceptor)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Clé de cache : hash(route + query params)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BullMQ pour invalidation async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Dashboard Redis (RedisInsight ou Upstash console)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Métriques cache_hit / cache_miss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922B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🔴 High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2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Redis SETEX / GET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TTL optimal à trouver par expérimentation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3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276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1A527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US-32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276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1A527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🗄️ Cache Redis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Cache des fiches projets (SSR + API)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développeur, je veux mettre en cache les fiches projets côté API et côté Next.js, afin que les pages se chargent en &lt; 200ms.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Cache API fiche projet TTL 5min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ISR Next.js (revalidate 300s) sur pages /projects/[slug]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Invalidation cache lors de modification promoteur ou validation admin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Cache-Control headers correctement définis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Redis cache sur GET /api/projects/:id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Next.js revalidatePath() déclenché post-publication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CDN CloudFront avec cache HTML (SSR)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PURGE API endpoint admin pour invalidation manuelle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Test: cache warm vs cold latency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922B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🔴 High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3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Redis + Next.js revalidatePath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ISR vs full SSR selon fréquence MAJ?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276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1A527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US-33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276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1A527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🗄️ Cache Redis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Rate limiting Redis (API + leads)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développeur, je veux implémenter un rate limiting basé sur Redis pour protéger l'API et limiter le spam de leads.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Rate limiting par IP : 100 req/min sur API publique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Rate limiting leads : 5 soumissions/IP/heure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Rate limiting auth : 10 tentatives login/IP/15min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Réponse HTTP 429 avec Retry-After header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Whitelist IPs internes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Algorithme sliding window counter Redis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NestJS ThrottlerModule + ThrottlerStorageRedis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Middleware global avec clé ip:route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Alerting si burst anormal (Sentry)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IP whitelist configurable via env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922B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🔴 High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2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Redis INCR + EXPIRE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Limits différentes par rôle (promoteur vs visiteur)?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276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1A527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US-34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276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1A527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🗄️ Cache Redis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Sessions et tokens JWT via Redis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développeur, je veux stocker les refresh tokens et la blacklist JWT dans Redis, afin de permettre une révocation de session instantanée.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Refresh token stocké Redis (TTL 30j)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Blacklist token à la déconnexion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Révocation session admin possible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Rotation automatique du refresh token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Cleanup automatique des tokens expirés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HSET redis: refreshToken:{userId} → token + metadata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SADD redis:blacklist:{jti} (TTL = durée restante access token)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Guard NestJS vérifie blacklist à chaque requête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DELETE all user tokens sur suspension compte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Scheduled cleanup (cron BullMQ)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922B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🔴 High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1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Redis HSET/SADD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Nombre sessions simultanées max par user?</a:t>
                      </a:r>
                      <a:endParaRPr/>
                    </a:p>
                  </a:txBody>
                  <a:tcPr marL="2850" marR="2850" marT="285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8"/>
          <p:cNvSpPr/>
          <p:nvPr/>
        </p:nvSpPr>
        <p:spPr>
          <a:xfrm>
            <a:off x="239576" y="191463"/>
            <a:ext cx="364231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Quattrocento Sans"/>
              <a:buNone/>
            </a:pPr>
            <a:r>
              <a:rPr lang="fr-FR" sz="1400" b="1" i="0" u="none" strike="noStrike" cap="non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Périmètre du Projet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59595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8" name="Google Shape;268;p18"/>
          <p:cNvSpPr txBox="1"/>
          <p:nvPr/>
        </p:nvSpPr>
        <p:spPr>
          <a:xfrm>
            <a:off x="482540" y="553769"/>
            <a:ext cx="1156670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Quattrocento Sans"/>
              <a:buNone/>
            </a:pPr>
            <a:r>
              <a:rPr lang="fr-FR" sz="18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EXIGENCES FONCTIONNELLES</a:t>
            </a:r>
            <a:endParaRPr/>
          </a:p>
        </p:txBody>
      </p:sp>
      <p:cxnSp>
        <p:nvCxnSpPr>
          <p:cNvPr id="269" name="Google Shape;269;p18"/>
          <p:cNvCxnSpPr/>
          <p:nvPr/>
        </p:nvCxnSpPr>
        <p:spPr>
          <a:xfrm>
            <a:off x="366794" y="514628"/>
            <a:ext cx="778437" cy="0"/>
          </a:xfrm>
          <a:prstGeom prst="straightConnector1">
            <a:avLst/>
          </a:prstGeom>
          <a:noFill/>
          <a:ln w="28575" cap="flat" cmpd="sng">
            <a:solidFill>
              <a:srgbClr val="F05617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270" name="Google Shape;270;p18"/>
          <p:cNvGraphicFramePr/>
          <p:nvPr/>
        </p:nvGraphicFramePr>
        <p:xfrm>
          <a:off x="777815" y="1037848"/>
          <a:ext cx="10871225" cy="339325"/>
        </p:xfrm>
        <a:graphic>
          <a:graphicData uri="http://schemas.openxmlformats.org/drawingml/2006/table">
            <a:tbl>
              <a:tblPr>
                <a:noFill/>
                <a:tableStyleId>{C72D1A7B-A8CF-40B2-ACF2-88DE3A67A9A7}</a:tableStyleId>
              </a:tblPr>
              <a:tblGrid>
                <a:gridCol w="32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4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5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3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417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39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EPIC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Titre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 Story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Critères d'acceptation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Tâches techniques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Priorité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 / Composant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Notes / Clarifications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1" name="Google Shape;271;p18"/>
          <p:cNvGraphicFramePr/>
          <p:nvPr/>
        </p:nvGraphicFramePr>
        <p:xfrm>
          <a:off x="777815" y="1377163"/>
          <a:ext cx="10871225" cy="5033175"/>
        </p:xfrm>
        <a:graphic>
          <a:graphicData uri="http://schemas.openxmlformats.org/drawingml/2006/table">
            <a:tbl>
              <a:tblPr>
                <a:noFill/>
                <a:tableStyleId>{C72D1A7B-A8CF-40B2-ACF2-88DE3A67A9A7}</a:tableStyleId>
              </a:tblPr>
              <a:tblGrid>
                <a:gridCol w="32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4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5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3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417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032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7D660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US-36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7D660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📊 Tracking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Tracking des événements clés (GA4)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product manager, je veux tracker tous les événements clés de la plateforme dans GA4, afin de prendre des décisions data-driven.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Plan de tracking défini (50+ événements)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Events : page_view, project_view, filter_used, lead_submitted, cta_clicked, banner_click, download_document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Paramètres custom : project_id, epic_name, zone, prix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Données dans GA4 &lt; 24h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Datalayer bien peuplé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Google Tag Manager (GTM) configuré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dataLayer.push() sur chaque événement clé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Next.js : hook useTracking custom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Événements serveur via Measurement Protocol GA4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Plan de tracking documenté (Google Sheet)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QA tagging avec GA4 DebugView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922B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🔴 High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2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GA4, Google Tag Manager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Tracking côté serveur pour leads (Measurement Protocol)?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2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7D660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US-37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7D660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📊 Tracking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Suivi du funnel de conversion lead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product manager, je veux visualiser le funnel complet depuis la première visite jusqu'à la soumission du lead, afin d'identifier les points de friction.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Funnel GA4 : Homepage → Fiche projet → Formulaire ouvert → Lead soumis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Taux de conversion par étape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Segmentation par source traffic (SEO, direct, social)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Rapport funnel accessible dans GA4 + dashboard admin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Alertes si taux &lt; seuil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Custom Funnel GA4 configuré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Events: funnel_step_1/2/3/4 avec step_name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Attribution utm_source/medium/campaign trackés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Segment par device, zone, type projet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Dashboard admin avec iframe GA4 ou API GA4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7D660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🟡 Medium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3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GA4 Funnel API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Outil BI séparé (Looker Studio) envisagé?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0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7D660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US-38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7D660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📊 Tracking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Tracking clics et impressions bannières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promoteur et admin, je veux que chaque impression et clic de bannière soit tracké avec précision, afin de facturer et reporter correctement.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Impression trackée côté serveur (1 INCR Redis / vue unique)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Clic tracké via redirect /api/banners/:id/click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Déduplication des impressions (cookie 24h)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Rapport disponible dans BO promoteur et admin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Export CSV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GET /api/banners/:id/click (redirect + INCR)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Cookie immo24_banner_{id}_seen TTL 86400s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INCR Redis flush DB (US-35)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Anti-fraude : ignore clics mêmes IP en &lt; 60s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Dashboard charts quotidiens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7D660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🟡 Medium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6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Redis INCR + cookie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Tracking conforme RGPD (consentement requis)?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3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7D660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US-39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7D660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📊 Tracking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Heatmaps et enregistrements sessions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UX designer, je veux analyser les heatmaps et les enregistrements de sessions, afin d'optimiser l'expérience utilisateur.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Heatmaps sur : Homepage, Fiche projet, Formulaire lead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Enregistrements sessions (échantillon 10%)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Funnel clicks sur CTA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Filtrage sessions par device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Anonymisation des données personnelles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Intégration Microsoft Clarity (gratuit) ou Hotjar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Script chargé via GTM (tag conditionnel)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Masquage champs email/tel (data-clarity-mask)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Politique confidentialité mise à jour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Revue mensuelle par l'équipe UX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1E84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🟢 Low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4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Microsoft Clarity / Hotjar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Consentement cookies requis (bandeau)?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3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7D660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US-40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7D660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📊 Tracking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Tableau de bord tracking temps réel (admin)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qu'admin, je veux voir les métriques clés en temps quasi-réel, afin de monitorer la santé de la plateforme et réagir rapidement.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KPIs live : visiteurs actifs, leads dernières 24h, projets vus, cache hit rate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Refresh auto 30s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Alertes si anomalie (pic/chute trafic)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Historique 7/30/90 jours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Polling API GET /admin/tracking/realtime (30s)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Données Redis + GA4 Data API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Composant &lt;LiveDashboard&gt; avec Recharts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Alerting Sentry si anomalie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Notification Slack admin (optionnel)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7D660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🟡 Medium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6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GA4 Data API, Redis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Seuils d'alertes à définir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9"/>
          <p:cNvSpPr/>
          <p:nvPr/>
        </p:nvSpPr>
        <p:spPr>
          <a:xfrm>
            <a:off x="239576" y="191463"/>
            <a:ext cx="364231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Périmètre du Projet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59595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7" name="Google Shape;277;p19"/>
          <p:cNvSpPr txBox="1"/>
          <p:nvPr/>
        </p:nvSpPr>
        <p:spPr>
          <a:xfrm>
            <a:off x="482540" y="553769"/>
            <a:ext cx="1156670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EXIGENCES TECHNIQUES &amp; TRANSVERSE</a:t>
            </a:r>
            <a:endParaRPr/>
          </a:p>
        </p:txBody>
      </p:sp>
      <p:cxnSp>
        <p:nvCxnSpPr>
          <p:cNvPr id="278" name="Google Shape;278;p19"/>
          <p:cNvCxnSpPr/>
          <p:nvPr/>
        </p:nvCxnSpPr>
        <p:spPr>
          <a:xfrm>
            <a:off x="366794" y="514628"/>
            <a:ext cx="778437" cy="0"/>
          </a:xfrm>
          <a:prstGeom prst="straightConnector1">
            <a:avLst/>
          </a:prstGeom>
          <a:noFill/>
          <a:ln w="28575" cap="flat" cmpd="sng">
            <a:solidFill>
              <a:srgbClr val="F05617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279" name="Google Shape;279;p19"/>
          <p:cNvGraphicFramePr/>
          <p:nvPr/>
        </p:nvGraphicFramePr>
        <p:xfrm>
          <a:off x="1131539" y="1153934"/>
          <a:ext cx="9928925" cy="3191695"/>
        </p:xfrm>
        <a:graphic>
          <a:graphicData uri="http://schemas.openxmlformats.org/drawingml/2006/table">
            <a:tbl>
              <a:tblPr firstRow="1">
                <a:noFill/>
                <a:tableStyleId>{95E57D72-7749-4814-A232-9FF5E50B7664}</a:tableStyleId>
              </a:tblPr>
              <a:tblGrid>
                <a:gridCol w="3831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6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fr-FR" sz="1100" u="none" strike="noStrike" cap="none" dirty="0"/>
                        <a:t>EPIC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5" marR="7625" marT="76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fr-FR" sz="1100" u="none" strike="noStrike" cap="none"/>
                        <a:t>Feature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5" marR="7625" marT="7625" marB="0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02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fr-FR" sz="1100" u="none" strike="noStrike" cap="none"/>
                        <a:t>Cash Redis</a:t>
                      </a:r>
                      <a:endParaRPr/>
                    </a:p>
                  </a:txBody>
                  <a:tcPr marL="7625" marR="7625" marT="76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fr-FR" sz="1100" u="none" strike="noStrike" cap="none"/>
                        <a:t>Cache requêtes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7625" marR="7625" marT="762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02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u="none" strike="noStrike" cap="none"/>
                    </a:p>
                  </a:txBody>
                  <a:tcPr marL="7625" marR="7625" marT="762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02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fr-FR" sz="1100" u="none" strike="noStrike" cap="none"/>
                        <a:t>Performance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fr-FR" sz="1100" u="none" strike="noStrike" cap="none" dirty="0"/>
                        <a:t>Optimisation </a:t>
                      </a:r>
                      <a:r>
                        <a:rPr lang="fr-FR" sz="1100" u="none" strike="noStrike" cap="none" dirty="0" err="1"/>
                        <a:t>map</a:t>
                      </a:r>
                      <a:r>
                        <a:rPr lang="fr-FR" sz="1100" u="none" strike="noStrike" cap="none" dirty="0"/>
                        <a:t>: </a:t>
                      </a:r>
                      <a:r>
                        <a:rPr lang="fr-FR" sz="1100" u="none" strike="noStrike" cap="none" dirty="0" err="1"/>
                        <a:t>Clustering</a:t>
                      </a:r>
                      <a:r>
                        <a:rPr lang="fr-FR" sz="1100" u="none" strike="noStrike" cap="none" dirty="0"/>
                        <a:t> pins 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fr-FR" sz="1100" u="none" strike="noStrike" cap="none" dirty="0" err="1"/>
                        <a:t>Bounding</a:t>
                      </a:r>
                      <a:r>
                        <a:rPr lang="fr-FR" sz="1100" u="none" strike="noStrike" cap="none" dirty="0"/>
                        <a:t> box </a:t>
                      </a:r>
                      <a:r>
                        <a:rPr lang="fr-FR" sz="1100" u="none" strike="noStrike" cap="none" dirty="0" err="1"/>
                        <a:t>query</a:t>
                      </a:r>
                      <a:r>
                        <a:rPr lang="fr-FR" sz="1100" u="none" strike="noStrike" cap="none" dirty="0"/>
                        <a:t>: API retourne uniquement projets visibles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5" marR="7625" marT="762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02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5" marR="7625" marT="762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02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fr-FR" sz="1100" u="none" strike="noStrike" cap="none"/>
                        <a:t>Tracking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5" marR="7625" marT="76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fr-FR" sz="1100" u="none" strike="noStrike" cap="none"/>
                        <a:t>Clics pins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fr-FR" sz="1100" u="none" strike="noStrike" cap="none"/>
                        <a:t>Tracking utilisateur: Voir clics sur projets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fr-FR" sz="1100" u="none" strike="noStrike" cap="none"/>
                        <a:t> Leads générés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5" marR="7625" marT="762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02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fr-FR" sz="1100" u="none" strike="noStrike" cap="none"/>
                        <a:t>Google Analytics / events Tracking clic pins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5" marR="7625" marT="762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92053"/>
            </a:gs>
            <a:gs pos="100000">
              <a:srgbClr val="0B0E25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0"/>
          <p:cNvSpPr/>
          <p:nvPr/>
        </p:nvSpPr>
        <p:spPr>
          <a:xfrm>
            <a:off x="7905902" y="-1429207"/>
            <a:ext cx="5715000" cy="5715000"/>
          </a:xfrm>
          <a:prstGeom prst="ellipse">
            <a:avLst/>
          </a:prstGeom>
          <a:solidFill>
            <a:srgbClr val="3B82F6">
              <a:alpha val="509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761695" y="2464819"/>
            <a:ext cx="7424362" cy="144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oppins"/>
              <a:buNone/>
            </a:pPr>
            <a:r>
              <a:rPr lang="fr-FR" sz="4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Stack et architecture</a:t>
            </a:r>
            <a:endParaRPr sz="4800" b="1" i="0" u="none" strike="noStrike" cap="none">
              <a:solidFill>
                <a:srgbClr val="3B82F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6" name="Google Shape;286;p20"/>
          <p:cNvSpPr/>
          <p:nvPr/>
        </p:nvSpPr>
        <p:spPr>
          <a:xfrm rot="5400000">
            <a:off x="230512" y="800844"/>
            <a:ext cx="719187" cy="1180216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28C6FF"/>
          </a:solidFill>
          <a:ln>
            <a:noFill/>
          </a:ln>
          <a:effectLst>
            <a:outerShdw blurRad="254000" dist="127000" dir="5400000" algn="t" rotWithShape="0">
              <a:schemeClr val="accent4">
                <a:alpha val="20000"/>
              </a:schemeClr>
            </a:outerShdw>
          </a:effectLst>
        </p:spPr>
        <p:txBody>
          <a:bodyPr spcFirstLastPara="1" wrap="square" lIns="243825" tIns="45700" rIns="2438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</a:pPr>
            <a:endParaRPr sz="2133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p20"/>
          <p:cNvSpPr/>
          <p:nvPr/>
        </p:nvSpPr>
        <p:spPr>
          <a:xfrm>
            <a:off x="109270" y="1113848"/>
            <a:ext cx="961669" cy="554208"/>
          </a:xfrm>
          <a:prstGeom prst="roundRect">
            <a:avLst>
              <a:gd name="adj" fmla="val 27835"/>
            </a:avLst>
          </a:prstGeom>
          <a:noFill/>
          <a:ln>
            <a:noFill/>
          </a:ln>
          <a:effectLst>
            <a:outerShdw blurRad="254000" dist="127000" dir="5400000" algn="t" rotWithShape="0">
              <a:schemeClr val="accent4">
                <a:alpha val="20000"/>
              </a:schemeClr>
            </a:outerShdw>
          </a:effectLst>
        </p:spPr>
        <p:txBody>
          <a:bodyPr spcFirstLastPara="1" wrap="square" lIns="243825" tIns="45700" rIns="2438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Montserrat"/>
              <a:buNone/>
            </a:pPr>
            <a:r>
              <a:rPr lang="fr-FR" sz="2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2133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1"/>
          <p:cNvSpPr/>
          <p:nvPr/>
        </p:nvSpPr>
        <p:spPr>
          <a:xfrm>
            <a:off x="0" y="0"/>
            <a:ext cx="12192000" cy="109545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381305" y="171907"/>
            <a:ext cx="9354366" cy="419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Stack et architecture</a:t>
            </a:r>
            <a:endParaRPr sz="2400" b="1">
              <a:solidFill>
                <a:srgbClr val="3B82F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2512843" y="2227916"/>
            <a:ext cx="2220534" cy="3470049"/>
          </a:xfrm>
          <a:prstGeom prst="roundRect">
            <a:avLst>
              <a:gd name="adj" fmla="val 1557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1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2522902" y="2227917"/>
            <a:ext cx="2194560" cy="57607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2591007" y="2723218"/>
            <a:ext cx="1947672" cy="238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Performances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3423815" y="4046659"/>
            <a:ext cx="381305" cy="28346"/>
          </a:xfrm>
          <a:prstGeom prst="roundRect">
            <a:avLst>
              <a:gd name="adj" fmla="val 2150568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2552255" y="3275077"/>
            <a:ext cx="2065958" cy="1139342"/>
          </a:xfrm>
          <a:prstGeom prst="roundRect">
            <a:avLst>
              <a:gd name="adj" fmla="val 17618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JetBrains Mono"/>
              <a:buNone/>
            </a:pPr>
            <a:r>
              <a:rPr lang="fr-FR" sz="1800" b="0" i="0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Optimisation des requêtes et mise en cache Redis</a:t>
            </a: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4849963" y="2251812"/>
            <a:ext cx="2124394" cy="3446153"/>
          </a:xfrm>
          <a:prstGeom prst="roundRect">
            <a:avLst>
              <a:gd name="adj" fmla="val 1557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1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4833134" y="2227917"/>
            <a:ext cx="2194560" cy="57607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5217107" y="2734724"/>
            <a:ext cx="1899505" cy="476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Cartographie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3" name="Google Shape;303;p21"/>
          <p:cNvSpPr/>
          <p:nvPr/>
        </p:nvSpPr>
        <p:spPr>
          <a:xfrm>
            <a:off x="6010254" y="3391034"/>
            <a:ext cx="381305" cy="28346"/>
          </a:xfrm>
          <a:prstGeom prst="roundRect">
            <a:avLst>
              <a:gd name="adj" fmla="val 2150568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4" name="Google Shape;304;p21"/>
          <p:cNvSpPr/>
          <p:nvPr/>
        </p:nvSpPr>
        <p:spPr>
          <a:xfrm>
            <a:off x="4904434" y="3275077"/>
            <a:ext cx="1759903" cy="1457039"/>
          </a:xfrm>
          <a:prstGeom prst="roundRect">
            <a:avLst>
              <a:gd name="adj" fmla="val 17618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5" name="Google Shape;305;p21"/>
          <p:cNvSpPr/>
          <p:nvPr/>
        </p:nvSpPr>
        <p:spPr>
          <a:xfrm>
            <a:off x="7090944" y="2227917"/>
            <a:ext cx="2194560" cy="3470048"/>
          </a:xfrm>
          <a:prstGeom prst="roundRect">
            <a:avLst>
              <a:gd name="adj" fmla="val 1557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1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7101003" y="2227917"/>
            <a:ext cx="2194560" cy="5760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7297201" y="2917832"/>
            <a:ext cx="1947672" cy="238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Scalabilité</a:t>
            </a:r>
            <a:endParaRPr sz="1400" b="1" i="0" u="none" strike="noStrike" cap="non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8011478" y="3399435"/>
            <a:ext cx="381305" cy="28346"/>
          </a:xfrm>
          <a:prstGeom prst="roundRect">
            <a:avLst>
              <a:gd name="adj" fmla="val 2150568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7262059" y="3304337"/>
            <a:ext cx="1853528" cy="1638909"/>
          </a:xfrm>
          <a:prstGeom prst="roundRect">
            <a:avLst>
              <a:gd name="adj" fmla="val 17618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7352046" y="3575628"/>
            <a:ext cx="1802225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Architecture cloud prête à gérer la montée en charge</a:t>
            </a:r>
            <a:endParaRPr/>
          </a:p>
        </p:txBody>
      </p:sp>
      <p:sp>
        <p:nvSpPr>
          <p:cNvPr id="311" name="Google Shape;311;p21"/>
          <p:cNvSpPr txBox="1"/>
          <p:nvPr/>
        </p:nvSpPr>
        <p:spPr>
          <a:xfrm>
            <a:off x="315373" y="1256904"/>
            <a:ext cx="1154344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0" i="0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Une infrastructure scalable, robuste et orientée performance pour garantir une expérience utilisateur fluide et une gestion optimale des données géographiques.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5013279" y="3340171"/>
            <a:ext cx="166208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0" i="0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Mapbox GL JS + PostGIS pour les calculs spatiaux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2"/>
          <p:cNvSpPr/>
          <p:nvPr/>
        </p:nvSpPr>
        <p:spPr>
          <a:xfrm>
            <a:off x="0" y="0"/>
            <a:ext cx="12192000" cy="109545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9" name="Google Shape;319;p22"/>
          <p:cNvSpPr txBox="1"/>
          <p:nvPr/>
        </p:nvSpPr>
        <p:spPr>
          <a:xfrm>
            <a:off x="381305" y="171907"/>
            <a:ext cx="9354366" cy="419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Stack et architecture</a:t>
            </a:r>
            <a:endParaRPr sz="2400" b="1">
              <a:solidFill>
                <a:srgbClr val="3B82F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0" name="Google Shape;320;p22"/>
          <p:cNvSpPr/>
          <p:nvPr/>
        </p:nvSpPr>
        <p:spPr>
          <a:xfrm>
            <a:off x="312568" y="1504016"/>
            <a:ext cx="2220534" cy="4473415"/>
          </a:xfrm>
          <a:prstGeom prst="roundRect">
            <a:avLst>
              <a:gd name="adj" fmla="val 1557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1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322627" y="1504017"/>
            <a:ext cx="2194560" cy="57607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2" name="Google Shape;322;p22"/>
          <p:cNvSpPr txBox="1"/>
          <p:nvPr/>
        </p:nvSpPr>
        <p:spPr>
          <a:xfrm>
            <a:off x="390732" y="1999318"/>
            <a:ext cx="1947672" cy="238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 :</a:t>
            </a:r>
            <a:endParaRPr sz="18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1223540" y="3322759"/>
            <a:ext cx="381305" cy="28346"/>
          </a:xfrm>
          <a:prstGeom prst="roundRect">
            <a:avLst>
              <a:gd name="adj" fmla="val 2150568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4" name="Google Shape;324;p22"/>
          <p:cNvSpPr txBox="1"/>
          <p:nvPr/>
        </p:nvSpPr>
        <p:spPr>
          <a:xfrm>
            <a:off x="724505" y="2860802"/>
            <a:ext cx="1481634" cy="2854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 / Next.js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 : Mapbox GL JS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React Query (API calls)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 /projects?bbox=...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Logique optimisée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2649688" y="1527912"/>
            <a:ext cx="2124394" cy="4449519"/>
          </a:xfrm>
          <a:prstGeom prst="roundRect">
            <a:avLst>
              <a:gd name="adj" fmla="val 1557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1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6" name="Google Shape;326;p22"/>
          <p:cNvSpPr/>
          <p:nvPr/>
        </p:nvSpPr>
        <p:spPr>
          <a:xfrm>
            <a:off x="2632859" y="1504017"/>
            <a:ext cx="2194560" cy="57607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22"/>
          <p:cNvSpPr txBox="1"/>
          <p:nvPr/>
        </p:nvSpPr>
        <p:spPr>
          <a:xfrm>
            <a:off x="2722945" y="2139983"/>
            <a:ext cx="1899505" cy="476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Poppins"/>
              <a:buNone/>
            </a:pPr>
            <a:r>
              <a:rPr lang="fr-FR" sz="1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Backend</a:t>
            </a:r>
            <a:endParaRPr sz="14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8" name="Google Shape;328;p22"/>
          <p:cNvSpPr/>
          <p:nvPr/>
        </p:nvSpPr>
        <p:spPr>
          <a:xfrm>
            <a:off x="3809979" y="2667134"/>
            <a:ext cx="381305" cy="28346"/>
          </a:xfrm>
          <a:prstGeom prst="roundRect">
            <a:avLst>
              <a:gd name="adj" fmla="val 2150568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9" name="Google Shape;329;p22"/>
          <p:cNvSpPr txBox="1"/>
          <p:nvPr/>
        </p:nvSpPr>
        <p:spPr>
          <a:xfrm>
            <a:off x="2945039" y="2912193"/>
            <a:ext cx="1677411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Node.js ( API)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PostgreSQL+PostGIS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22"/>
          <p:cNvSpPr/>
          <p:nvPr/>
        </p:nvSpPr>
        <p:spPr>
          <a:xfrm>
            <a:off x="4890669" y="1504017"/>
            <a:ext cx="2194560" cy="4449518"/>
          </a:xfrm>
          <a:prstGeom prst="roundRect">
            <a:avLst>
              <a:gd name="adj" fmla="val 1557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1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1" name="Google Shape;331;p22"/>
          <p:cNvSpPr/>
          <p:nvPr/>
        </p:nvSpPr>
        <p:spPr>
          <a:xfrm>
            <a:off x="4900728" y="1504017"/>
            <a:ext cx="2194560" cy="5760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2" name="Google Shape;332;p22"/>
          <p:cNvSpPr txBox="1"/>
          <p:nvPr/>
        </p:nvSpPr>
        <p:spPr>
          <a:xfrm>
            <a:off x="5096926" y="2193932"/>
            <a:ext cx="1947672" cy="238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Poppins"/>
              <a:buNone/>
            </a:pPr>
            <a:r>
              <a:rPr lang="fr-FR" sz="1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Base de donnée</a:t>
            </a:r>
            <a:endParaRPr/>
          </a:p>
        </p:txBody>
      </p:sp>
      <p:sp>
        <p:nvSpPr>
          <p:cNvPr id="333" name="Google Shape;333;p22"/>
          <p:cNvSpPr/>
          <p:nvPr/>
        </p:nvSpPr>
        <p:spPr>
          <a:xfrm>
            <a:off x="5811203" y="2675535"/>
            <a:ext cx="381305" cy="28346"/>
          </a:xfrm>
          <a:prstGeom prst="roundRect">
            <a:avLst>
              <a:gd name="adj" fmla="val 2150568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4" name="Google Shape;334;p22"/>
          <p:cNvSpPr txBox="1"/>
          <p:nvPr/>
        </p:nvSpPr>
        <p:spPr>
          <a:xfrm>
            <a:off x="5247132" y="2748744"/>
            <a:ext cx="1481634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PostgreSQL + PostGIS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(Gère la géolocalisation Requêtes rapides pour map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sp>
        <p:nvSpPr>
          <p:cNvPr id="335" name="Google Shape;335;p22"/>
          <p:cNvSpPr/>
          <p:nvPr/>
        </p:nvSpPr>
        <p:spPr>
          <a:xfrm>
            <a:off x="5212446" y="3028307"/>
            <a:ext cx="56257" cy="5486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6" name="Google Shape;336;p22"/>
          <p:cNvSpPr/>
          <p:nvPr/>
        </p:nvSpPr>
        <p:spPr>
          <a:xfrm>
            <a:off x="7949996" y="1798454"/>
            <a:ext cx="666598" cy="666598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7" name="Google Shape;337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16417" y="1998708"/>
            <a:ext cx="333756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2"/>
          <p:cNvSpPr txBox="1"/>
          <p:nvPr/>
        </p:nvSpPr>
        <p:spPr>
          <a:xfrm>
            <a:off x="7426262" y="2127809"/>
            <a:ext cx="1738680" cy="452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Poppins"/>
              <a:buNone/>
            </a:pPr>
            <a:r>
              <a:rPr lang="fr-FR" sz="1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Gouvernance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Poppins"/>
              <a:buNone/>
            </a:pPr>
            <a:r>
              <a:rPr lang="fr-FR" sz="1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Produit</a:t>
            </a:r>
            <a:endParaRPr sz="14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9" name="Google Shape;339;p22"/>
          <p:cNvSpPr/>
          <p:nvPr/>
        </p:nvSpPr>
        <p:spPr>
          <a:xfrm>
            <a:off x="8102205" y="2675535"/>
            <a:ext cx="381305" cy="28346"/>
          </a:xfrm>
          <a:prstGeom prst="roundRect">
            <a:avLst>
              <a:gd name="adj" fmla="val 2150568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0" name="Google Shape;340;p22"/>
          <p:cNvSpPr/>
          <p:nvPr/>
        </p:nvSpPr>
        <p:spPr>
          <a:xfrm>
            <a:off x="7420776" y="2894991"/>
            <a:ext cx="1744166" cy="629107"/>
          </a:xfrm>
          <a:prstGeom prst="roundRect">
            <a:avLst>
              <a:gd name="adj" fmla="val 17618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1" name="Google Shape;341;p22"/>
          <p:cNvSpPr txBox="1"/>
          <p:nvPr/>
        </p:nvSpPr>
        <p:spPr>
          <a:xfrm>
            <a:off x="7515873" y="2951684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Poppins"/>
              <a:buNone/>
            </a:pPr>
            <a:r>
              <a:rPr lang="fr-FR" sz="11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 sz="11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2" name="Google Shape;342;p22"/>
          <p:cNvSpPr txBox="1"/>
          <p:nvPr/>
        </p:nvSpPr>
        <p:spPr>
          <a:xfrm>
            <a:off x="7515873" y="3690519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Poppins"/>
              <a:buNone/>
            </a:pPr>
            <a:r>
              <a:rPr lang="fr-FR" sz="11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 sz="11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3" name="Google Shape;343;p22"/>
          <p:cNvSpPr/>
          <p:nvPr/>
        </p:nvSpPr>
        <p:spPr>
          <a:xfrm>
            <a:off x="7201816" y="1494872"/>
            <a:ext cx="2194560" cy="4449517"/>
          </a:xfrm>
          <a:prstGeom prst="roundRect">
            <a:avLst>
              <a:gd name="adj" fmla="val 1557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1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4" name="Google Shape;344;p22"/>
          <p:cNvSpPr/>
          <p:nvPr/>
        </p:nvSpPr>
        <p:spPr>
          <a:xfrm>
            <a:off x="7210960" y="1504017"/>
            <a:ext cx="2194560" cy="576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5" name="Google Shape;345;p22"/>
          <p:cNvSpPr txBox="1"/>
          <p:nvPr/>
        </p:nvSpPr>
        <p:spPr>
          <a:xfrm>
            <a:off x="7359650" y="2243767"/>
            <a:ext cx="1899505" cy="476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Poppins"/>
              <a:buNone/>
            </a:pPr>
            <a:r>
              <a:rPr lang="fr-FR" sz="1400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Hébergement</a:t>
            </a:r>
            <a:endParaRPr sz="1400" b="1" i="0" u="none" strike="noStrike" cap="non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6" name="Google Shape;346;p22"/>
          <p:cNvSpPr/>
          <p:nvPr/>
        </p:nvSpPr>
        <p:spPr>
          <a:xfrm>
            <a:off x="8315973" y="2675535"/>
            <a:ext cx="381305" cy="28346"/>
          </a:xfrm>
          <a:prstGeom prst="roundRect">
            <a:avLst>
              <a:gd name="adj" fmla="val 2150568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7" name="Google Shape;347;p22"/>
          <p:cNvSpPr txBox="1"/>
          <p:nvPr/>
        </p:nvSpPr>
        <p:spPr>
          <a:xfrm>
            <a:off x="7686930" y="2902286"/>
            <a:ext cx="1387399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Vercel / AWS / DigitalOcean </a:t>
            </a:r>
            <a:endParaRPr/>
          </a:p>
        </p:txBody>
      </p:sp>
      <p:sp>
        <p:nvSpPr>
          <p:cNvPr id="348" name="Google Shape;348;p22"/>
          <p:cNvSpPr/>
          <p:nvPr/>
        </p:nvSpPr>
        <p:spPr>
          <a:xfrm>
            <a:off x="7523574" y="3032044"/>
            <a:ext cx="56257" cy="5486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9" name="Google Shape;349;p22"/>
          <p:cNvSpPr/>
          <p:nvPr/>
        </p:nvSpPr>
        <p:spPr>
          <a:xfrm>
            <a:off x="10403293" y="1770399"/>
            <a:ext cx="666598" cy="666598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50" name="Google Shape;350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9714" y="1970653"/>
            <a:ext cx="333756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2"/>
          <p:cNvSpPr txBox="1"/>
          <p:nvPr/>
        </p:nvSpPr>
        <p:spPr>
          <a:xfrm>
            <a:off x="9879559" y="2099754"/>
            <a:ext cx="1738680" cy="452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Poppins"/>
              <a:buNone/>
            </a:pPr>
            <a:r>
              <a:rPr lang="fr-FR" sz="1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Gouvernance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Poppins"/>
              <a:buNone/>
            </a:pPr>
            <a:r>
              <a:rPr lang="fr-FR" sz="1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Produit</a:t>
            </a:r>
            <a:endParaRPr sz="14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2" name="Google Shape;352;p22"/>
          <p:cNvSpPr/>
          <p:nvPr/>
        </p:nvSpPr>
        <p:spPr>
          <a:xfrm>
            <a:off x="10555502" y="2647480"/>
            <a:ext cx="381305" cy="28346"/>
          </a:xfrm>
          <a:prstGeom prst="roundRect">
            <a:avLst>
              <a:gd name="adj" fmla="val 2150568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3" name="Google Shape;353;p22"/>
          <p:cNvSpPr/>
          <p:nvPr/>
        </p:nvSpPr>
        <p:spPr>
          <a:xfrm>
            <a:off x="9874073" y="2866936"/>
            <a:ext cx="1744166" cy="629107"/>
          </a:xfrm>
          <a:prstGeom prst="roundRect">
            <a:avLst>
              <a:gd name="adj" fmla="val 17618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4" name="Google Shape;354;p22"/>
          <p:cNvSpPr txBox="1"/>
          <p:nvPr/>
        </p:nvSpPr>
        <p:spPr>
          <a:xfrm>
            <a:off x="9969170" y="2923629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Poppins"/>
              <a:buNone/>
            </a:pPr>
            <a:r>
              <a:rPr lang="fr-FR" sz="11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 sz="11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5" name="Google Shape;355;p22"/>
          <p:cNvSpPr txBox="1"/>
          <p:nvPr/>
        </p:nvSpPr>
        <p:spPr>
          <a:xfrm>
            <a:off x="9969170" y="3662464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Poppins"/>
              <a:buNone/>
            </a:pPr>
            <a:r>
              <a:rPr lang="fr-FR" sz="11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 sz="11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6" name="Google Shape;356;p22"/>
          <p:cNvSpPr/>
          <p:nvPr/>
        </p:nvSpPr>
        <p:spPr>
          <a:xfrm>
            <a:off x="9655113" y="1466817"/>
            <a:ext cx="2194560" cy="4477571"/>
          </a:xfrm>
          <a:prstGeom prst="roundRect">
            <a:avLst>
              <a:gd name="adj" fmla="val 1557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1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7" name="Google Shape;357;p22"/>
          <p:cNvSpPr/>
          <p:nvPr/>
        </p:nvSpPr>
        <p:spPr>
          <a:xfrm>
            <a:off x="9664257" y="1475962"/>
            <a:ext cx="2194560" cy="576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8" name="Google Shape;358;p22"/>
          <p:cNvSpPr txBox="1"/>
          <p:nvPr/>
        </p:nvSpPr>
        <p:spPr>
          <a:xfrm>
            <a:off x="9812947" y="2215712"/>
            <a:ext cx="1899505" cy="476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Poppins"/>
              <a:buNone/>
            </a:pPr>
            <a:r>
              <a:rPr lang="fr-FR" sz="1400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Services externes</a:t>
            </a:r>
            <a:endParaRPr sz="1400" b="1" i="0" u="none" strike="noStrike" cap="non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9" name="Google Shape;359;p22"/>
          <p:cNvSpPr/>
          <p:nvPr/>
        </p:nvSpPr>
        <p:spPr>
          <a:xfrm>
            <a:off x="10769270" y="2647480"/>
            <a:ext cx="381305" cy="28346"/>
          </a:xfrm>
          <a:prstGeom prst="roundRect">
            <a:avLst>
              <a:gd name="adj" fmla="val 2150568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0" name="Google Shape;360;p22"/>
          <p:cNvSpPr txBox="1"/>
          <p:nvPr/>
        </p:nvSpPr>
        <p:spPr>
          <a:xfrm>
            <a:off x="10189698" y="3075343"/>
            <a:ext cx="1687403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(Map API, geocoding, email, analytics)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Authentification &amp; autorisation (JWT / OAuth)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cache Redis</a:t>
            </a:r>
            <a:endParaRPr/>
          </a:p>
        </p:txBody>
      </p:sp>
      <p:sp>
        <p:nvSpPr>
          <p:cNvPr id="361" name="Google Shape;361;p22"/>
          <p:cNvSpPr/>
          <p:nvPr/>
        </p:nvSpPr>
        <p:spPr>
          <a:xfrm>
            <a:off x="9976871" y="3003989"/>
            <a:ext cx="56257" cy="5486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2" name="Google Shape;362;p22"/>
          <p:cNvSpPr/>
          <p:nvPr/>
        </p:nvSpPr>
        <p:spPr>
          <a:xfrm>
            <a:off x="9931897" y="3805270"/>
            <a:ext cx="56257" cy="5486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3"/>
          <p:cNvSpPr/>
          <p:nvPr/>
        </p:nvSpPr>
        <p:spPr>
          <a:xfrm>
            <a:off x="3862315" y="594921"/>
            <a:ext cx="8329685" cy="6158488"/>
          </a:xfrm>
          <a:prstGeom prst="roundRect">
            <a:avLst>
              <a:gd name="adj" fmla="val 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3"/>
          <p:cNvSpPr/>
          <p:nvPr/>
        </p:nvSpPr>
        <p:spPr>
          <a:xfrm>
            <a:off x="0" y="-34264"/>
            <a:ext cx="12192000" cy="733776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3"/>
          <p:cNvSpPr txBox="1"/>
          <p:nvPr/>
        </p:nvSpPr>
        <p:spPr>
          <a:xfrm>
            <a:off x="197256" y="49496"/>
            <a:ext cx="724049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Contexte &amp; Problématique</a:t>
            </a:r>
            <a:endParaRPr/>
          </a:p>
        </p:txBody>
      </p:sp>
      <p:sp>
        <p:nvSpPr>
          <p:cNvPr id="371" name="Google Shape;371;p23"/>
          <p:cNvSpPr txBox="1"/>
          <p:nvPr/>
        </p:nvSpPr>
        <p:spPr>
          <a:xfrm>
            <a:off x="197256" y="1307746"/>
            <a:ext cx="5632044" cy="1277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1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Optimisation &amp;</a:t>
            </a:r>
            <a:endParaRPr/>
          </a:p>
          <a:p>
            <a:pPr marL="0" marR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3600" b="1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sz="3600" b="1" i="0" u="none" strike="noStrike" cap="none">
              <a:solidFill>
                <a:srgbClr val="3B82F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3"/>
          <p:cNvSpPr/>
          <p:nvPr/>
        </p:nvSpPr>
        <p:spPr>
          <a:xfrm>
            <a:off x="7153275" y="887863"/>
            <a:ext cx="2227435" cy="2122037"/>
          </a:xfrm>
          <a:prstGeom prst="ellipse">
            <a:avLst/>
          </a:prstGeom>
          <a:gradFill>
            <a:gsLst>
              <a:gs pos="0">
                <a:srgbClr val="194996"/>
              </a:gs>
              <a:gs pos="50000">
                <a:srgbClr val="2569D8"/>
              </a:gs>
              <a:gs pos="100000">
                <a:srgbClr val="2C7EFF"/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EB Garamond"/>
              <a:buNone/>
            </a:pPr>
            <a:r>
              <a:rPr lang="fr-FR" sz="2000" b="1" i="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rPr>
              <a:t>01.</a:t>
            </a:r>
            <a:endParaRPr/>
          </a:p>
          <a:p>
            <a:pPr marL="0" marR="0" lvl="0" indent="0" algn="ctr" rtl="0">
              <a:spcBef>
                <a:spcPts val="375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JetBrains Mono"/>
              <a:buNone/>
            </a:pPr>
            <a:r>
              <a:rPr lang="fr-FR" sz="20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Clustering des pins</a:t>
            </a:r>
            <a:br>
              <a:rPr lang="fr-FR" sz="20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fr-FR" sz="20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(Éviter la surcharge)</a:t>
            </a:r>
            <a:endParaRPr/>
          </a:p>
        </p:txBody>
      </p:sp>
      <p:sp>
        <p:nvSpPr>
          <p:cNvPr id="373" name="Google Shape;373;p23"/>
          <p:cNvSpPr txBox="1"/>
          <p:nvPr/>
        </p:nvSpPr>
        <p:spPr>
          <a:xfrm>
            <a:off x="310904" y="3292763"/>
            <a:ext cx="4870696" cy="120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37415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rgbClr val="374151"/>
                </a:solidFill>
                <a:latin typeface="Poppins"/>
                <a:ea typeface="Poppins"/>
                <a:cs typeface="Poppins"/>
                <a:sym typeface="Poppins"/>
              </a:rPr>
              <a:t>Une carte lente conduit à l'abandon. Notre plateforme est conçue pour être scalable dès le premier jour, gérant des centaines de projets sans ralentissement.</a:t>
            </a:r>
            <a:endParaRPr sz="14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4" name="Google Shape;374;p23"/>
          <p:cNvSpPr txBox="1"/>
          <p:nvPr/>
        </p:nvSpPr>
        <p:spPr>
          <a:xfrm>
            <a:off x="197256" y="2870087"/>
            <a:ext cx="6553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800"/>
              <a:buFont typeface="EB Garamond"/>
              <a:buNone/>
            </a:pPr>
            <a:r>
              <a:rPr lang="fr-FR" sz="1800" b="0" i="0">
                <a:solidFill>
                  <a:srgbClr val="1E3A8A"/>
                </a:solidFill>
                <a:latin typeface="EB Garamond"/>
                <a:ea typeface="EB Garamond"/>
                <a:cs typeface="EB Garamond"/>
                <a:sym typeface="EB Garamond"/>
              </a:rPr>
              <a:t>Une carte fluide = Une meilleure UX</a:t>
            </a:r>
            <a:endParaRPr/>
          </a:p>
        </p:txBody>
      </p:sp>
      <p:sp>
        <p:nvSpPr>
          <p:cNvPr id="375" name="Google Shape;375;p23"/>
          <p:cNvSpPr txBox="1"/>
          <p:nvPr/>
        </p:nvSpPr>
        <p:spPr>
          <a:xfrm>
            <a:off x="197256" y="5409994"/>
            <a:ext cx="65532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 i="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⚡ Objectif : 0 latence</a:t>
            </a:r>
            <a:b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-FR" sz="1800" b="1" i="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Même avec forte densité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3"/>
          <p:cNvSpPr/>
          <p:nvPr/>
        </p:nvSpPr>
        <p:spPr>
          <a:xfrm>
            <a:off x="5636738" y="3712888"/>
            <a:ext cx="2227435" cy="2122037"/>
          </a:xfrm>
          <a:prstGeom prst="ellipse">
            <a:avLst/>
          </a:prstGeom>
          <a:gradFill>
            <a:gsLst>
              <a:gs pos="0">
                <a:srgbClr val="194996"/>
              </a:gs>
              <a:gs pos="50000">
                <a:srgbClr val="2569D8"/>
              </a:gs>
              <a:gs pos="100000">
                <a:srgbClr val="2C7EFF"/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EB Garamond"/>
              <a:buNone/>
            </a:pPr>
            <a:r>
              <a:rPr lang="fr-FR" sz="2000" b="1" i="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rPr>
              <a:t>02.</a:t>
            </a:r>
            <a:endParaRPr/>
          </a:p>
          <a:p>
            <a:pPr marL="0" marR="0" lvl="0" indent="0" algn="ctr" rtl="0">
              <a:spcBef>
                <a:spcPts val="375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JetBrains Mono"/>
              <a:buNone/>
            </a:pPr>
            <a:r>
              <a:rPr lang="fr-FR" sz="20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Requêtes bbox</a:t>
            </a:r>
            <a:br>
              <a:rPr lang="fr-FR" sz="20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fr-FR" sz="20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(Zone visible uniquement)</a:t>
            </a:r>
            <a:endParaRPr/>
          </a:p>
        </p:txBody>
      </p:sp>
      <p:sp>
        <p:nvSpPr>
          <p:cNvPr id="377" name="Google Shape;377;p23"/>
          <p:cNvSpPr/>
          <p:nvPr/>
        </p:nvSpPr>
        <p:spPr>
          <a:xfrm>
            <a:off x="9213247" y="3709558"/>
            <a:ext cx="2227435" cy="2122037"/>
          </a:xfrm>
          <a:prstGeom prst="ellipse">
            <a:avLst/>
          </a:prstGeom>
          <a:gradFill>
            <a:gsLst>
              <a:gs pos="0">
                <a:srgbClr val="194996"/>
              </a:gs>
              <a:gs pos="50000">
                <a:srgbClr val="2569D8"/>
              </a:gs>
              <a:gs pos="100000">
                <a:srgbClr val="2C7EFF"/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EB Garamond"/>
              <a:buNone/>
            </a:pPr>
            <a:r>
              <a:rPr lang="fr-FR" sz="2000" b="1" i="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rPr>
              <a:t>03.</a:t>
            </a:r>
            <a:endParaRPr/>
          </a:p>
          <a:p>
            <a:pPr marL="0" marR="0" lvl="0" indent="0" algn="ctr" rtl="0">
              <a:spcBef>
                <a:spcPts val="375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JetBrains Mono"/>
              <a:buNone/>
            </a:pPr>
            <a:r>
              <a:rPr lang="fr-FR" sz="20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Cache Redis &amp; PostGIS</a:t>
            </a:r>
            <a:br>
              <a:rPr lang="fr-FR" sz="20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fr-FR" sz="20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(Requêtes ultra-rapides)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4"/>
          <p:cNvSpPr/>
          <p:nvPr/>
        </p:nvSpPr>
        <p:spPr>
          <a:xfrm>
            <a:off x="1102936" y="5618375"/>
            <a:ext cx="9671901" cy="113588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4"/>
          <p:cNvSpPr/>
          <p:nvPr/>
        </p:nvSpPr>
        <p:spPr>
          <a:xfrm>
            <a:off x="0" y="0"/>
            <a:ext cx="12192000" cy="109545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85" name="Google Shape;385;p24"/>
          <p:cNvSpPr txBox="1"/>
          <p:nvPr/>
        </p:nvSpPr>
        <p:spPr>
          <a:xfrm>
            <a:off x="451630" y="1267358"/>
            <a:ext cx="4704832" cy="4247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— Google Maps API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Offre un crédit mensuel (ex : ~200 $ ou certain nombre d’appels gratuits).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tu dépasses ces quotas, tu payes par appel API (par tranche de 1 000 par exemple).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pratique 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Cartes dynamiques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(affichage, zoom, pins) ont des appels comptés.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 début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la majorité des sites ne dépassent pas le quota gratuit ou le crédit offert.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⚠️ Au fur et à mesure que ton trafic et ta plateforme grandissent, les appels peuvent devenir coûteux si tu n’optimises pas bien.</a:t>
            </a:r>
            <a:endParaRPr/>
          </a:p>
        </p:txBody>
      </p:sp>
      <p:sp>
        <p:nvSpPr>
          <p:cNvPr id="386" name="Google Shape;386;p24"/>
          <p:cNvSpPr txBox="1"/>
          <p:nvPr/>
        </p:nvSpPr>
        <p:spPr>
          <a:xfrm>
            <a:off x="381305" y="171907"/>
            <a:ext cx="9354366" cy="419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Carte maps: La carte officielle des projets neufs en Tunisie</a:t>
            </a:r>
            <a:endParaRPr sz="2400" b="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7" name="Google Shape;387;p24"/>
          <p:cNvSpPr/>
          <p:nvPr/>
        </p:nvSpPr>
        <p:spPr>
          <a:xfrm>
            <a:off x="5453405" y="978121"/>
            <a:ext cx="311085" cy="5604235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4"/>
          <p:cNvSpPr txBox="1"/>
          <p:nvPr/>
        </p:nvSpPr>
        <p:spPr>
          <a:xfrm>
            <a:off x="6221688" y="1267358"/>
            <a:ext cx="5335573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— Mapbox (recommended pour startups)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alternative très utilisée pour les projets cartographiques modernes 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ServiceGratuitAu-delàNotesChargements web~50 000 / mois~5 $/1 000Tarifs transparentsAPI géocoding~100 000 / mois~5 $/1 000Très utile pour convertir adressesDirections~100 000 / mois~5 $/1 000Route, distance, pas obligatoire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👉 Mapbox a une </a:t>
            </a: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grande limite gratuite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qui est souvent suffisante pour tester ou lancer un MVP.</a:t>
            </a:r>
            <a:endParaRPr/>
          </a:p>
        </p:txBody>
      </p:sp>
      <p:sp>
        <p:nvSpPr>
          <p:cNvPr id="389" name="Google Shape;389;p24"/>
          <p:cNvSpPr txBox="1"/>
          <p:nvPr/>
        </p:nvSpPr>
        <p:spPr>
          <a:xfrm>
            <a:off x="1642517" y="5923266"/>
            <a:ext cx="809315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fr-FR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Mapbox</a:t>
            </a:r>
            <a:r>
              <a:rPr lang="fr-F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: version gratuite généreuse pour commencer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fr-FR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Google Maps</a:t>
            </a:r>
            <a:r>
              <a:rPr lang="fr-F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: crédit mensuel gratuit puis paiement à l’usage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fr-FR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OpenStreetMap</a:t>
            </a:r>
            <a:r>
              <a:rPr lang="fr-F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: totalement open source, mais demande plus de setup </a:t>
            </a:r>
            <a:endParaRPr/>
          </a:p>
        </p:txBody>
      </p:sp>
      <p:sp>
        <p:nvSpPr>
          <p:cNvPr id="390" name="Google Shape;390;p24"/>
          <p:cNvSpPr txBox="1"/>
          <p:nvPr/>
        </p:nvSpPr>
        <p:spPr>
          <a:xfrm>
            <a:off x="1102936" y="5590642"/>
            <a:ext cx="630653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résumé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5"/>
          <p:cNvSpPr/>
          <p:nvPr/>
        </p:nvSpPr>
        <p:spPr>
          <a:xfrm>
            <a:off x="0" y="0"/>
            <a:ext cx="12192000" cy="109545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97" name="Google Shape;397;p25"/>
          <p:cNvSpPr txBox="1"/>
          <p:nvPr/>
        </p:nvSpPr>
        <p:spPr>
          <a:xfrm>
            <a:off x="331136" y="1095451"/>
            <a:ext cx="11479559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Attention importante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carte mal faite = lente = abandon.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Il faut :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Clustering des pins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Chargement dynamique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UX fluide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fr-FR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Lazy load des cartes</a:t>
            </a: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(juste quand utilisateur scroll)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fr-FR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Clustering des markers</a:t>
            </a: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accélère l’affichage quand beaucoup de points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fr-FR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Cache spatial</a:t>
            </a:r>
            <a:b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Mémorise les résultats fréquemment consultés par zone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Utilise </a:t>
            </a:r>
            <a:r>
              <a:rPr lang="fr-FR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cache Redis</a:t>
            </a: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pour accélérer les requêtes fréquentes et réduire les appels à la base et à l’API maps</a:t>
            </a: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398" name="Google Shape;398;p25"/>
          <p:cNvSpPr txBox="1"/>
          <p:nvPr/>
        </p:nvSpPr>
        <p:spPr>
          <a:xfrm>
            <a:off x="381305" y="171907"/>
            <a:ext cx="9354366" cy="419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Carte maps:  La carte officielle des projets neufs en Tunisie</a:t>
            </a:r>
            <a:endParaRPr sz="2400" b="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9" name="Google Shape;399;p25"/>
          <p:cNvSpPr txBox="1"/>
          <p:nvPr/>
        </p:nvSpPr>
        <p:spPr>
          <a:xfrm>
            <a:off x="381305" y="4142439"/>
            <a:ext cx="3800078" cy="2831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Clustering automatique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Quand il y a beaucoup de projets :</a:t>
            </a:r>
            <a:b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Les pins se regroupent en bulles</a:t>
            </a:r>
            <a:b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Ça évite que la carte devienne illisible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Pins dynamiques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Chaque pin affiche 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Prix minimum  Ou prix/m²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Exemple : </a:t>
            </a: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À partir de 210 000 TND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5"/>
          <p:cNvSpPr txBox="1"/>
          <p:nvPr/>
        </p:nvSpPr>
        <p:spPr>
          <a:xfrm>
            <a:off x="6096000" y="4360727"/>
            <a:ext cx="6804734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Requêtes géographiques optimisées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Utiliser index spatial 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PostGIS (extension PostgreSQL)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Permet :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Rechercher projets dans zone visible carte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Requêtes ultra rapides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6"/>
          <p:cNvSpPr txBox="1"/>
          <p:nvPr/>
        </p:nvSpPr>
        <p:spPr>
          <a:xfrm>
            <a:off x="347214" y="3061271"/>
            <a:ext cx="6094562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🎯 Scaling backend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Docker 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Déploiement sur AWS / DigitalOcean 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 balancer 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Auto-scaling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6"/>
          <p:cNvSpPr txBox="1"/>
          <p:nvPr/>
        </p:nvSpPr>
        <p:spPr>
          <a:xfrm>
            <a:off x="276430" y="752947"/>
            <a:ext cx="6096000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⚠️ Erreur fréquente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devs font :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Chargement carte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200 projets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 de clustering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 de bounding box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facture API explose.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92053"/>
            </a:gs>
            <a:gs pos="100000">
              <a:srgbClr val="0B0E25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7"/>
          <p:cNvSpPr/>
          <p:nvPr/>
        </p:nvSpPr>
        <p:spPr>
          <a:xfrm>
            <a:off x="7905902" y="-1429207"/>
            <a:ext cx="5715000" cy="5715000"/>
          </a:xfrm>
          <a:prstGeom prst="ellipse">
            <a:avLst/>
          </a:prstGeom>
          <a:solidFill>
            <a:srgbClr val="3B82F6">
              <a:alpha val="509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3" name="Google Shape;413;p27"/>
          <p:cNvSpPr txBox="1"/>
          <p:nvPr/>
        </p:nvSpPr>
        <p:spPr>
          <a:xfrm>
            <a:off x="761695" y="2464819"/>
            <a:ext cx="7424362" cy="144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oppins"/>
              <a:buNone/>
            </a:pPr>
            <a:r>
              <a:rPr lang="fr-FR" sz="4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Questions</a:t>
            </a:r>
            <a:endParaRPr sz="4800" b="1" i="0" u="none" strike="noStrike" cap="none">
              <a:solidFill>
                <a:srgbClr val="3B82F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4" name="Google Shape;414;p27"/>
          <p:cNvSpPr/>
          <p:nvPr/>
        </p:nvSpPr>
        <p:spPr>
          <a:xfrm rot="5400000">
            <a:off x="230512" y="800844"/>
            <a:ext cx="719187" cy="1180216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28C6FF"/>
          </a:solidFill>
          <a:ln>
            <a:noFill/>
          </a:ln>
          <a:effectLst>
            <a:outerShdw blurRad="254000" dist="127000" dir="5400000" algn="t" rotWithShape="0">
              <a:schemeClr val="accent4">
                <a:alpha val="20000"/>
              </a:schemeClr>
            </a:outerShdw>
          </a:effectLst>
        </p:spPr>
        <p:txBody>
          <a:bodyPr spcFirstLastPara="1" wrap="square" lIns="243825" tIns="45700" rIns="2438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</a:pPr>
            <a:endParaRPr sz="2133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27"/>
          <p:cNvSpPr/>
          <p:nvPr/>
        </p:nvSpPr>
        <p:spPr>
          <a:xfrm>
            <a:off x="109270" y="1113848"/>
            <a:ext cx="961669" cy="554208"/>
          </a:xfrm>
          <a:prstGeom prst="roundRect">
            <a:avLst>
              <a:gd name="adj" fmla="val 27835"/>
            </a:avLst>
          </a:prstGeom>
          <a:noFill/>
          <a:ln>
            <a:noFill/>
          </a:ln>
          <a:effectLst>
            <a:outerShdw blurRad="254000" dist="127000" dir="5400000" algn="t" rotWithShape="0">
              <a:schemeClr val="accent4">
                <a:alpha val="20000"/>
              </a:schemeClr>
            </a:outerShdw>
          </a:effectLst>
        </p:spPr>
        <p:txBody>
          <a:bodyPr spcFirstLastPara="1" wrap="square" lIns="243825" tIns="45700" rIns="2438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Montserrat"/>
              <a:buNone/>
            </a:pPr>
            <a:r>
              <a:rPr lang="fr-FR" sz="2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sz="2133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8"/>
          <p:cNvSpPr txBox="1"/>
          <p:nvPr/>
        </p:nvSpPr>
        <p:spPr>
          <a:xfrm>
            <a:off x="792480" y="1026220"/>
            <a:ext cx="9814560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☐ Mapbox ou Google Maps ?</a:t>
            </a:r>
            <a:b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☐ Quelle stack recommandes-tu 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☐ Comment gérer beaucoup de pins ?</a:t>
            </a:r>
            <a:b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☐ Comment optimiser les appels API 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☐ Comment gérer la géolocalisation 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Scalabilité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☐ À quel moment on doit scaler ?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92053"/>
            </a:gs>
            <a:gs pos="100000">
              <a:srgbClr val="0B0E25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9"/>
          <p:cNvSpPr/>
          <p:nvPr/>
        </p:nvSpPr>
        <p:spPr>
          <a:xfrm>
            <a:off x="7905902" y="-1429207"/>
            <a:ext cx="5715000" cy="5715000"/>
          </a:xfrm>
          <a:prstGeom prst="ellipse">
            <a:avLst/>
          </a:prstGeom>
          <a:solidFill>
            <a:srgbClr val="3B82F6">
              <a:alpha val="509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6" name="Google Shape;426;p29"/>
          <p:cNvSpPr txBox="1"/>
          <p:nvPr/>
        </p:nvSpPr>
        <p:spPr>
          <a:xfrm>
            <a:off x="761695" y="2464819"/>
            <a:ext cx="7424362" cy="144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oppins"/>
              <a:buNone/>
            </a:pPr>
            <a:r>
              <a:rPr lang="fr-FR" sz="4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UC IA</a:t>
            </a:r>
            <a:endParaRPr sz="4800" b="1" i="0" u="none" strike="noStrike" cap="none">
              <a:solidFill>
                <a:srgbClr val="3B82F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7" name="Google Shape;427;p29"/>
          <p:cNvSpPr/>
          <p:nvPr/>
        </p:nvSpPr>
        <p:spPr>
          <a:xfrm rot="5400000">
            <a:off x="230512" y="800844"/>
            <a:ext cx="719187" cy="1180216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28C6FF"/>
          </a:solidFill>
          <a:ln>
            <a:noFill/>
          </a:ln>
          <a:effectLst>
            <a:outerShdw blurRad="254000" dist="127000" dir="5400000" algn="t" rotWithShape="0">
              <a:schemeClr val="accent4">
                <a:alpha val="20000"/>
              </a:schemeClr>
            </a:outerShdw>
          </a:effectLst>
        </p:spPr>
        <p:txBody>
          <a:bodyPr spcFirstLastPara="1" wrap="square" lIns="243825" tIns="45700" rIns="2438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</a:pPr>
            <a:endParaRPr sz="2133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8" name="Google Shape;428;p29"/>
          <p:cNvSpPr/>
          <p:nvPr/>
        </p:nvSpPr>
        <p:spPr>
          <a:xfrm>
            <a:off x="109270" y="1113848"/>
            <a:ext cx="961669" cy="554208"/>
          </a:xfrm>
          <a:prstGeom prst="roundRect">
            <a:avLst>
              <a:gd name="adj" fmla="val 27835"/>
            </a:avLst>
          </a:prstGeom>
          <a:noFill/>
          <a:ln>
            <a:noFill/>
          </a:ln>
          <a:effectLst>
            <a:outerShdw blurRad="254000" dist="127000" dir="5400000" algn="t" rotWithShape="0">
              <a:schemeClr val="accent4">
                <a:alpha val="20000"/>
              </a:schemeClr>
            </a:outerShdw>
          </a:effectLst>
        </p:spPr>
        <p:txBody>
          <a:bodyPr spcFirstLastPara="1" wrap="square" lIns="243825" tIns="45700" rIns="2438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33"/>
              <a:buFont typeface="Montserrat"/>
              <a:buNone/>
            </a:pPr>
            <a:r>
              <a:rPr lang="fr-FR" sz="2133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0" descr="Une image contenant texte, capture d’écran, Police, cercle&#10;&#10;Le contenu généré par l’IA peut êtr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8296" y="0"/>
            <a:ext cx="12003704" cy="6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1"/>
          <p:cNvSpPr/>
          <p:nvPr/>
        </p:nvSpPr>
        <p:spPr>
          <a:xfrm>
            <a:off x="239576" y="191463"/>
            <a:ext cx="364231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Quattrocento Sans"/>
              <a:buNone/>
            </a:pPr>
            <a:r>
              <a:rPr lang="fr-FR" sz="1400" b="1" i="0" u="none" strike="noStrike" cap="non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Périmètre du Projet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59595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40" name="Google Shape;440;p31"/>
          <p:cNvSpPr txBox="1"/>
          <p:nvPr/>
        </p:nvSpPr>
        <p:spPr>
          <a:xfrm>
            <a:off x="482540" y="553769"/>
            <a:ext cx="1156670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Quattrocento Sans"/>
              <a:buNone/>
            </a:pPr>
            <a:r>
              <a:rPr lang="fr-FR" sz="18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EXIGENCES FONCTIONNELLES</a:t>
            </a:r>
            <a:endParaRPr/>
          </a:p>
        </p:txBody>
      </p:sp>
      <p:cxnSp>
        <p:nvCxnSpPr>
          <p:cNvPr id="441" name="Google Shape;441;p31"/>
          <p:cNvCxnSpPr/>
          <p:nvPr/>
        </p:nvCxnSpPr>
        <p:spPr>
          <a:xfrm>
            <a:off x="366794" y="514628"/>
            <a:ext cx="778437" cy="0"/>
          </a:xfrm>
          <a:prstGeom prst="straightConnector1">
            <a:avLst/>
          </a:prstGeom>
          <a:noFill/>
          <a:ln w="28575" cap="flat" cmpd="sng">
            <a:solidFill>
              <a:srgbClr val="F05617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442" name="Google Shape;442;p31"/>
          <p:cNvGraphicFramePr/>
          <p:nvPr/>
        </p:nvGraphicFramePr>
        <p:xfrm>
          <a:off x="777815" y="10378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{C72D1A7B-A8CF-40B2-ACF2-88DE3A67A9A7}</a:tableStyleId>
              </a:tblPr>
              <a:tblGrid>
                <a:gridCol w="32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4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5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3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417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39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EPIC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Titre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 Story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Critères d'acceptation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Tâches techniques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Priorité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 / Composant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Notes / Clarifications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3" name="Google Shape;443;p31"/>
          <p:cNvGraphicFramePr/>
          <p:nvPr/>
        </p:nvGraphicFramePr>
        <p:xfrm>
          <a:off x="777815" y="1377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{C72D1A7B-A8CF-40B2-ACF2-88DE3A67A9A7}</a:tableStyleId>
              </a:tblPr>
              <a:tblGrid>
                <a:gridCol w="546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4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5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37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417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073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3483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6C348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US-41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3483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6C348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🤖 IA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Estimation automatique du prix au m² (IA)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visiteur, je veux voir une estimation IA du prix comparé au prix affiché, afin d'évaluer si le bien est bien valorisé.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Badge 'Estimation IA' sur fiche si confiance &gt; 70%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Indicateur : Sous-évalué / Prix marché / Au-dessus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Fourchette prix zone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Disclaimer légal obligatoire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Modèle XGBoost/Random Forest (Python FastAPI)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Features : localisation, surface, standing, statut, promoteur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POST /ai/price-estimate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MLflow versioning + réentraînement mensuel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Affichage conditionnel (confiance seuil)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7D660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🟡 Medium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7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FastAPI /ai/price-estimate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Données historiques disponibles?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3483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6C348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US-42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3483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6C348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🤖 IA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Recommandations projets similaires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visiteur, je veux voir des projets similaires recommandés sur la fiche, afin de découvrir d'autres biens pertinents.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3 à 5 recommandations en bas de fiche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Basé sur localisation, prix, standing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Clic tracké pour amélioration modèle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Non visible si moins de 3 projets dispo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Content-based filtering (TF-IDF + cosine sim)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GET /ai/similar/:projectId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Cache Redis TTL 1h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Event 'recommendation_click' GA4</a:t>
                      </a:r>
                      <a:b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A/B test vs suggestions classiques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7D660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🟡 Medium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7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GET /ai/similar/:id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0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3483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6C348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US-43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3483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 cap="none">
                          <a:solidFill>
                            <a:srgbClr val="6C348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🤖 IA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Chatbot assistant immobilier (RAG)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visiteur, je veux poser des questions en langage naturel, afin d'être guidé dans ma recherche.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Utilisateur écrit :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“Je cherche un appart 150k à 200k proche école”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IA répond :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Liste projets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Explication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endParaRPr sz="800" b="0" i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Widget chat flottant sur toutes pages</a:t>
                      </a:r>
                      <a:b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Réponses contextuelles sur les projets</a:t>
                      </a:r>
                      <a:b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Suggestion projets via langage naturel</a:t>
                      </a:r>
                      <a:b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Fallback formulaire contact humain</a:t>
                      </a:r>
                      <a:b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Feedback 👍/👎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Anthropic Claude API</a:t>
                      </a:r>
                      <a:b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RAG avec pgvector (embeddings projets + FAQ)</a:t>
                      </a:r>
                      <a:b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POST /ai/chat {sessionId, message}</a:t>
                      </a:r>
                      <a:b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Widget React sandboxed</a:t>
                      </a:r>
                      <a:b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Log sessions pour amélioration</a:t>
                      </a:r>
                      <a:b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FR/AR/dialecte tunisien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>
                          <a:solidFill>
                            <a:srgbClr val="7D660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🟡 Medium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8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Claude API + pgvector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Budget tokens mensuel?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3483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>
                          <a:solidFill>
                            <a:srgbClr val="6C348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US-44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3483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>
                          <a:solidFill>
                            <a:srgbClr val="6C348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🤖 IA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Vérification automatique des annonces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qu'admin, je veux un score IA sur chaque projet soumis, afin d'accélérer la modération et détecter les fraudes.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Score de confiance 0-100 calculé à la soumission</a:t>
                      </a:r>
                      <a:b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Flags : images génériques, prix aberrant, plagiat description</a:t>
                      </a:r>
                      <a:b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Rapport visible dans interface admin</a:t>
                      </a:r>
                      <a:b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Seuil validation automatique configurable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NLP plagiat description (cosine sim)</a:t>
                      </a:r>
                      <a:b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Vision AI CLIP/GPT-4o pour images</a:t>
                      </a:r>
                      <a:b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Score composite règles métier + ML</a:t>
                      </a:r>
                      <a:b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Dashboard modération avec filtre par score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6608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>
                          <a:solidFill>
                            <a:srgbClr val="7D660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🟡 Medium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8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OpenAI Vision, NLP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Taux faux positifs acceptable?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2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3483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>
                          <a:solidFill>
                            <a:srgbClr val="6C348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US-45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3483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>
                          <a:solidFill>
                            <a:srgbClr val="6C348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🤖 IA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Génération automatique de description projet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tant que promoteur, je veux générer une description professionnelle via IA à partir des caractéristiques saisies, afin de gagner du temps.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Bouton 'Générer avec IA' dans le formulaire</a:t>
                      </a:r>
                      <a:b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Description générée en FR (AR optionnel)</a:t>
                      </a:r>
                      <a:b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Éditable après génération</a:t>
                      </a:r>
                      <a:b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Streaming de la réponse (UX fluide)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Anthropic Claude API + prompt engineering immo TN</a:t>
                      </a:r>
                      <a:b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POST /ai/generate-description</a:t>
                      </a:r>
                      <a:b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Streaming SSE côté frontend</a:t>
                      </a:r>
                      <a:b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Log générations (audit + coût tokens)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1" i="0" u="none" strike="noStrike">
                          <a:solidFill>
                            <a:srgbClr val="1E84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🟢 Low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8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Claude API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Génération arabe (RTL layout)?</a:t>
                      </a:r>
                      <a:endParaRPr/>
                    </a:p>
                  </a:txBody>
                  <a:tcPr marL="3525" marR="3525" marT="35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2"/>
          <p:cNvSpPr/>
          <p:nvPr/>
        </p:nvSpPr>
        <p:spPr>
          <a:xfrm>
            <a:off x="0" y="1106186"/>
            <a:ext cx="12192000" cy="569736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2"/>
          <p:cNvSpPr txBox="1"/>
          <p:nvPr/>
        </p:nvSpPr>
        <p:spPr>
          <a:xfrm>
            <a:off x="571500" y="262433"/>
            <a:ext cx="4480560" cy="4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"/>
              <a:buNone/>
            </a:pPr>
            <a:r>
              <a:rPr lang="fr-FR" sz="2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Contexte &amp; Introduction</a:t>
            </a:r>
            <a:endParaRPr sz="2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2"/>
          <p:cNvSpPr/>
          <p:nvPr/>
        </p:nvSpPr>
        <p:spPr>
          <a:xfrm>
            <a:off x="0" y="0"/>
            <a:ext cx="12192000" cy="109545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52" name="Google Shape;452;p32"/>
          <p:cNvSpPr txBox="1"/>
          <p:nvPr/>
        </p:nvSpPr>
        <p:spPr>
          <a:xfrm>
            <a:off x="381305" y="310908"/>
            <a:ext cx="5828995" cy="419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fr-FR" sz="2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Feature Nice to have</a:t>
            </a: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32"/>
          <p:cNvSpPr txBox="1"/>
          <p:nvPr/>
        </p:nvSpPr>
        <p:spPr>
          <a:xfrm>
            <a:off x="121692" y="6427688"/>
            <a:ext cx="605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Quattrocento Sans"/>
              <a:buNone/>
            </a:pPr>
            <a:r>
              <a:rPr lang="fr-FR" sz="800" b="1" i="0" u="none" strike="noStrike" cap="none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Page </a:t>
            </a:r>
            <a:fld id="{00000000-1234-1234-1234-123412341234}" type="slidenum">
              <a:rPr lang="fr-FR" sz="800" b="1" i="0" u="none" strike="noStrike" cap="none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48</a:t>
            </a:fld>
            <a:endParaRPr sz="800" b="1" i="0" u="none" strike="noStrike" cap="none">
              <a:solidFill>
                <a:srgbClr val="3F3F3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54" name="Google Shape;454;p32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2"/>
          <p:cNvSpPr txBox="1"/>
          <p:nvPr/>
        </p:nvSpPr>
        <p:spPr>
          <a:xfrm>
            <a:off x="240078" y="1132403"/>
            <a:ext cx="5406577" cy="236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Comparaison intelligente IA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2"/>
          <p:cNvSpPr txBox="1"/>
          <p:nvPr/>
        </p:nvSpPr>
        <p:spPr>
          <a:xfrm>
            <a:off x="424331" y="1499413"/>
            <a:ext cx="11689112" cy="826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Exemple :</a:t>
            </a:r>
            <a:b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Comparer 3 résidences à La Soukra :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fr-FR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Prix/m² 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fr-FR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Standing 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fr-FR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Parking inclus ? 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fr-FR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Piscine ? 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fr-FR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Proximité écoles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2"/>
          <p:cNvSpPr txBox="1"/>
          <p:nvPr/>
        </p:nvSpPr>
        <p:spPr>
          <a:xfrm>
            <a:off x="121692" y="3614537"/>
            <a:ext cx="438848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Simulation financière intégrée IA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2"/>
          <p:cNvSpPr txBox="1"/>
          <p:nvPr/>
        </p:nvSpPr>
        <p:spPr>
          <a:xfrm>
            <a:off x="653117" y="4269723"/>
            <a:ext cx="7714116" cy="1201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 mensualité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crédit Apport nécessaire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Frais notaire estimée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2"/>
          <p:cNvSpPr/>
          <p:nvPr/>
        </p:nvSpPr>
        <p:spPr>
          <a:xfrm>
            <a:off x="6615384" y="1132403"/>
            <a:ext cx="5498059" cy="2011480"/>
          </a:xfrm>
          <a:prstGeom prst="roundRect">
            <a:avLst>
              <a:gd name="adj" fmla="val 948"/>
            </a:avLst>
          </a:prstGeom>
          <a:solidFill>
            <a:srgbClr val="4285F4"/>
          </a:solidFill>
          <a:ln>
            <a:noFill/>
          </a:ln>
          <a:effectLst>
            <a:outerShdw blurRad="241300" dist="101600" dir="5400000" algn="bl" rotWithShape="0">
              <a:srgbClr val="4285F4">
                <a:alpha val="3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Tu pourrais proposer 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🔵 Badge “Projet vérifié”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🔵 Visite vidéo drone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🔵 État d’avancement en temps réel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🔵 Compteur de lots restants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🔵 Avis clients post-livraison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2"/>
          <p:cNvSpPr txBox="1"/>
          <p:nvPr/>
        </p:nvSpPr>
        <p:spPr>
          <a:xfrm>
            <a:off x="108117" y="5125432"/>
            <a:ext cx="1232154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Nice-to-have (plus tard)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☐ Heatmap intelligente ( carte avec intelligence : zones les plus demandées, les plus chères, émergentes..)</a:t>
            </a:r>
            <a:b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☐ IA</a:t>
            </a:r>
            <a:b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☐ Comparateur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p33" descr="Une image contenant texte, capture d’écran, Police, cercle&#10;&#10;Le contenu généré par l’IA peut êtr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24165</TotalTime>
  <Words>10274</Words>
  <Application>Microsoft Office PowerPoint</Application>
  <PresentationFormat>Grand écran</PresentationFormat>
  <Paragraphs>1200</Paragraphs>
  <Slides>49</Slides>
  <Notes>35</Notes>
  <HiddenSlides>2</HiddenSlides>
  <MMClips>0</MMClips>
  <ScaleCrop>false</ScaleCrop>
  <HeadingPairs>
    <vt:vector size="6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49</vt:i4>
      </vt:variant>
    </vt:vector>
  </HeadingPairs>
  <TitlesOfParts>
    <vt:vector size="62" baseType="lpstr">
      <vt:lpstr>Montserrat</vt:lpstr>
      <vt:lpstr>EB Garamond</vt:lpstr>
      <vt:lpstr>JetBrains Mono</vt:lpstr>
      <vt:lpstr>Montserrat Medium</vt:lpstr>
      <vt:lpstr>Quattrocento Sans</vt:lpstr>
      <vt:lpstr>Play</vt:lpstr>
      <vt:lpstr>DM Sans</vt:lpstr>
      <vt:lpstr>Poppins</vt:lpstr>
      <vt:lpstr>Montserrat SemiBold</vt:lpstr>
      <vt:lpstr>Calibri</vt:lpstr>
      <vt:lpstr>Times New Roman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Slim Herichi</dc:creator>
  <cp:lastModifiedBy>Emna Sadfi</cp:lastModifiedBy>
  <cp:revision>24</cp:revision>
  <cp:lastPrinted>2026-04-07T15:19:07Z</cp:lastPrinted>
  <dcterms:created xsi:type="dcterms:W3CDTF">2024-01-26T10:18:56Z</dcterms:created>
  <dcterms:modified xsi:type="dcterms:W3CDTF">2026-04-27T08:54:59Z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0x01010058DC26D15001554089E8E39A37E05FB5</vt:lpwstr>
  </property>
  <property fmtid="{D5CDD505-2E9C-101B-9397-08002B2CF9AE}" pid="3" name="MediaServiceImageTags">
    <vt:lpwstr/>
  </property>
</Properties>
</file>